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</p:sldIdLst>
  <p:sldSz cx="18288000" cy="10287000"/>
  <p:notesSz cx="6858000" cy="9144000"/>
  <p:embeddedFontLst>
    <p:embeddedFont>
      <p:font typeface="Agrandir" charset="1" panose="00000500000000000000"/>
      <p:regular r:id="rId52"/>
    </p:embeddedFont>
    <p:embeddedFont>
      <p:font typeface="Agrandir Bold" charset="1" panose="00000800000000000000"/>
      <p:regular r:id="rId53"/>
    </p:embeddedFont>
    <p:embeddedFont>
      <p:font typeface="Canva Sans Bold" charset="1" panose="020B0803030501040103"/>
      <p:regular r:id="rId54"/>
    </p:embeddedFont>
    <p:embeddedFont>
      <p:font typeface="Agrandir Bold Italics" charset="1" panose="00000800000000000000"/>
      <p:regular r:id="rId55"/>
    </p:embeddedFont>
    <p:embeddedFont>
      <p:font typeface="Agrandir Italics" charset="1" panose="00000500000000000000"/>
      <p:regular r:id="rId5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fonts/font52.fntdata" Type="http://schemas.openxmlformats.org/officeDocument/2006/relationships/font"/><Relationship Id="rId53" Target="fonts/font53.fntdata" Type="http://schemas.openxmlformats.org/officeDocument/2006/relationships/font"/><Relationship Id="rId54" Target="fonts/font54.fntdata" Type="http://schemas.openxmlformats.org/officeDocument/2006/relationships/font"/><Relationship Id="rId55" Target="fonts/font55.fntdata" Type="http://schemas.openxmlformats.org/officeDocument/2006/relationships/font"/><Relationship Id="rId56" Target="fonts/font56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Relationship Id="rId8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17.jpeg" Type="http://schemas.openxmlformats.org/officeDocument/2006/relationships/image"/><Relationship Id="rId4" Target="../media/VAHJjeFYHc8.mp4" Type="http://schemas.openxmlformats.org/officeDocument/2006/relationships/video"/><Relationship Id="rId5" Target="../media/VAHJjeFYHc8.mp4" Type="http://schemas.microsoft.com/office/2007/relationships/media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9.jpeg" Type="http://schemas.openxmlformats.org/officeDocument/2006/relationships/image"/><Relationship Id="rId6" Target="../media/VAHJjlPdfJY.mp4" Type="http://schemas.openxmlformats.org/officeDocument/2006/relationships/video"/><Relationship Id="rId7" Target="../media/VAHJjlPdfJY.mp4" Type="http://schemas.microsoft.com/office/2007/relationships/media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20.jpeg" Type="http://schemas.openxmlformats.org/officeDocument/2006/relationships/image"/><Relationship Id="rId7" Target="../media/VAHJju7116E.mp4" Type="http://schemas.openxmlformats.org/officeDocument/2006/relationships/video"/><Relationship Id="rId8" Target="../media/VAHJju7116E.mp4" Type="http://schemas.microsoft.com/office/2007/relationships/media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embeddings/oleObject1.bin" Type="http://schemas.openxmlformats.org/officeDocument/2006/relationships/oleObject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embeddings/oleObject2.bin" Type="http://schemas.openxmlformats.org/officeDocument/2006/relationships/oleObjec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embeddings/oleObject3.bin" Type="http://schemas.openxmlformats.org/officeDocument/2006/relationships/oleObject"/><Relationship Id="rId4" Target="../media/image25.png" Type="http://schemas.openxmlformats.org/officeDocument/2006/relationships/image"/><Relationship Id="rId5" Target="../embeddings/oleObject4.bin" Type="http://schemas.openxmlformats.org/officeDocument/2006/relationships/oleObject"/><Relationship Id="rId6" Target="../media/image26.png" Type="http://schemas.openxmlformats.org/officeDocument/2006/relationships/image"/><Relationship Id="rId7" Target="../embeddings/oleObject5.bin" Type="http://schemas.openxmlformats.org/officeDocument/2006/relationships/oleObject"/><Relationship Id="rId8" Target="../media/image27.png" Type="http://schemas.openxmlformats.org/officeDocument/2006/relationships/image"/><Relationship Id="rId9" Target="../embeddings/oleObject6.bin" Type="http://schemas.openxmlformats.org/officeDocument/2006/relationships/oleObjec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png" Type="http://schemas.openxmlformats.org/officeDocument/2006/relationships/image"/><Relationship Id="rId11" Target="../media/image7.svg" Type="http://schemas.openxmlformats.org/officeDocument/2006/relationships/image"/><Relationship Id="rId2" Target="../media/image28.png" Type="http://schemas.openxmlformats.org/officeDocument/2006/relationships/image"/><Relationship Id="rId3" Target="../embeddings/oleObject7.bin" Type="http://schemas.openxmlformats.org/officeDocument/2006/relationships/oleObject"/><Relationship Id="rId4" Target="../media/image29.png" Type="http://schemas.openxmlformats.org/officeDocument/2006/relationships/image"/><Relationship Id="rId5" Target="../embeddings/oleObject8.bin" Type="http://schemas.openxmlformats.org/officeDocument/2006/relationships/oleObject"/><Relationship Id="rId6" Target="../media/image30.png" Type="http://schemas.openxmlformats.org/officeDocument/2006/relationships/image"/><Relationship Id="rId7" Target="../embeddings/oleObject9.bin" Type="http://schemas.openxmlformats.org/officeDocument/2006/relationships/oleObject"/><Relationship Id="rId8" Target="../media/image4.png" Type="http://schemas.openxmlformats.org/officeDocument/2006/relationships/image"/><Relationship Id="rId9" Target="../media/image5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jpeg" Type="http://schemas.openxmlformats.org/officeDocument/2006/relationships/image"/><Relationship Id="rId3" Target="../media/VAHJj0W0Df8.mp4" Type="http://schemas.openxmlformats.org/officeDocument/2006/relationships/video"/><Relationship Id="rId4" Target="../media/VAHJj0W0Df8.mp4" Type="http://schemas.microsoft.com/office/2007/relationships/media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33.jpeg" Type="http://schemas.openxmlformats.org/officeDocument/2006/relationships/image"/><Relationship Id="rId8" Target="../media/VAHJlBN2HgI.mp4" Type="http://schemas.openxmlformats.org/officeDocument/2006/relationships/video"/><Relationship Id="rId9" Target="../media/VAHJlBN2HgI.mp4" Type="http://schemas.microsoft.com/office/2007/relationships/media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34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34.png" Type="http://schemas.openxmlformats.org/officeDocument/2006/relationships/image"/><Relationship Id="rId7" Target="../media/image35.jpeg" Type="http://schemas.openxmlformats.org/officeDocument/2006/relationships/image"/><Relationship Id="rId8" Target="../media/VAHJlDGecb4.mp4" Type="http://schemas.openxmlformats.org/officeDocument/2006/relationships/video"/><Relationship Id="rId9" Target="../media/VAHJlDGecb4.mp4" Type="http://schemas.microsoft.com/office/2007/relationships/media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36.png" Type="http://schemas.openxmlformats.org/officeDocument/2006/relationships/image"/><Relationship Id="rId7" Target="../media/image37.png" Type="http://schemas.openxmlformats.org/officeDocument/2006/relationships/image"/><Relationship Id="rId8" Target="../media/image38.png" Type="http://schemas.openxmlformats.org/officeDocument/2006/relationships/image"/><Relationship Id="rId9" Target="../media/image39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0.png" Type="http://schemas.openxmlformats.org/officeDocument/2006/relationships/image"/><Relationship Id="rId7" Target="../media/image41.png" Type="http://schemas.openxmlformats.org/officeDocument/2006/relationships/image"/><Relationship Id="rId8" Target="../media/image42.png" Type="http://schemas.openxmlformats.org/officeDocument/2006/relationships/image"/><Relationship Id="rId9" Target="../media/image43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4.jpeg" Type="http://schemas.openxmlformats.org/officeDocument/2006/relationships/image"/><Relationship Id="rId7" Target="../media/VAHJlDsLKbg.mp4" Type="http://schemas.openxmlformats.org/officeDocument/2006/relationships/video"/><Relationship Id="rId8" Target="../media/VAHJlDsLKbg.mp4" Type="http://schemas.microsoft.com/office/2007/relationships/media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5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6.png" Type="http://schemas.openxmlformats.org/officeDocument/2006/relationships/image"/><Relationship Id="rId7" Target="../media/image47.png" Type="http://schemas.openxmlformats.org/officeDocument/2006/relationships/image"/><Relationship Id="rId8" Target="../media/image48.png" Type="http://schemas.openxmlformats.org/officeDocument/2006/relationships/image"/><Relationship Id="rId9" Target="../media/image49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50.png" Type="http://schemas.openxmlformats.org/officeDocument/2006/relationships/image"/><Relationship Id="rId7" Target="../media/image51.png" Type="http://schemas.openxmlformats.org/officeDocument/2006/relationships/image"/><Relationship Id="rId8" Target="../media/image52.png" Type="http://schemas.openxmlformats.org/officeDocument/2006/relationships/image"/><Relationship Id="rId9" Target="../media/image53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jpeg" Type="http://schemas.openxmlformats.org/officeDocument/2006/relationships/image"/><Relationship Id="rId11" Target="../media/VAHJlKi0rCQ.mp4" Type="http://schemas.openxmlformats.org/officeDocument/2006/relationships/video"/><Relationship Id="rId12" Target="../media/VAHJlKi0rCQ.mp4" Type="http://schemas.microsoft.com/office/2007/relationships/media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50.png" Type="http://schemas.openxmlformats.org/officeDocument/2006/relationships/image"/><Relationship Id="rId7" Target="../media/image51.png" Type="http://schemas.openxmlformats.org/officeDocument/2006/relationships/image"/><Relationship Id="rId8" Target="../media/image52.png" Type="http://schemas.openxmlformats.org/officeDocument/2006/relationships/image"/><Relationship Id="rId9" Target="../media/image53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48171" y="1700121"/>
            <a:ext cx="4140251" cy="4456484"/>
            <a:chOff x="0" y="0"/>
            <a:chExt cx="991229" cy="10669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1229" cy="1066939"/>
            </a:xfrm>
            <a:custGeom>
              <a:avLst/>
              <a:gdLst/>
              <a:ahLst/>
              <a:cxnLst/>
              <a:rect r="r" b="b" t="t" l="l"/>
              <a:pathLst>
                <a:path h="1066939" w="991229">
                  <a:moveTo>
                    <a:pt x="186992" y="0"/>
                  </a:moveTo>
                  <a:lnTo>
                    <a:pt x="804237" y="0"/>
                  </a:lnTo>
                  <a:cubicBezTo>
                    <a:pt x="853831" y="0"/>
                    <a:pt x="901393" y="19701"/>
                    <a:pt x="936460" y="54769"/>
                  </a:cubicBezTo>
                  <a:cubicBezTo>
                    <a:pt x="971528" y="89836"/>
                    <a:pt x="991229" y="137398"/>
                    <a:pt x="991229" y="186992"/>
                  </a:cubicBezTo>
                  <a:lnTo>
                    <a:pt x="991229" y="879947"/>
                  </a:lnTo>
                  <a:cubicBezTo>
                    <a:pt x="991229" y="929541"/>
                    <a:pt x="971528" y="977103"/>
                    <a:pt x="936460" y="1012170"/>
                  </a:cubicBezTo>
                  <a:cubicBezTo>
                    <a:pt x="901393" y="1047238"/>
                    <a:pt x="853831" y="1066939"/>
                    <a:pt x="804237" y="1066939"/>
                  </a:cubicBezTo>
                  <a:lnTo>
                    <a:pt x="186992" y="1066939"/>
                  </a:lnTo>
                  <a:cubicBezTo>
                    <a:pt x="137398" y="1066939"/>
                    <a:pt x="89836" y="1047238"/>
                    <a:pt x="54769" y="1012170"/>
                  </a:cubicBezTo>
                  <a:cubicBezTo>
                    <a:pt x="19701" y="977103"/>
                    <a:pt x="0" y="929541"/>
                    <a:pt x="0" y="879947"/>
                  </a:cubicBezTo>
                  <a:lnTo>
                    <a:pt x="0" y="186992"/>
                  </a:lnTo>
                  <a:cubicBezTo>
                    <a:pt x="0" y="137398"/>
                    <a:pt x="19701" y="89836"/>
                    <a:pt x="54769" y="54769"/>
                  </a:cubicBezTo>
                  <a:cubicBezTo>
                    <a:pt x="89836" y="19701"/>
                    <a:pt x="137398" y="0"/>
                    <a:pt x="186992" y="0"/>
                  </a:cubicBezTo>
                  <a:close/>
                </a:path>
              </a:pathLst>
            </a:custGeom>
            <a:blipFill>
              <a:blip r:embed="rId2"/>
              <a:stretch>
                <a:fillRect l="-3819" t="0" r="-3819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48298" y="7701041"/>
            <a:ext cx="1558087" cy="457083"/>
          </a:xfrm>
          <a:custGeom>
            <a:avLst/>
            <a:gdLst/>
            <a:ahLst/>
            <a:cxnLst/>
            <a:rect r="r" b="b" t="t" l="l"/>
            <a:pathLst>
              <a:path h="457083" w="1558087">
                <a:moveTo>
                  <a:pt x="0" y="0"/>
                </a:moveTo>
                <a:lnTo>
                  <a:pt x="1558087" y="0"/>
                </a:lnTo>
                <a:lnTo>
                  <a:pt x="1558087" y="457083"/>
                </a:lnTo>
                <a:lnTo>
                  <a:pt x="0" y="4570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15015" y="4403275"/>
            <a:ext cx="1488570" cy="1480450"/>
          </a:xfrm>
          <a:custGeom>
            <a:avLst/>
            <a:gdLst/>
            <a:ahLst/>
            <a:cxnLst/>
            <a:rect r="r" b="b" t="t" l="l"/>
            <a:pathLst>
              <a:path h="1480450" w="1488570">
                <a:moveTo>
                  <a:pt x="0" y="0"/>
                </a:moveTo>
                <a:lnTo>
                  <a:pt x="1488570" y="0"/>
                </a:lnTo>
                <a:lnTo>
                  <a:pt x="1488570" y="1480450"/>
                </a:lnTo>
                <a:lnTo>
                  <a:pt x="0" y="14804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4729465" y="-1904331"/>
            <a:ext cx="2385311" cy="4114800"/>
          </a:xfrm>
          <a:custGeom>
            <a:avLst/>
            <a:gdLst/>
            <a:ahLst/>
            <a:cxnLst/>
            <a:rect r="r" b="b" t="t" l="l"/>
            <a:pathLst>
              <a:path h="4114800" w="2385311">
                <a:moveTo>
                  <a:pt x="0" y="0"/>
                </a:moveTo>
                <a:lnTo>
                  <a:pt x="2385311" y="0"/>
                </a:lnTo>
                <a:lnTo>
                  <a:pt x="23853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97285" y="1606016"/>
            <a:ext cx="11452690" cy="4164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56"/>
              </a:lnSpc>
            </a:pPr>
            <a:r>
              <a:rPr lang="en-US" sz="7893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MODELOS DE CLASIFICACIÓN </a:t>
            </a:r>
            <a:r>
              <a:rPr lang="en-US" sz="7893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DE IM</a:t>
            </a:r>
            <a:r>
              <a:rPr lang="en-US" sz="7893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Á</a:t>
            </a:r>
            <a:r>
              <a:rPr lang="en-US" sz="7893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GENES DE TUMORES DE M</a:t>
            </a:r>
            <a:r>
              <a:rPr lang="en-US" sz="7893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AMA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15445" y="6473947"/>
            <a:ext cx="7484773" cy="431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05"/>
              </a:lnSpc>
            </a:pPr>
            <a:r>
              <a:rPr lang="en-US" b="true" sz="2147">
                <a:solidFill>
                  <a:srgbClr val="1F1F25"/>
                </a:solidFill>
                <a:latin typeface="Agrandir Bold"/>
                <a:ea typeface="Agrandir Bold"/>
                <a:cs typeface="Agrandir Bold"/>
                <a:sym typeface="Agrandir Bold"/>
              </a:rPr>
              <a:t>Breast Cancer Project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7548" y="6618130"/>
            <a:ext cx="8178418" cy="531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7"/>
              </a:lnSpc>
              <a:spcBef>
                <a:spcPct val="0"/>
              </a:spcBef>
            </a:pPr>
            <a:r>
              <a:rPr lang="en-US" sz="2698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Danillo Barros de Souza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774527" y="565785"/>
            <a:ext cx="7484773" cy="439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93"/>
              </a:lnSpc>
            </a:pPr>
            <a:r>
              <a:rPr lang="en-US" sz="2209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2026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65785"/>
            <a:ext cx="7484773" cy="439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93"/>
              </a:lnSpc>
            </a:pPr>
            <a:r>
              <a:rPr lang="en-US" sz="2209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Análisis de Cáncer de Mama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5400000">
            <a:off x="15052879" y="458978"/>
            <a:ext cx="1055299" cy="1049543"/>
          </a:xfrm>
          <a:custGeom>
            <a:avLst/>
            <a:gdLst/>
            <a:ahLst/>
            <a:cxnLst/>
            <a:rect r="r" b="b" t="t" l="l"/>
            <a:pathLst>
              <a:path h="1049543" w="1055299">
                <a:moveTo>
                  <a:pt x="0" y="0"/>
                </a:moveTo>
                <a:lnTo>
                  <a:pt x="1055300" y="0"/>
                </a:lnTo>
                <a:lnTo>
                  <a:pt x="1055300" y="1049543"/>
                </a:lnTo>
                <a:lnTo>
                  <a:pt x="0" y="1049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975865" y="1950726"/>
            <a:ext cx="3707745" cy="6396075"/>
          </a:xfrm>
          <a:custGeom>
            <a:avLst/>
            <a:gdLst/>
            <a:ahLst/>
            <a:cxnLst/>
            <a:rect r="r" b="b" t="t" l="l"/>
            <a:pathLst>
              <a:path h="6396075" w="3707745">
                <a:moveTo>
                  <a:pt x="0" y="0"/>
                </a:moveTo>
                <a:lnTo>
                  <a:pt x="3707745" y="0"/>
                </a:lnTo>
                <a:lnTo>
                  <a:pt x="3707745" y="6396075"/>
                </a:lnTo>
                <a:lnTo>
                  <a:pt x="0" y="63960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168059" y="3294891"/>
            <a:ext cx="1558087" cy="457083"/>
          </a:xfrm>
          <a:custGeom>
            <a:avLst/>
            <a:gdLst/>
            <a:ahLst/>
            <a:cxnLst/>
            <a:rect r="r" b="b" t="t" l="l"/>
            <a:pathLst>
              <a:path h="457083" w="1558087">
                <a:moveTo>
                  <a:pt x="0" y="0"/>
                </a:moveTo>
                <a:lnTo>
                  <a:pt x="1558087" y="0"/>
                </a:lnTo>
                <a:lnTo>
                  <a:pt x="1558087" y="457084"/>
                </a:lnTo>
                <a:lnTo>
                  <a:pt x="0" y="4570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127304" y="1468360"/>
            <a:ext cx="7785921" cy="126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7710"/>
              </a:lnSpc>
            </a:pPr>
            <a:r>
              <a:rPr lang="en-US" sz="7948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OBJETIVO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396075" y="3959622"/>
            <a:ext cx="10863225" cy="2895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490"/>
              </a:lnSpc>
            </a:pPr>
          </a:p>
          <a:p>
            <a:pPr algn="just" marL="692472" indent="-346236" lvl="1">
              <a:lnSpc>
                <a:spcPts val="4490"/>
              </a:lnSpc>
              <a:buAutoNum type="arabicPeriod" startAt="1"/>
            </a:pPr>
            <a:r>
              <a:rPr lang="en-US" sz="3207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 </a:t>
            </a:r>
            <a:r>
              <a:rPr lang="en-US" sz="3207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Encontrar padrones de tumores a partir de características de imágenes histopatológicas</a:t>
            </a:r>
          </a:p>
          <a:p>
            <a:pPr algn="just">
              <a:lnSpc>
                <a:spcPts val="4490"/>
              </a:lnSpc>
            </a:pPr>
            <a:r>
              <a:rPr lang="en-US" sz="3207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 2. Desplegar un modelo predictivo que utilice informaciones estadísticas de tumores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10249" y="1829227"/>
            <a:ext cx="12429687" cy="8281279"/>
          </a:xfrm>
          <a:custGeom>
            <a:avLst/>
            <a:gdLst/>
            <a:ahLst/>
            <a:cxnLst/>
            <a:rect r="r" b="b" t="t" l="l"/>
            <a:pathLst>
              <a:path h="8281279" w="12429687">
                <a:moveTo>
                  <a:pt x="0" y="0"/>
                </a:moveTo>
                <a:lnTo>
                  <a:pt x="12429687" y="0"/>
                </a:lnTo>
                <a:lnTo>
                  <a:pt x="12429687" y="8281279"/>
                </a:lnTo>
                <a:lnTo>
                  <a:pt x="0" y="82812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05122" y="230066"/>
            <a:ext cx="8197028" cy="1305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74"/>
              </a:lnSpc>
            </a:pPr>
            <a:r>
              <a:rPr lang="en-US" sz="376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Anteriormente: Características de Contorno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5400000">
            <a:off x="1154158" y="3438527"/>
            <a:ext cx="2298231" cy="3964582"/>
          </a:xfrm>
          <a:custGeom>
            <a:avLst/>
            <a:gdLst/>
            <a:ahLst/>
            <a:cxnLst/>
            <a:rect r="r" b="b" t="t" l="l"/>
            <a:pathLst>
              <a:path h="3964582" w="2298231">
                <a:moveTo>
                  <a:pt x="0" y="0"/>
                </a:moveTo>
                <a:lnTo>
                  <a:pt x="2298231" y="0"/>
                </a:lnTo>
                <a:lnTo>
                  <a:pt x="2298231" y="3964582"/>
                </a:lnTo>
                <a:lnTo>
                  <a:pt x="0" y="39645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117409" y="1199697"/>
            <a:ext cx="1055299" cy="1049543"/>
          </a:xfrm>
          <a:custGeom>
            <a:avLst/>
            <a:gdLst/>
            <a:ahLst/>
            <a:cxnLst/>
            <a:rect r="r" b="b" t="t" l="l"/>
            <a:pathLst>
              <a:path h="1049543" w="1055299">
                <a:moveTo>
                  <a:pt x="0" y="0"/>
                </a:moveTo>
                <a:lnTo>
                  <a:pt x="1055299" y="0"/>
                </a:lnTo>
                <a:lnTo>
                  <a:pt x="1055299" y="1049544"/>
                </a:lnTo>
                <a:lnTo>
                  <a:pt x="0" y="1049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3927633" y="4630725"/>
            <a:ext cx="2298231" cy="3964582"/>
          </a:xfrm>
          <a:custGeom>
            <a:avLst/>
            <a:gdLst/>
            <a:ahLst/>
            <a:cxnLst/>
            <a:rect r="r" b="b" t="t" l="l"/>
            <a:pathLst>
              <a:path h="3964582" w="2298231">
                <a:moveTo>
                  <a:pt x="0" y="0"/>
                </a:moveTo>
                <a:lnTo>
                  <a:pt x="2298232" y="0"/>
                </a:lnTo>
                <a:lnTo>
                  <a:pt x="2298232" y="3964583"/>
                </a:lnTo>
                <a:lnTo>
                  <a:pt x="0" y="39645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260049" y="3092607"/>
            <a:ext cx="1633399" cy="479177"/>
          </a:xfrm>
          <a:custGeom>
            <a:avLst/>
            <a:gdLst/>
            <a:ahLst/>
            <a:cxnLst/>
            <a:rect r="r" b="b" t="t" l="l"/>
            <a:pathLst>
              <a:path h="479177" w="1633399">
                <a:moveTo>
                  <a:pt x="0" y="0"/>
                </a:moveTo>
                <a:lnTo>
                  <a:pt x="1633400" y="0"/>
                </a:lnTo>
                <a:lnTo>
                  <a:pt x="1633400" y="479178"/>
                </a:lnTo>
                <a:lnTo>
                  <a:pt x="0" y="4791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340037" y="404843"/>
            <a:ext cx="9707259" cy="9659116"/>
          </a:xfrm>
          <a:custGeom>
            <a:avLst/>
            <a:gdLst/>
            <a:ahLst/>
            <a:cxnLst/>
            <a:rect r="r" b="b" t="t" l="l"/>
            <a:pathLst>
              <a:path h="9659116" w="9707259">
                <a:moveTo>
                  <a:pt x="0" y="0"/>
                </a:moveTo>
                <a:lnTo>
                  <a:pt x="9707259" y="0"/>
                </a:lnTo>
                <a:lnTo>
                  <a:pt x="9707259" y="9659116"/>
                </a:lnTo>
                <a:lnTo>
                  <a:pt x="0" y="96591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29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774527" y="546735"/>
            <a:ext cx="7484773" cy="482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7"/>
              </a:lnSpc>
            </a:pPr>
            <a:r>
              <a:rPr lang="en-US" sz="2398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46735"/>
            <a:ext cx="7484773" cy="482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57"/>
              </a:lnSpc>
            </a:pPr>
            <a:r>
              <a:rPr lang="en-US" sz="2398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Análisis de Cáncer de Mama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117409" y="1199697"/>
            <a:ext cx="1055299" cy="1049543"/>
          </a:xfrm>
          <a:custGeom>
            <a:avLst/>
            <a:gdLst/>
            <a:ahLst/>
            <a:cxnLst/>
            <a:rect r="r" b="b" t="t" l="l"/>
            <a:pathLst>
              <a:path h="1049543" w="1055299">
                <a:moveTo>
                  <a:pt x="0" y="0"/>
                </a:moveTo>
                <a:lnTo>
                  <a:pt x="1055299" y="0"/>
                </a:lnTo>
                <a:lnTo>
                  <a:pt x="1055299" y="1049544"/>
                </a:lnTo>
                <a:lnTo>
                  <a:pt x="0" y="1049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3927633" y="4630725"/>
            <a:ext cx="2298231" cy="3964582"/>
          </a:xfrm>
          <a:custGeom>
            <a:avLst/>
            <a:gdLst/>
            <a:ahLst/>
            <a:cxnLst/>
            <a:rect r="r" b="b" t="t" l="l"/>
            <a:pathLst>
              <a:path h="3964582" w="2298231">
                <a:moveTo>
                  <a:pt x="0" y="0"/>
                </a:moveTo>
                <a:lnTo>
                  <a:pt x="2298232" y="0"/>
                </a:lnTo>
                <a:lnTo>
                  <a:pt x="2298232" y="3964583"/>
                </a:lnTo>
                <a:lnTo>
                  <a:pt x="0" y="39645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260049" y="3092607"/>
            <a:ext cx="1633399" cy="479177"/>
          </a:xfrm>
          <a:custGeom>
            <a:avLst/>
            <a:gdLst/>
            <a:ahLst/>
            <a:cxnLst/>
            <a:rect r="r" b="b" t="t" l="l"/>
            <a:pathLst>
              <a:path h="479177" w="1633399">
                <a:moveTo>
                  <a:pt x="0" y="0"/>
                </a:moveTo>
                <a:lnTo>
                  <a:pt x="1633400" y="0"/>
                </a:lnTo>
                <a:lnTo>
                  <a:pt x="1633400" y="479178"/>
                </a:lnTo>
                <a:lnTo>
                  <a:pt x="0" y="4791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619231" y="170674"/>
            <a:ext cx="12640069" cy="14598311"/>
          </a:xfrm>
          <a:custGeom>
            <a:avLst/>
            <a:gdLst/>
            <a:ahLst/>
            <a:cxnLst/>
            <a:rect r="r" b="b" t="t" l="l"/>
            <a:pathLst>
              <a:path h="14598311" w="12640069">
                <a:moveTo>
                  <a:pt x="0" y="0"/>
                </a:moveTo>
                <a:lnTo>
                  <a:pt x="12640069" y="0"/>
                </a:lnTo>
                <a:lnTo>
                  <a:pt x="12640069" y="14598311"/>
                </a:lnTo>
                <a:lnTo>
                  <a:pt x="0" y="145983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905" r="0" b="-54457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17006" y="546735"/>
            <a:ext cx="7484773" cy="482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57"/>
              </a:lnSpc>
            </a:pPr>
            <a:r>
              <a:rPr lang="en-US" sz="2398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Análisis de Cáncer de Mama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117409" y="1199697"/>
            <a:ext cx="1055299" cy="1049543"/>
          </a:xfrm>
          <a:custGeom>
            <a:avLst/>
            <a:gdLst/>
            <a:ahLst/>
            <a:cxnLst/>
            <a:rect r="r" b="b" t="t" l="l"/>
            <a:pathLst>
              <a:path h="1049543" w="1055299">
                <a:moveTo>
                  <a:pt x="0" y="0"/>
                </a:moveTo>
                <a:lnTo>
                  <a:pt x="1055299" y="0"/>
                </a:lnTo>
                <a:lnTo>
                  <a:pt x="1055299" y="1049544"/>
                </a:lnTo>
                <a:lnTo>
                  <a:pt x="0" y="1049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3927633" y="4630725"/>
            <a:ext cx="2298231" cy="3964582"/>
          </a:xfrm>
          <a:custGeom>
            <a:avLst/>
            <a:gdLst/>
            <a:ahLst/>
            <a:cxnLst/>
            <a:rect r="r" b="b" t="t" l="l"/>
            <a:pathLst>
              <a:path h="3964582" w="2298231">
                <a:moveTo>
                  <a:pt x="0" y="0"/>
                </a:moveTo>
                <a:lnTo>
                  <a:pt x="2298232" y="0"/>
                </a:lnTo>
                <a:lnTo>
                  <a:pt x="2298232" y="3964583"/>
                </a:lnTo>
                <a:lnTo>
                  <a:pt x="0" y="39645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651115" y="3365714"/>
            <a:ext cx="1633399" cy="479177"/>
          </a:xfrm>
          <a:custGeom>
            <a:avLst/>
            <a:gdLst/>
            <a:ahLst/>
            <a:cxnLst/>
            <a:rect r="r" b="b" t="t" l="l"/>
            <a:pathLst>
              <a:path h="479177" w="1633399">
                <a:moveTo>
                  <a:pt x="0" y="0"/>
                </a:moveTo>
                <a:lnTo>
                  <a:pt x="1633400" y="0"/>
                </a:lnTo>
                <a:lnTo>
                  <a:pt x="1633400" y="479177"/>
                </a:lnTo>
                <a:lnTo>
                  <a:pt x="0" y="4791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869897" y="2970110"/>
            <a:ext cx="11322191" cy="1022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3"/>
              </a:lnSpc>
              <a:spcBef>
                <a:spcPct val="0"/>
              </a:spcBef>
            </a:pPr>
            <a:r>
              <a:rPr lang="en-US" sz="510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Imagenes de BreakHis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237433" y="4534317"/>
            <a:ext cx="8294787" cy="4642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03208" indent="-551604" lvl="1">
              <a:lnSpc>
                <a:spcPts val="7153"/>
              </a:lnSpc>
              <a:buFont typeface="Arial"/>
              <a:buChar char="•"/>
            </a:pPr>
            <a:r>
              <a:rPr lang="en-US" sz="510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Dimensiones: 700 x 460</a:t>
            </a:r>
          </a:p>
          <a:p>
            <a:pPr algn="l" marL="1103208" indent="-551604" lvl="1">
              <a:lnSpc>
                <a:spcPts val="7153"/>
              </a:lnSpc>
              <a:buFont typeface="Arial"/>
              <a:buChar char="•"/>
            </a:pPr>
            <a:r>
              <a:rPr lang="en-US" sz="510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Magnitud: 40X</a:t>
            </a:r>
          </a:p>
          <a:p>
            <a:pPr algn="l" marL="1103208" indent="-551604" lvl="1">
              <a:lnSpc>
                <a:spcPts val="7153"/>
              </a:lnSpc>
              <a:buFont typeface="Arial"/>
              <a:buChar char="•"/>
            </a:pPr>
            <a:r>
              <a:rPr lang="en-US" sz="510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Total: 1995</a:t>
            </a:r>
          </a:p>
          <a:p>
            <a:pPr algn="l" marL="1103208" indent="-551604" lvl="1">
              <a:lnSpc>
                <a:spcPts val="7153"/>
              </a:lnSpc>
              <a:buFont typeface="Arial"/>
              <a:buChar char="•"/>
            </a:pPr>
            <a:r>
              <a:rPr lang="en-US" sz="510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Clase 0: 1370</a:t>
            </a:r>
          </a:p>
          <a:p>
            <a:pPr algn="l" marL="1103208" indent="-551604" lvl="1">
              <a:lnSpc>
                <a:spcPts val="7153"/>
              </a:lnSpc>
              <a:buFont typeface="Arial"/>
              <a:buChar char="•"/>
            </a:pPr>
            <a:r>
              <a:rPr lang="en-US" sz="510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Clase 1: 625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729465" y="-1904331"/>
            <a:ext cx="2385311" cy="4114800"/>
          </a:xfrm>
          <a:custGeom>
            <a:avLst/>
            <a:gdLst/>
            <a:ahLst/>
            <a:cxnLst/>
            <a:rect r="r" b="b" t="t" l="l"/>
            <a:pathLst>
              <a:path h="4114800" w="2385311">
                <a:moveTo>
                  <a:pt x="0" y="0"/>
                </a:moveTo>
                <a:lnTo>
                  <a:pt x="2385311" y="0"/>
                </a:lnTo>
                <a:lnTo>
                  <a:pt x="23853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9578" y="4914958"/>
            <a:ext cx="1558087" cy="457083"/>
          </a:xfrm>
          <a:custGeom>
            <a:avLst/>
            <a:gdLst/>
            <a:ahLst/>
            <a:cxnLst/>
            <a:rect r="r" b="b" t="t" l="l"/>
            <a:pathLst>
              <a:path h="457083" w="1558087">
                <a:moveTo>
                  <a:pt x="0" y="0"/>
                </a:moveTo>
                <a:lnTo>
                  <a:pt x="1558087" y="0"/>
                </a:lnTo>
                <a:lnTo>
                  <a:pt x="1558087" y="457084"/>
                </a:lnTo>
                <a:lnTo>
                  <a:pt x="0" y="4570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19456" y="2747498"/>
            <a:ext cx="5249087" cy="5249087"/>
          </a:xfrm>
          <a:custGeom>
            <a:avLst/>
            <a:gdLst/>
            <a:ahLst/>
            <a:cxnLst/>
            <a:rect r="r" b="b" t="t" l="l"/>
            <a:pathLst>
              <a:path h="5249087" w="5249087">
                <a:moveTo>
                  <a:pt x="0" y="0"/>
                </a:moveTo>
                <a:lnTo>
                  <a:pt x="5249088" y="0"/>
                </a:lnTo>
                <a:lnTo>
                  <a:pt x="5249088" y="5249087"/>
                </a:lnTo>
                <a:lnTo>
                  <a:pt x="0" y="52490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04104" y="1241963"/>
            <a:ext cx="9271397" cy="1022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3"/>
              </a:lnSpc>
              <a:spcBef>
                <a:spcPct val="0"/>
              </a:spcBef>
            </a:pPr>
            <a:r>
              <a:rPr lang="en-US" sz="510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Pregunta: ¿Benigno o Maligno?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11383" y="8409453"/>
            <a:ext cx="2815949" cy="848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61"/>
              </a:lnSpc>
              <a:spcBef>
                <a:spcPct val="0"/>
              </a:spcBef>
            </a:pPr>
            <a:r>
              <a:rPr lang="en-US" sz="4257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Respuesta: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7255" y="8587253"/>
            <a:ext cx="2396430" cy="853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61"/>
              </a:lnSpc>
              <a:spcBef>
                <a:spcPct val="0"/>
              </a:spcBef>
            </a:pPr>
            <a:r>
              <a:rPr lang="en-US" sz="4257">
                <a:solidFill>
                  <a:srgbClr val="E1E3E1"/>
                </a:solidFill>
                <a:latin typeface="Agrandir"/>
                <a:ea typeface="Agrandir"/>
                <a:cs typeface="Agrandir"/>
                <a:sym typeface="Agrandir"/>
              </a:rPr>
              <a:t>BENINGO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729465" y="-1904331"/>
            <a:ext cx="2385311" cy="4114800"/>
          </a:xfrm>
          <a:custGeom>
            <a:avLst/>
            <a:gdLst/>
            <a:ahLst/>
            <a:cxnLst/>
            <a:rect r="r" b="b" t="t" l="l"/>
            <a:pathLst>
              <a:path h="4114800" w="2385311">
                <a:moveTo>
                  <a:pt x="0" y="0"/>
                </a:moveTo>
                <a:lnTo>
                  <a:pt x="2385311" y="0"/>
                </a:lnTo>
                <a:lnTo>
                  <a:pt x="23853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9578" y="4914958"/>
            <a:ext cx="1558087" cy="457083"/>
          </a:xfrm>
          <a:custGeom>
            <a:avLst/>
            <a:gdLst/>
            <a:ahLst/>
            <a:cxnLst/>
            <a:rect r="r" b="b" t="t" l="l"/>
            <a:pathLst>
              <a:path h="457083" w="1558087">
                <a:moveTo>
                  <a:pt x="0" y="0"/>
                </a:moveTo>
                <a:lnTo>
                  <a:pt x="1558087" y="0"/>
                </a:lnTo>
                <a:lnTo>
                  <a:pt x="1558087" y="457084"/>
                </a:lnTo>
                <a:lnTo>
                  <a:pt x="0" y="4570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19456" y="2747498"/>
            <a:ext cx="5249087" cy="5249087"/>
          </a:xfrm>
          <a:custGeom>
            <a:avLst/>
            <a:gdLst/>
            <a:ahLst/>
            <a:cxnLst/>
            <a:rect r="r" b="b" t="t" l="l"/>
            <a:pathLst>
              <a:path h="5249087" w="5249087">
                <a:moveTo>
                  <a:pt x="0" y="0"/>
                </a:moveTo>
                <a:lnTo>
                  <a:pt x="5249088" y="0"/>
                </a:lnTo>
                <a:lnTo>
                  <a:pt x="5249088" y="5249087"/>
                </a:lnTo>
                <a:lnTo>
                  <a:pt x="0" y="52490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04104" y="1241963"/>
            <a:ext cx="9271397" cy="1022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3"/>
              </a:lnSpc>
              <a:spcBef>
                <a:spcPct val="0"/>
              </a:spcBef>
            </a:pPr>
            <a:r>
              <a:rPr lang="en-US" sz="510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Pregunta: ¿Benigno o Maligno?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11383" y="8409453"/>
            <a:ext cx="2815949" cy="848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61"/>
              </a:lnSpc>
              <a:spcBef>
                <a:spcPct val="0"/>
              </a:spcBef>
            </a:pPr>
            <a:r>
              <a:rPr lang="en-US" sz="4257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Respuesta: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04608" y="8409453"/>
            <a:ext cx="2016323" cy="853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61"/>
              </a:lnSpc>
              <a:spcBef>
                <a:spcPct val="0"/>
              </a:spcBef>
            </a:pPr>
            <a:r>
              <a:rPr lang="en-US" sz="4257">
                <a:solidFill>
                  <a:srgbClr val="296D5F"/>
                </a:solidFill>
                <a:latin typeface="Agrandir"/>
                <a:ea typeface="Agrandir"/>
                <a:cs typeface="Agrandir"/>
                <a:sym typeface="Agrandir"/>
              </a:rPr>
              <a:t>Benigno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729465" y="-1904331"/>
            <a:ext cx="2385311" cy="4114800"/>
          </a:xfrm>
          <a:custGeom>
            <a:avLst/>
            <a:gdLst/>
            <a:ahLst/>
            <a:cxnLst/>
            <a:rect r="r" b="b" t="t" l="l"/>
            <a:pathLst>
              <a:path h="4114800" w="2385311">
                <a:moveTo>
                  <a:pt x="0" y="0"/>
                </a:moveTo>
                <a:lnTo>
                  <a:pt x="2385311" y="0"/>
                </a:lnTo>
                <a:lnTo>
                  <a:pt x="23853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9578" y="4914958"/>
            <a:ext cx="1558087" cy="457083"/>
          </a:xfrm>
          <a:custGeom>
            <a:avLst/>
            <a:gdLst/>
            <a:ahLst/>
            <a:cxnLst/>
            <a:rect r="r" b="b" t="t" l="l"/>
            <a:pathLst>
              <a:path h="457083" w="1558087">
                <a:moveTo>
                  <a:pt x="0" y="0"/>
                </a:moveTo>
                <a:lnTo>
                  <a:pt x="1558087" y="0"/>
                </a:lnTo>
                <a:lnTo>
                  <a:pt x="1558087" y="457084"/>
                </a:lnTo>
                <a:lnTo>
                  <a:pt x="0" y="4570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39826" y="2315043"/>
            <a:ext cx="8608349" cy="5656915"/>
          </a:xfrm>
          <a:custGeom>
            <a:avLst/>
            <a:gdLst/>
            <a:ahLst/>
            <a:cxnLst/>
            <a:rect r="r" b="b" t="t" l="l"/>
            <a:pathLst>
              <a:path h="5656915" w="8608349">
                <a:moveTo>
                  <a:pt x="0" y="0"/>
                </a:moveTo>
                <a:lnTo>
                  <a:pt x="8608348" y="0"/>
                </a:lnTo>
                <a:lnTo>
                  <a:pt x="8608348" y="5656914"/>
                </a:lnTo>
                <a:lnTo>
                  <a:pt x="0" y="56569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04104" y="1241963"/>
            <a:ext cx="9271397" cy="1022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3"/>
              </a:lnSpc>
              <a:spcBef>
                <a:spcPct val="0"/>
              </a:spcBef>
            </a:pPr>
            <a:r>
              <a:rPr lang="en-US" sz="510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Pregunta: ¿Benigno o Maligno?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729465" y="-1904331"/>
            <a:ext cx="2385311" cy="4114800"/>
          </a:xfrm>
          <a:custGeom>
            <a:avLst/>
            <a:gdLst/>
            <a:ahLst/>
            <a:cxnLst/>
            <a:rect r="r" b="b" t="t" l="l"/>
            <a:pathLst>
              <a:path h="4114800" w="2385311">
                <a:moveTo>
                  <a:pt x="0" y="0"/>
                </a:moveTo>
                <a:lnTo>
                  <a:pt x="2385311" y="0"/>
                </a:lnTo>
                <a:lnTo>
                  <a:pt x="23853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9578" y="4914958"/>
            <a:ext cx="1558087" cy="457083"/>
          </a:xfrm>
          <a:custGeom>
            <a:avLst/>
            <a:gdLst/>
            <a:ahLst/>
            <a:cxnLst/>
            <a:rect r="r" b="b" t="t" l="l"/>
            <a:pathLst>
              <a:path h="457083" w="1558087">
                <a:moveTo>
                  <a:pt x="0" y="0"/>
                </a:moveTo>
                <a:lnTo>
                  <a:pt x="1558087" y="0"/>
                </a:lnTo>
                <a:lnTo>
                  <a:pt x="1558087" y="457084"/>
                </a:lnTo>
                <a:lnTo>
                  <a:pt x="0" y="4570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39826" y="2315043"/>
            <a:ext cx="8608349" cy="5656915"/>
          </a:xfrm>
          <a:custGeom>
            <a:avLst/>
            <a:gdLst/>
            <a:ahLst/>
            <a:cxnLst/>
            <a:rect r="r" b="b" t="t" l="l"/>
            <a:pathLst>
              <a:path h="5656915" w="8608349">
                <a:moveTo>
                  <a:pt x="0" y="0"/>
                </a:moveTo>
                <a:lnTo>
                  <a:pt x="8608348" y="0"/>
                </a:lnTo>
                <a:lnTo>
                  <a:pt x="8608348" y="5656914"/>
                </a:lnTo>
                <a:lnTo>
                  <a:pt x="0" y="56569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04104" y="1241963"/>
            <a:ext cx="9271397" cy="1022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3"/>
              </a:lnSpc>
              <a:spcBef>
                <a:spcPct val="0"/>
              </a:spcBef>
            </a:pPr>
            <a:r>
              <a:rPr lang="en-US" sz="510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Pregunta: ¿Benigno o Maligno?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11383" y="8409453"/>
            <a:ext cx="2815949" cy="848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61"/>
              </a:lnSpc>
              <a:spcBef>
                <a:spcPct val="0"/>
              </a:spcBef>
            </a:pPr>
            <a:r>
              <a:rPr lang="en-US" sz="4257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Respuesta: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04608" y="8409453"/>
            <a:ext cx="2016323" cy="853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61"/>
              </a:lnSpc>
              <a:spcBef>
                <a:spcPct val="0"/>
              </a:spcBef>
            </a:pPr>
            <a:r>
              <a:rPr lang="en-US" sz="4257">
                <a:solidFill>
                  <a:srgbClr val="296D5F"/>
                </a:solidFill>
                <a:latin typeface="Agrandir"/>
                <a:ea typeface="Agrandir"/>
                <a:cs typeface="Agrandir"/>
                <a:sym typeface="Agrandir"/>
              </a:rPr>
              <a:t>Benigno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729465" y="-1904331"/>
            <a:ext cx="2385311" cy="4114800"/>
          </a:xfrm>
          <a:custGeom>
            <a:avLst/>
            <a:gdLst/>
            <a:ahLst/>
            <a:cxnLst/>
            <a:rect r="r" b="b" t="t" l="l"/>
            <a:pathLst>
              <a:path h="4114800" w="2385311">
                <a:moveTo>
                  <a:pt x="0" y="0"/>
                </a:moveTo>
                <a:lnTo>
                  <a:pt x="2385311" y="0"/>
                </a:lnTo>
                <a:lnTo>
                  <a:pt x="23853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9578" y="4914958"/>
            <a:ext cx="1558087" cy="457083"/>
          </a:xfrm>
          <a:custGeom>
            <a:avLst/>
            <a:gdLst/>
            <a:ahLst/>
            <a:cxnLst/>
            <a:rect r="r" b="b" t="t" l="l"/>
            <a:pathLst>
              <a:path h="457083" w="1558087">
                <a:moveTo>
                  <a:pt x="0" y="0"/>
                </a:moveTo>
                <a:lnTo>
                  <a:pt x="1558087" y="0"/>
                </a:lnTo>
                <a:lnTo>
                  <a:pt x="1558087" y="457084"/>
                </a:lnTo>
                <a:lnTo>
                  <a:pt x="0" y="4570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39826" y="2315043"/>
            <a:ext cx="8608349" cy="5656915"/>
          </a:xfrm>
          <a:custGeom>
            <a:avLst/>
            <a:gdLst/>
            <a:ahLst/>
            <a:cxnLst/>
            <a:rect r="r" b="b" t="t" l="l"/>
            <a:pathLst>
              <a:path h="5656915" w="8608349">
                <a:moveTo>
                  <a:pt x="0" y="0"/>
                </a:moveTo>
                <a:lnTo>
                  <a:pt x="8608348" y="0"/>
                </a:lnTo>
                <a:lnTo>
                  <a:pt x="8608348" y="5656914"/>
                </a:lnTo>
                <a:lnTo>
                  <a:pt x="0" y="56569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04104" y="1241963"/>
            <a:ext cx="9271397" cy="1022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3"/>
              </a:lnSpc>
              <a:spcBef>
                <a:spcPct val="0"/>
              </a:spcBef>
            </a:pPr>
            <a:r>
              <a:rPr lang="en-US" sz="510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Pregunta: ¿Benigno o Maligno?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729465" y="-1904331"/>
            <a:ext cx="2385311" cy="4114800"/>
          </a:xfrm>
          <a:custGeom>
            <a:avLst/>
            <a:gdLst/>
            <a:ahLst/>
            <a:cxnLst/>
            <a:rect r="r" b="b" t="t" l="l"/>
            <a:pathLst>
              <a:path h="4114800" w="2385311">
                <a:moveTo>
                  <a:pt x="0" y="0"/>
                </a:moveTo>
                <a:lnTo>
                  <a:pt x="2385311" y="0"/>
                </a:lnTo>
                <a:lnTo>
                  <a:pt x="23853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9578" y="4914958"/>
            <a:ext cx="1558087" cy="457083"/>
          </a:xfrm>
          <a:custGeom>
            <a:avLst/>
            <a:gdLst/>
            <a:ahLst/>
            <a:cxnLst/>
            <a:rect r="r" b="b" t="t" l="l"/>
            <a:pathLst>
              <a:path h="457083" w="1558087">
                <a:moveTo>
                  <a:pt x="0" y="0"/>
                </a:moveTo>
                <a:lnTo>
                  <a:pt x="1558087" y="0"/>
                </a:lnTo>
                <a:lnTo>
                  <a:pt x="1558087" y="457084"/>
                </a:lnTo>
                <a:lnTo>
                  <a:pt x="0" y="4570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39826" y="2315043"/>
            <a:ext cx="8608349" cy="5656915"/>
          </a:xfrm>
          <a:custGeom>
            <a:avLst/>
            <a:gdLst/>
            <a:ahLst/>
            <a:cxnLst/>
            <a:rect r="r" b="b" t="t" l="l"/>
            <a:pathLst>
              <a:path h="5656915" w="8608349">
                <a:moveTo>
                  <a:pt x="0" y="0"/>
                </a:moveTo>
                <a:lnTo>
                  <a:pt x="8608348" y="0"/>
                </a:lnTo>
                <a:lnTo>
                  <a:pt x="8608348" y="5656914"/>
                </a:lnTo>
                <a:lnTo>
                  <a:pt x="0" y="56569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04104" y="1241963"/>
            <a:ext cx="9271397" cy="1022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3"/>
              </a:lnSpc>
              <a:spcBef>
                <a:spcPct val="0"/>
              </a:spcBef>
            </a:pPr>
            <a:r>
              <a:rPr lang="en-US" sz="510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Pregunta: ¿Benigno o Maligno?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11383" y="8409453"/>
            <a:ext cx="2815949" cy="848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61"/>
              </a:lnSpc>
              <a:spcBef>
                <a:spcPct val="0"/>
              </a:spcBef>
            </a:pPr>
            <a:r>
              <a:rPr lang="en-US" sz="4257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Respuesta: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40327" y="8409453"/>
            <a:ext cx="1944886" cy="853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61"/>
              </a:lnSpc>
              <a:spcBef>
                <a:spcPct val="0"/>
              </a:spcBef>
            </a:pPr>
            <a:r>
              <a:rPr lang="en-US" sz="4257">
                <a:solidFill>
                  <a:srgbClr val="FF5757"/>
                </a:solidFill>
                <a:latin typeface="Agrandir"/>
                <a:ea typeface="Agrandir"/>
                <a:cs typeface="Agrandir"/>
                <a:sym typeface="Agrandir"/>
              </a:rPr>
              <a:t>Maligno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729465" y="-1904331"/>
            <a:ext cx="2385311" cy="4114800"/>
          </a:xfrm>
          <a:custGeom>
            <a:avLst/>
            <a:gdLst/>
            <a:ahLst/>
            <a:cxnLst/>
            <a:rect r="r" b="b" t="t" l="l"/>
            <a:pathLst>
              <a:path h="4114800" w="2385311">
                <a:moveTo>
                  <a:pt x="0" y="0"/>
                </a:moveTo>
                <a:lnTo>
                  <a:pt x="2385311" y="0"/>
                </a:lnTo>
                <a:lnTo>
                  <a:pt x="23853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9578" y="4914958"/>
            <a:ext cx="1558087" cy="457083"/>
          </a:xfrm>
          <a:custGeom>
            <a:avLst/>
            <a:gdLst/>
            <a:ahLst/>
            <a:cxnLst/>
            <a:rect r="r" b="b" t="t" l="l"/>
            <a:pathLst>
              <a:path h="457083" w="1558087">
                <a:moveTo>
                  <a:pt x="0" y="0"/>
                </a:moveTo>
                <a:lnTo>
                  <a:pt x="1558087" y="0"/>
                </a:lnTo>
                <a:lnTo>
                  <a:pt x="1558087" y="457084"/>
                </a:lnTo>
                <a:lnTo>
                  <a:pt x="0" y="4570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39826" y="2315043"/>
            <a:ext cx="8608349" cy="5656915"/>
          </a:xfrm>
          <a:custGeom>
            <a:avLst/>
            <a:gdLst/>
            <a:ahLst/>
            <a:cxnLst/>
            <a:rect r="r" b="b" t="t" l="l"/>
            <a:pathLst>
              <a:path h="5656915" w="8608349">
                <a:moveTo>
                  <a:pt x="0" y="0"/>
                </a:moveTo>
                <a:lnTo>
                  <a:pt x="8608348" y="0"/>
                </a:lnTo>
                <a:lnTo>
                  <a:pt x="8608348" y="5656914"/>
                </a:lnTo>
                <a:lnTo>
                  <a:pt x="0" y="56569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04104" y="1241963"/>
            <a:ext cx="9271397" cy="1022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3"/>
              </a:lnSpc>
              <a:spcBef>
                <a:spcPct val="0"/>
              </a:spcBef>
            </a:pPr>
            <a:r>
              <a:rPr lang="en-US" sz="510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Pregunta: ¿Benigno o Maligno?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729465" y="-1904331"/>
            <a:ext cx="2385311" cy="4114800"/>
          </a:xfrm>
          <a:custGeom>
            <a:avLst/>
            <a:gdLst/>
            <a:ahLst/>
            <a:cxnLst/>
            <a:rect r="r" b="b" t="t" l="l"/>
            <a:pathLst>
              <a:path h="4114800" w="2385311">
                <a:moveTo>
                  <a:pt x="0" y="0"/>
                </a:moveTo>
                <a:lnTo>
                  <a:pt x="2385311" y="0"/>
                </a:lnTo>
                <a:lnTo>
                  <a:pt x="23853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9578" y="4914958"/>
            <a:ext cx="1558087" cy="457083"/>
          </a:xfrm>
          <a:custGeom>
            <a:avLst/>
            <a:gdLst/>
            <a:ahLst/>
            <a:cxnLst/>
            <a:rect r="r" b="b" t="t" l="l"/>
            <a:pathLst>
              <a:path h="457083" w="1558087">
                <a:moveTo>
                  <a:pt x="0" y="0"/>
                </a:moveTo>
                <a:lnTo>
                  <a:pt x="1558087" y="0"/>
                </a:lnTo>
                <a:lnTo>
                  <a:pt x="1558087" y="457084"/>
                </a:lnTo>
                <a:lnTo>
                  <a:pt x="0" y="4570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39826" y="2315043"/>
            <a:ext cx="8608349" cy="5656915"/>
          </a:xfrm>
          <a:custGeom>
            <a:avLst/>
            <a:gdLst/>
            <a:ahLst/>
            <a:cxnLst/>
            <a:rect r="r" b="b" t="t" l="l"/>
            <a:pathLst>
              <a:path h="5656915" w="8608349">
                <a:moveTo>
                  <a:pt x="0" y="0"/>
                </a:moveTo>
                <a:lnTo>
                  <a:pt x="8608348" y="0"/>
                </a:lnTo>
                <a:lnTo>
                  <a:pt x="8608348" y="5656914"/>
                </a:lnTo>
                <a:lnTo>
                  <a:pt x="0" y="56569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04104" y="1241963"/>
            <a:ext cx="9271397" cy="1022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3"/>
              </a:lnSpc>
              <a:spcBef>
                <a:spcPct val="0"/>
              </a:spcBef>
            </a:pPr>
            <a:r>
              <a:rPr lang="en-US" sz="510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Pregunta: ¿Benigno o Maligno?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11383" y="8409453"/>
            <a:ext cx="2815949" cy="848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61"/>
              </a:lnSpc>
              <a:spcBef>
                <a:spcPct val="0"/>
              </a:spcBef>
            </a:pPr>
            <a:r>
              <a:rPr lang="en-US" sz="4257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Respuesta: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40327" y="8409453"/>
            <a:ext cx="1944886" cy="853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61"/>
              </a:lnSpc>
              <a:spcBef>
                <a:spcPct val="0"/>
              </a:spcBef>
            </a:pPr>
            <a:r>
              <a:rPr lang="en-US" sz="4257">
                <a:solidFill>
                  <a:srgbClr val="FF5757"/>
                </a:solidFill>
                <a:latin typeface="Agrandir"/>
                <a:ea typeface="Agrandir"/>
                <a:cs typeface="Agrandir"/>
                <a:sym typeface="Agrandir"/>
              </a:rPr>
              <a:t>Maligno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75976" y="2014188"/>
            <a:ext cx="15230242" cy="8091066"/>
          </a:xfrm>
          <a:custGeom>
            <a:avLst/>
            <a:gdLst/>
            <a:ahLst/>
            <a:cxnLst/>
            <a:rect r="r" b="b" t="t" l="l"/>
            <a:pathLst>
              <a:path h="8091066" w="15230242">
                <a:moveTo>
                  <a:pt x="0" y="0"/>
                </a:moveTo>
                <a:lnTo>
                  <a:pt x="15230242" y="0"/>
                </a:lnTo>
                <a:lnTo>
                  <a:pt x="15230242" y="8091066"/>
                </a:lnTo>
                <a:lnTo>
                  <a:pt x="0" y="80910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533209" y="86577"/>
            <a:ext cx="18288000" cy="192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3"/>
              </a:lnSpc>
              <a:spcBef>
                <a:spcPct val="0"/>
              </a:spcBef>
            </a:pPr>
            <a:r>
              <a:rPr lang="en-US" sz="510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¿Qué información puedo obtener de una imagen histopatológica?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7046" y="140601"/>
            <a:ext cx="17664463" cy="10598678"/>
          </a:xfrm>
          <a:custGeom>
            <a:avLst/>
            <a:gdLst/>
            <a:ahLst/>
            <a:cxnLst/>
            <a:rect r="r" b="b" t="t" l="l"/>
            <a:pathLst>
              <a:path h="10598678" w="17664463">
                <a:moveTo>
                  <a:pt x="0" y="0"/>
                </a:moveTo>
                <a:lnTo>
                  <a:pt x="17664463" y="0"/>
                </a:lnTo>
                <a:lnTo>
                  <a:pt x="17664463" y="10598677"/>
                </a:lnTo>
                <a:lnTo>
                  <a:pt x="0" y="10598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1361076"/>
            <a:ext cx="18288000" cy="192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3"/>
              </a:lnSpc>
              <a:spcBef>
                <a:spcPct val="0"/>
              </a:spcBef>
            </a:pPr>
            <a:r>
              <a:rPr lang="en-US" b="true" sz="5109">
                <a:solidFill>
                  <a:srgbClr val="FF3131"/>
                </a:solidFill>
                <a:latin typeface="Agrandir Bold"/>
                <a:ea typeface="Agrandir Bold"/>
                <a:cs typeface="Agrandir Bold"/>
                <a:sym typeface="Agrandir Bold"/>
              </a:rPr>
              <a:t>¿Qué información tengo que utilizar para terner una buena prediccíon?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051" y="140601"/>
            <a:ext cx="17664463" cy="10598678"/>
          </a:xfrm>
          <a:custGeom>
            <a:avLst/>
            <a:gdLst/>
            <a:ahLst/>
            <a:cxnLst/>
            <a:rect r="r" b="b" t="t" l="l"/>
            <a:pathLst>
              <a:path h="10598678" w="17664463">
                <a:moveTo>
                  <a:pt x="0" y="0"/>
                </a:moveTo>
                <a:lnTo>
                  <a:pt x="17664463" y="0"/>
                </a:lnTo>
                <a:lnTo>
                  <a:pt x="17664463" y="10598677"/>
                </a:lnTo>
                <a:lnTo>
                  <a:pt x="0" y="10598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1361076"/>
            <a:ext cx="18288000" cy="192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3"/>
              </a:lnSpc>
              <a:spcBef>
                <a:spcPct val="0"/>
              </a:spcBef>
            </a:pPr>
            <a:r>
              <a:rPr lang="en-US" b="true" sz="5109">
                <a:solidFill>
                  <a:srgbClr val="FF3131"/>
                </a:solidFill>
                <a:latin typeface="Agrandir Bold"/>
                <a:ea typeface="Agrandir Bold"/>
                <a:cs typeface="Agrandir Bold"/>
                <a:sym typeface="Agrandir Bold"/>
              </a:rPr>
              <a:t>¿Qué información tengo que utilizar para terner una buena prediccíon?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4111239"/>
            <a:ext cx="6141414" cy="1999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0"/>
              </a:lnSpc>
            </a:pPr>
            <a:r>
              <a:rPr lang="en-US" sz="5300" b="true">
                <a:solidFill>
                  <a:srgbClr val="296D5F"/>
                </a:solidFill>
                <a:latin typeface="Agrandir Bold"/>
                <a:ea typeface="Agrandir Bold"/>
                <a:cs typeface="Agrandir Bold"/>
                <a:sym typeface="Agrandir Bold"/>
              </a:rPr>
              <a:t>Respuesta:</a:t>
            </a:r>
          </a:p>
          <a:p>
            <a:pPr algn="ctr">
              <a:lnSpc>
                <a:spcPts val="74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40601"/>
            <a:ext cx="17664463" cy="10598678"/>
          </a:xfrm>
          <a:custGeom>
            <a:avLst/>
            <a:gdLst/>
            <a:ahLst/>
            <a:cxnLst/>
            <a:rect r="r" b="b" t="t" l="l"/>
            <a:pathLst>
              <a:path h="10598678" w="17664463">
                <a:moveTo>
                  <a:pt x="0" y="0"/>
                </a:moveTo>
                <a:lnTo>
                  <a:pt x="17664463" y="0"/>
                </a:lnTo>
                <a:lnTo>
                  <a:pt x="17664463" y="10598677"/>
                </a:lnTo>
                <a:lnTo>
                  <a:pt x="0" y="10598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</a:blip>
            <a:stretch>
              <a:fillRect l="0" t="0" r="0" b="0"/>
            </a:stretch>
          </a:blipFill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6302010" y="3926905"/>
            <a:ext cx="9871078" cy="5552481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0" y="1361076"/>
            <a:ext cx="18288000" cy="192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3"/>
              </a:lnSpc>
              <a:spcBef>
                <a:spcPct val="0"/>
              </a:spcBef>
            </a:pPr>
            <a:r>
              <a:rPr lang="en-US" b="true" sz="5109">
                <a:solidFill>
                  <a:srgbClr val="FF3131"/>
                </a:solidFill>
                <a:latin typeface="Agrandir Bold"/>
                <a:ea typeface="Agrandir Bold"/>
                <a:cs typeface="Agrandir Bold"/>
                <a:sym typeface="Agrandir Bold"/>
              </a:rPr>
              <a:t>¿Qué información tengo que utilizar para terner una buena prediccíon?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4111239"/>
            <a:ext cx="6141414" cy="1999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0"/>
              </a:lnSpc>
            </a:pPr>
            <a:r>
              <a:rPr lang="en-US" sz="5300" b="true">
                <a:solidFill>
                  <a:srgbClr val="296D5F"/>
                </a:solidFill>
                <a:latin typeface="Agrandir Bold"/>
                <a:ea typeface="Agrandir Bold"/>
                <a:cs typeface="Agrandir Bold"/>
                <a:sym typeface="Agrandir Bold"/>
              </a:rPr>
              <a:t>Respuesta:</a:t>
            </a:r>
          </a:p>
          <a:p>
            <a:pPr algn="ctr">
              <a:lnSpc>
                <a:spcPts val="7420"/>
              </a:lnSpc>
              <a:spcBef>
                <a:spcPct val="0"/>
              </a:spcBef>
            </a:pPr>
            <a:r>
              <a:rPr lang="en-US" b="true" sz="5300">
                <a:solidFill>
                  <a:srgbClr val="296D5F"/>
                </a:solidFill>
                <a:latin typeface="Agrandir Bold"/>
                <a:ea typeface="Agrandir Bold"/>
                <a:cs typeface="Agrandir Bold"/>
                <a:sym typeface="Agrandir Bold"/>
              </a:rPr>
              <a:t>¡</a:t>
            </a:r>
            <a:r>
              <a:rPr lang="en-US" b="true" sz="5300">
                <a:solidFill>
                  <a:srgbClr val="296D5F"/>
                </a:solidFill>
                <a:latin typeface="Agrandir Bold"/>
                <a:ea typeface="Agrandir Bold"/>
                <a:cs typeface="Agrandir Bold"/>
                <a:sym typeface="Agrandir Bold"/>
              </a:rPr>
              <a:t>Búscate la vida! 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05551" y="1126984"/>
            <a:ext cx="7738765" cy="1022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3"/>
              </a:lnSpc>
              <a:spcBef>
                <a:spcPct val="0"/>
              </a:spcBef>
            </a:pPr>
            <a:r>
              <a:rPr lang="en-US" b="true" sz="510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Información Estadística: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991972" y="5026430"/>
            <a:ext cx="5965924" cy="1022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3"/>
              </a:lnSpc>
              <a:spcBef>
                <a:spcPct val="0"/>
              </a:spcBef>
            </a:pPr>
            <a:r>
              <a:rPr lang="en-US" b="true" sz="510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Información visual: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46214" y="2622569"/>
            <a:ext cx="17741786" cy="192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3"/>
              </a:lnSpc>
              <a:spcBef>
                <a:spcPct val="0"/>
              </a:spcBef>
            </a:pPr>
            <a:r>
              <a:rPr lang="en-US" sz="510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Media, Desviación estándar, gradiente, Normal L1, Transformada de Fourier...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80790" y="6435801"/>
            <a:ext cx="14926419" cy="1022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3"/>
              </a:lnSpc>
              <a:spcBef>
                <a:spcPct val="0"/>
              </a:spcBef>
            </a:pPr>
            <a:r>
              <a:rPr lang="en-US" sz="510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Padrones de color, contraste, textura, contorno...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5400000">
            <a:off x="4729465" y="-1904331"/>
            <a:ext cx="2385311" cy="4114800"/>
          </a:xfrm>
          <a:custGeom>
            <a:avLst/>
            <a:gdLst/>
            <a:ahLst/>
            <a:cxnLst/>
            <a:rect r="r" b="b" t="t" l="l"/>
            <a:pathLst>
              <a:path h="4114800" w="2385311">
                <a:moveTo>
                  <a:pt x="0" y="0"/>
                </a:moveTo>
                <a:lnTo>
                  <a:pt x="2385311" y="0"/>
                </a:lnTo>
                <a:lnTo>
                  <a:pt x="23853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99578" y="4914958"/>
            <a:ext cx="1558087" cy="457083"/>
          </a:xfrm>
          <a:custGeom>
            <a:avLst/>
            <a:gdLst/>
            <a:ahLst/>
            <a:cxnLst/>
            <a:rect r="r" b="b" t="t" l="l"/>
            <a:pathLst>
              <a:path h="457083" w="1558087">
                <a:moveTo>
                  <a:pt x="0" y="0"/>
                </a:moveTo>
                <a:lnTo>
                  <a:pt x="1558087" y="0"/>
                </a:lnTo>
                <a:lnTo>
                  <a:pt x="1558087" y="457084"/>
                </a:lnTo>
                <a:lnTo>
                  <a:pt x="0" y="4570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774527" y="546735"/>
            <a:ext cx="7484773" cy="482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7"/>
              </a:lnSpc>
            </a:pPr>
            <a:r>
              <a:rPr lang="en-US" sz="2398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2026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46735"/>
            <a:ext cx="7484773" cy="482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57"/>
              </a:lnSpc>
            </a:pPr>
            <a:r>
              <a:rPr lang="en-US" sz="2398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Análisis de Cáncer de Mama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5400000">
            <a:off x="1117409" y="1199697"/>
            <a:ext cx="1055299" cy="1049543"/>
          </a:xfrm>
          <a:custGeom>
            <a:avLst/>
            <a:gdLst/>
            <a:ahLst/>
            <a:cxnLst/>
            <a:rect r="r" b="b" t="t" l="l"/>
            <a:pathLst>
              <a:path h="1049543" w="1055299">
                <a:moveTo>
                  <a:pt x="0" y="0"/>
                </a:moveTo>
                <a:lnTo>
                  <a:pt x="1055299" y="0"/>
                </a:lnTo>
                <a:lnTo>
                  <a:pt x="1055299" y="1049544"/>
                </a:lnTo>
                <a:lnTo>
                  <a:pt x="0" y="1049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3927633" y="4630725"/>
            <a:ext cx="2298231" cy="3964582"/>
          </a:xfrm>
          <a:custGeom>
            <a:avLst/>
            <a:gdLst/>
            <a:ahLst/>
            <a:cxnLst/>
            <a:rect r="r" b="b" t="t" l="l"/>
            <a:pathLst>
              <a:path h="3964582" w="2298231">
                <a:moveTo>
                  <a:pt x="0" y="0"/>
                </a:moveTo>
                <a:lnTo>
                  <a:pt x="2298232" y="0"/>
                </a:lnTo>
                <a:lnTo>
                  <a:pt x="2298232" y="3964583"/>
                </a:lnTo>
                <a:lnTo>
                  <a:pt x="0" y="39645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60049" y="3092607"/>
            <a:ext cx="1633399" cy="479177"/>
          </a:xfrm>
          <a:custGeom>
            <a:avLst/>
            <a:gdLst/>
            <a:ahLst/>
            <a:cxnLst/>
            <a:rect r="r" b="b" t="t" l="l"/>
            <a:pathLst>
              <a:path h="479177" w="1633399">
                <a:moveTo>
                  <a:pt x="0" y="0"/>
                </a:moveTo>
                <a:lnTo>
                  <a:pt x="1633400" y="0"/>
                </a:lnTo>
                <a:lnTo>
                  <a:pt x="1633400" y="479178"/>
                </a:lnTo>
                <a:lnTo>
                  <a:pt x="0" y="4791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076749" y="1657794"/>
            <a:ext cx="12182551" cy="3398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44"/>
              </a:lnSpc>
            </a:pPr>
            <a:r>
              <a:rPr lang="en-US" sz="8396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RESULTADOS </a:t>
            </a:r>
          </a:p>
          <a:p>
            <a:pPr algn="r" marL="0" indent="0" lvl="0">
              <a:lnSpc>
                <a:spcPts val="8144"/>
              </a:lnSpc>
            </a:pPr>
            <a:r>
              <a:rPr lang="en-US" sz="8396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EDA (DATOS ESTADÍSTICOS)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77119" y="-276396"/>
            <a:ext cx="11425293" cy="10563396"/>
          </a:xfrm>
          <a:custGeom>
            <a:avLst/>
            <a:gdLst/>
            <a:ahLst/>
            <a:cxnLst/>
            <a:rect r="r" b="b" t="t" l="l"/>
            <a:pathLst>
              <a:path h="10563396" w="11425293">
                <a:moveTo>
                  <a:pt x="0" y="0"/>
                </a:moveTo>
                <a:lnTo>
                  <a:pt x="11425293" y="0"/>
                </a:lnTo>
                <a:lnTo>
                  <a:pt x="11425293" y="10563396"/>
                </a:lnTo>
                <a:lnTo>
                  <a:pt x="0" y="105633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05" r="0" b="-110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11956" y="369527"/>
            <a:ext cx="2324398" cy="1240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7"/>
              </a:lnSpc>
            </a:pPr>
            <a:r>
              <a:rPr lang="en-US" sz="3298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Mejores </a:t>
            </a:r>
          </a:p>
          <a:p>
            <a:pPr algn="ctr">
              <a:lnSpc>
                <a:spcPts val="4617"/>
              </a:lnSpc>
              <a:spcBef>
                <a:spcPct val="0"/>
              </a:spcBef>
            </a:pPr>
            <a:r>
              <a:rPr lang="en-US" b="true" sz="3298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resultados: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99578" y="4914958"/>
            <a:ext cx="1558087" cy="457083"/>
          </a:xfrm>
          <a:custGeom>
            <a:avLst/>
            <a:gdLst/>
            <a:ahLst/>
            <a:cxnLst/>
            <a:rect r="r" b="b" t="t" l="l"/>
            <a:pathLst>
              <a:path h="457083" w="1558087">
                <a:moveTo>
                  <a:pt x="0" y="0"/>
                </a:moveTo>
                <a:lnTo>
                  <a:pt x="1558087" y="0"/>
                </a:lnTo>
                <a:lnTo>
                  <a:pt x="1558087" y="457084"/>
                </a:lnTo>
                <a:lnTo>
                  <a:pt x="0" y="4570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51978" y="5067358"/>
            <a:ext cx="1558087" cy="457083"/>
          </a:xfrm>
          <a:custGeom>
            <a:avLst/>
            <a:gdLst/>
            <a:ahLst/>
            <a:cxnLst/>
            <a:rect r="r" b="b" t="t" l="l"/>
            <a:pathLst>
              <a:path h="457083" w="1558087">
                <a:moveTo>
                  <a:pt x="0" y="0"/>
                </a:moveTo>
                <a:lnTo>
                  <a:pt x="1558087" y="0"/>
                </a:lnTo>
                <a:lnTo>
                  <a:pt x="1558087" y="457084"/>
                </a:lnTo>
                <a:lnTo>
                  <a:pt x="0" y="4570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77119" y="-276396"/>
            <a:ext cx="11425293" cy="10563396"/>
          </a:xfrm>
          <a:custGeom>
            <a:avLst/>
            <a:gdLst/>
            <a:ahLst/>
            <a:cxnLst/>
            <a:rect r="r" b="b" t="t" l="l"/>
            <a:pathLst>
              <a:path h="10563396" w="11425293">
                <a:moveTo>
                  <a:pt x="0" y="0"/>
                </a:moveTo>
                <a:lnTo>
                  <a:pt x="11425293" y="0"/>
                </a:lnTo>
                <a:lnTo>
                  <a:pt x="11425293" y="10563396"/>
                </a:lnTo>
                <a:lnTo>
                  <a:pt x="0" y="105633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05" r="0" b="-110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9578" y="4914958"/>
            <a:ext cx="1558087" cy="457083"/>
          </a:xfrm>
          <a:custGeom>
            <a:avLst/>
            <a:gdLst/>
            <a:ahLst/>
            <a:cxnLst/>
            <a:rect r="r" b="b" t="t" l="l"/>
            <a:pathLst>
              <a:path h="457083" w="1558087">
                <a:moveTo>
                  <a:pt x="0" y="0"/>
                </a:moveTo>
                <a:lnTo>
                  <a:pt x="1558087" y="0"/>
                </a:lnTo>
                <a:lnTo>
                  <a:pt x="1558087" y="457084"/>
                </a:lnTo>
                <a:lnTo>
                  <a:pt x="0" y="4570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51978" y="5067358"/>
            <a:ext cx="1558087" cy="457083"/>
          </a:xfrm>
          <a:custGeom>
            <a:avLst/>
            <a:gdLst/>
            <a:ahLst/>
            <a:cxnLst/>
            <a:rect r="r" b="b" t="t" l="l"/>
            <a:pathLst>
              <a:path h="457083" w="1558087">
                <a:moveTo>
                  <a:pt x="0" y="0"/>
                </a:moveTo>
                <a:lnTo>
                  <a:pt x="1558087" y="0"/>
                </a:lnTo>
                <a:lnTo>
                  <a:pt x="1558087" y="457084"/>
                </a:lnTo>
                <a:lnTo>
                  <a:pt x="0" y="4570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5" id="5">
            <a:hlinkClick action="ppaction://media"/>
          </p:cNvPr>
          <p:cNvPicPr>
            <a:picLocks noChangeAspect="true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"/>
          <a:srcRect l="0" t="0" r="0" b="0"/>
          <a:stretch>
            <a:fillRect/>
          </a:stretch>
        </p:blipFill>
        <p:spPr>
          <a:xfrm flipH="false" flipV="false" rot="0">
            <a:off x="3384493" y="952558"/>
            <a:ext cx="10972800" cy="82296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711956" y="369527"/>
            <a:ext cx="2324398" cy="1240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7"/>
              </a:lnSpc>
            </a:pPr>
            <a:r>
              <a:rPr lang="en-US" sz="3298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Mejores </a:t>
            </a:r>
          </a:p>
          <a:p>
            <a:pPr algn="ctr">
              <a:lnSpc>
                <a:spcPts val="4617"/>
              </a:lnSpc>
              <a:spcBef>
                <a:spcPct val="0"/>
              </a:spcBef>
            </a:pPr>
            <a:r>
              <a:rPr lang="en-US" b="true" sz="3298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resultados: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117409" y="1199697"/>
            <a:ext cx="1055299" cy="1049543"/>
          </a:xfrm>
          <a:custGeom>
            <a:avLst/>
            <a:gdLst/>
            <a:ahLst/>
            <a:cxnLst/>
            <a:rect r="r" b="b" t="t" l="l"/>
            <a:pathLst>
              <a:path h="1049543" w="1055299">
                <a:moveTo>
                  <a:pt x="0" y="0"/>
                </a:moveTo>
                <a:lnTo>
                  <a:pt x="1055299" y="0"/>
                </a:lnTo>
                <a:lnTo>
                  <a:pt x="1055299" y="1049544"/>
                </a:lnTo>
                <a:lnTo>
                  <a:pt x="0" y="1049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2641968" y="4440093"/>
            <a:ext cx="2298231" cy="3964582"/>
          </a:xfrm>
          <a:custGeom>
            <a:avLst/>
            <a:gdLst/>
            <a:ahLst/>
            <a:cxnLst/>
            <a:rect r="r" b="b" t="t" l="l"/>
            <a:pathLst>
              <a:path h="3964582" w="2298231">
                <a:moveTo>
                  <a:pt x="0" y="0"/>
                </a:moveTo>
                <a:lnTo>
                  <a:pt x="2298231" y="0"/>
                </a:lnTo>
                <a:lnTo>
                  <a:pt x="2298231" y="3964582"/>
                </a:lnTo>
                <a:lnTo>
                  <a:pt x="0" y="39645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640311" y="946932"/>
            <a:ext cx="11186666" cy="751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7"/>
              </a:lnSpc>
              <a:spcBef>
                <a:spcPct val="0"/>
              </a:spcBef>
            </a:pPr>
            <a:r>
              <a:rPr lang="en-US" b="true" sz="3798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No hay cómo huir de modelos de deep learning :(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117409" y="1199697"/>
            <a:ext cx="1055299" cy="1049543"/>
          </a:xfrm>
          <a:custGeom>
            <a:avLst/>
            <a:gdLst/>
            <a:ahLst/>
            <a:cxnLst/>
            <a:rect r="r" b="b" t="t" l="l"/>
            <a:pathLst>
              <a:path h="1049543" w="1055299">
                <a:moveTo>
                  <a:pt x="0" y="0"/>
                </a:moveTo>
                <a:lnTo>
                  <a:pt x="1055299" y="0"/>
                </a:lnTo>
                <a:lnTo>
                  <a:pt x="1055299" y="1049544"/>
                </a:lnTo>
                <a:lnTo>
                  <a:pt x="0" y="1049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2733004" y="4440093"/>
            <a:ext cx="2298231" cy="3964582"/>
          </a:xfrm>
          <a:custGeom>
            <a:avLst/>
            <a:gdLst/>
            <a:ahLst/>
            <a:cxnLst/>
            <a:rect r="r" b="b" t="t" l="l"/>
            <a:pathLst>
              <a:path h="3964582" w="2298231">
                <a:moveTo>
                  <a:pt x="0" y="0"/>
                </a:moveTo>
                <a:lnTo>
                  <a:pt x="2298231" y="0"/>
                </a:lnTo>
                <a:lnTo>
                  <a:pt x="2298231" y="3964582"/>
                </a:lnTo>
                <a:lnTo>
                  <a:pt x="0" y="39645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4" id="4">
            <a:hlinkClick action="ppaction://media"/>
          </p:cNvPr>
          <p:cNvPicPr>
            <a:picLocks noChangeAspect="true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6"/>
          <a:srcRect l="0" t="0" r="0" b="0"/>
          <a:stretch>
            <a:fillRect/>
          </a:stretch>
        </p:blipFill>
        <p:spPr>
          <a:xfrm flipH="false" flipV="false" rot="0">
            <a:off x="5424434" y="2315712"/>
            <a:ext cx="7439132" cy="4463479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640311" y="946932"/>
            <a:ext cx="11186666" cy="751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7"/>
              </a:lnSpc>
              <a:spcBef>
                <a:spcPct val="0"/>
              </a:spcBef>
            </a:pPr>
            <a:r>
              <a:rPr lang="en-US" b="true" sz="3798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No hay cómo huir de modelos de deep learning :(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195076" y="7777932"/>
            <a:ext cx="18288000" cy="1088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7"/>
              </a:lnSpc>
              <a:spcBef>
                <a:spcPct val="0"/>
              </a:spcBef>
            </a:pPr>
            <a:r>
              <a:rPr lang="en-US" b="true" sz="2898" i="true">
                <a:solidFill>
                  <a:srgbClr val="000000"/>
                </a:solidFill>
                <a:latin typeface="Agrandir Bold Italics"/>
                <a:ea typeface="Agrandir Bold Italics"/>
                <a:cs typeface="Agrandir Bold Italics"/>
                <a:sym typeface="Agrandir Bold Italics"/>
              </a:rPr>
              <a:t>Promt:</a:t>
            </a:r>
            <a:r>
              <a:rPr lang="en-US" sz="2898" i="true">
                <a:solidFill>
                  <a:srgbClr val="000000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 “¿Qué modelos preentrenados de deep learning puedo utilizar como base para crear mi modelo de clasificación de histopatología?”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117409" y="1199697"/>
            <a:ext cx="1055299" cy="1049543"/>
          </a:xfrm>
          <a:custGeom>
            <a:avLst/>
            <a:gdLst/>
            <a:ahLst/>
            <a:cxnLst/>
            <a:rect r="r" b="b" t="t" l="l"/>
            <a:pathLst>
              <a:path h="1049543" w="1055299">
                <a:moveTo>
                  <a:pt x="0" y="0"/>
                </a:moveTo>
                <a:lnTo>
                  <a:pt x="1055299" y="0"/>
                </a:lnTo>
                <a:lnTo>
                  <a:pt x="1055299" y="1049544"/>
                </a:lnTo>
                <a:lnTo>
                  <a:pt x="0" y="1049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2733004" y="4440093"/>
            <a:ext cx="2298231" cy="3964582"/>
          </a:xfrm>
          <a:custGeom>
            <a:avLst/>
            <a:gdLst/>
            <a:ahLst/>
            <a:cxnLst/>
            <a:rect r="r" b="b" t="t" l="l"/>
            <a:pathLst>
              <a:path h="3964582" w="2298231">
                <a:moveTo>
                  <a:pt x="0" y="0"/>
                </a:moveTo>
                <a:lnTo>
                  <a:pt x="2298231" y="0"/>
                </a:lnTo>
                <a:lnTo>
                  <a:pt x="2298231" y="3964582"/>
                </a:lnTo>
                <a:lnTo>
                  <a:pt x="0" y="39645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156469" y="5143500"/>
            <a:ext cx="12339205" cy="3296459"/>
          </a:xfrm>
          <a:custGeom>
            <a:avLst/>
            <a:gdLst/>
            <a:ahLst/>
            <a:cxnLst/>
            <a:rect r="r" b="b" t="t" l="l"/>
            <a:pathLst>
              <a:path h="3296459" w="12339205">
                <a:moveTo>
                  <a:pt x="0" y="0"/>
                </a:moveTo>
                <a:lnTo>
                  <a:pt x="12339205" y="0"/>
                </a:lnTo>
                <a:lnTo>
                  <a:pt x="12339205" y="3296459"/>
                </a:lnTo>
                <a:lnTo>
                  <a:pt x="0" y="32964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69830" y="2212712"/>
            <a:ext cx="13450107" cy="1088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7"/>
              </a:lnSpc>
              <a:spcBef>
                <a:spcPct val="0"/>
              </a:spcBef>
            </a:pPr>
            <a:r>
              <a:rPr lang="en-US" b="true" sz="2898" i="true">
                <a:solidFill>
                  <a:srgbClr val="000000"/>
                </a:solidFill>
                <a:latin typeface="Agrandir Bold Italics"/>
                <a:ea typeface="Agrandir Bold Italics"/>
                <a:cs typeface="Agrandir Bold Italics"/>
                <a:sym typeface="Agrandir Bold Italics"/>
              </a:rPr>
              <a:t>Promt:</a:t>
            </a:r>
            <a:r>
              <a:rPr lang="en-US" sz="2898" i="true">
                <a:solidFill>
                  <a:srgbClr val="000000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 “¿Qué modelos preentrenados de deep learning puedo utilizar como base para crear mi modelo de clasificación de histopatología?”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031892" y="3805970"/>
            <a:ext cx="7313861" cy="581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7"/>
              </a:lnSpc>
              <a:spcBef>
                <a:spcPct val="0"/>
              </a:spcBef>
            </a:pPr>
            <a:r>
              <a:rPr lang="en-US" b="true" sz="2998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Answer: </a:t>
            </a:r>
            <a:r>
              <a:rPr lang="en-US" sz="2998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DenseNet121 (transfer learning)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4709053" y="2343154"/>
          <a:ext cx="7543800" cy="4400550"/>
        </p:xfrm>
        <a:graphic>
          <a:graphicData uri="http://schemas.openxmlformats.org/presentationml/2006/ole">
            <p:oleObj imgW="9042400" imgH="59055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5400000">
            <a:off x="1117409" y="1199697"/>
            <a:ext cx="1055299" cy="1049543"/>
          </a:xfrm>
          <a:custGeom>
            <a:avLst/>
            <a:gdLst/>
            <a:ahLst/>
            <a:cxnLst/>
            <a:rect r="r" b="b" t="t" l="l"/>
            <a:pathLst>
              <a:path h="1049543" w="1055299">
                <a:moveTo>
                  <a:pt x="0" y="0"/>
                </a:moveTo>
                <a:lnTo>
                  <a:pt x="1055299" y="0"/>
                </a:lnTo>
                <a:lnTo>
                  <a:pt x="1055299" y="1049544"/>
                </a:lnTo>
                <a:lnTo>
                  <a:pt x="0" y="10495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4723696" y="5350574"/>
            <a:ext cx="2298231" cy="3964582"/>
          </a:xfrm>
          <a:custGeom>
            <a:avLst/>
            <a:gdLst/>
            <a:ahLst/>
            <a:cxnLst/>
            <a:rect r="r" b="b" t="t" l="l"/>
            <a:pathLst>
              <a:path h="3964582" w="2298231">
                <a:moveTo>
                  <a:pt x="0" y="0"/>
                </a:moveTo>
                <a:lnTo>
                  <a:pt x="2298231" y="0"/>
                </a:lnTo>
                <a:lnTo>
                  <a:pt x="2298231" y="3964582"/>
                </a:lnTo>
                <a:lnTo>
                  <a:pt x="0" y="39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531115" y="1367260"/>
            <a:ext cx="2497485" cy="581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7"/>
              </a:lnSpc>
              <a:spcBef>
                <a:spcPct val="0"/>
              </a:spcBef>
            </a:pPr>
            <a:r>
              <a:rPr lang="en-US" b="true" sz="2998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Modelo Base: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10770" y="9134475"/>
            <a:ext cx="3754338" cy="482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Parámetros ~ 7.000.000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4223810" y="1752306"/>
          <a:ext cx="3771900" cy="6286500"/>
        </p:xfrm>
        <a:graphic>
          <a:graphicData uri="http://schemas.openxmlformats.org/presentationml/2006/ole">
            <p:oleObj imgW="5029200" imgH="75438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7528071" y="857250"/>
            <a:ext cx="2080920" cy="703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6"/>
              </a:lnSpc>
              <a:spcBef>
                <a:spcPct val="0"/>
              </a:spcBef>
            </a:pPr>
            <a:r>
              <a:rPr lang="en-US" b="true" sz="3562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Modelo 0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2312061" y="772580"/>
          <a:ext cx="3771900" cy="6286500"/>
        </p:xfrm>
        <a:graphic>
          <a:graphicData uri="http://schemas.openxmlformats.org/presentationml/2006/ole">
            <p:oleObj imgW="5029200" imgH="75438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3" id="3"/>
          <p:cNvGraphicFramePr/>
          <p:nvPr/>
        </p:nvGraphicFramePr>
        <p:xfrm>
          <a:off x="8967323" y="643564"/>
          <a:ext cx="6548242" cy="8229600"/>
        </p:xfrm>
        <a:graphic>
          <a:graphicData uri="http://schemas.openxmlformats.org/presentationml/2006/ole">
            <p:oleObj imgW="8191500" imgH="98679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4006901" y="161556"/>
            <a:ext cx="1401068" cy="482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Modelo 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77194" y="-17535"/>
            <a:ext cx="1341090" cy="482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Modelo 1</a:t>
            </a:r>
          </a:p>
        </p:txBody>
      </p:sp>
      <p:graphicFrame>
        <p:nvGraphicFramePr>
          <p:cNvPr name="Object 6" id="6"/>
          <p:cNvGraphicFramePr/>
          <p:nvPr/>
        </p:nvGraphicFramePr>
        <p:xfrm>
          <a:off x="2312061" y="5786029"/>
          <a:ext cx="3771900" cy="6286500"/>
        </p:xfrm>
        <a:graphic>
          <a:graphicData uri="http://schemas.openxmlformats.org/presentationml/2006/ole">
            <p:oleObj imgW="5029200" imgH="75438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7" id="7"/>
          <p:cNvGraphicFramePr/>
          <p:nvPr/>
        </p:nvGraphicFramePr>
        <p:xfrm>
          <a:off x="8967323" y="5761871"/>
          <a:ext cx="6548242" cy="8229600"/>
        </p:xfrm>
        <a:graphic>
          <a:graphicData uri="http://schemas.openxmlformats.org/presentationml/2006/ole">
            <p:oleObj imgW="8191500" imgH="9867900" r:id="rId9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4006901" y="5191659"/>
            <a:ext cx="1367582" cy="482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Modelo 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387945" y="5279864"/>
            <a:ext cx="1371005" cy="482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Modelo 3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1327517" y="1028700"/>
          <a:ext cx="7543800" cy="3143250"/>
        </p:xfrm>
        <a:graphic>
          <a:graphicData uri="http://schemas.openxmlformats.org/presentationml/2006/ole">
            <p:oleObj imgW="9042400" imgH="4648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3" id="3"/>
          <p:cNvGraphicFramePr/>
          <p:nvPr/>
        </p:nvGraphicFramePr>
        <p:xfrm>
          <a:off x="9313066" y="1605904"/>
          <a:ext cx="3771900" cy="3771900"/>
        </p:xfrm>
        <a:graphic>
          <a:graphicData uri="http://schemas.openxmlformats.org/presentationml/2006/ole">
            <p:oleObj imgW="4521200" imgH="45212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4" id="4"/>
          <p:cNvGraphicFramePr/>
          <p:nvPr/>
        </p:nvGraphicFramePr>
        <p:xfrm>
          <a:off x="7427116" y="7269726"/>
          <a:ext cx="3771900" cy="1885950"/>
        </p:xfrm>
        <a:graphic>
          <a:graphicData uri="http://schemas.openxmlformats.org/presentationml/2006/ole">
            <p:oleObj imgW="4521200" imgH="26289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3867106" y="460849"/>
            <a:ext cx="1372195" cy="482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Resumen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479033" y="819031"/>
            <a:ext cx="4605933" cy="482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Parámetros de entrenamiento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26618" y="6557255"/>
            <a:ext cx="3789908" cy="482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Métricas de optimización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5400000">
            <a:off x="1520567" y="7272604"/>
            <a:ext cx="1055299" cy="1049543"/>
          </a:xfrm>
          <a:custGeom>
            <a:avLst/>
            <a:gdLst/>
            <a:ahLst/>
            <a:cxnLst/>
            <a:rect r="r" b="b" t="t" l="l"/>
            <a:pathLst>
              <a:path h="1049543" w="1055299">
                <a:moveTo>
                  <a:pt x="0" y="0"/>
                </a:moveTo>
                <a:lnTo>
                  <a:pt x="1055299" y="0"/>
                </a:lnTo>
                <a:lnTo>
                  <a:pt x="1055299" y="1049543"/>
                </a:lnTo>
                <a:lnTo>
                  <a:pt x="0" y="10495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14723696" y="5350574"/>
            <a:ext cx="2298231" cy="3964582"/>
          </a:xfrm>
          <a:custGeom>
            <a:avLst/>
            <a:gdLst/>
            <a:ahLst/>
            <a:cxnLst/>
            <a:rect r="r" b="b" t="t" l="l"/>
            <a:pathLst>
              <a:path h="3964582" w="2298231">
                <a:moveTo>
                  <a:pt x="0" y="0"/>
                </a:moveTo>
                <a:lnTo>
                  <a:pt x="2298231" y="0"/>
                </a:lnTo>
                <a:lnTo>
                  <a:pt x="2298231" y="3964582"/>
                </a:lnTo>
                <a:lnTo>
                  <a:pt x="0" y="39645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5156088" y="1028700"/>
            <a:ext cx="7975824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34211" y="4764384"/>
            <a:ext cx="7819579" cy="836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7"/>
              </a:lnSpc>
              <a:spcBef>
                <a:spcPct val="0"/>
              </a:spcBef>
            </a:pPr>
            <a:r>
              <a:rPr lang="en-US" b="true" sz="4198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Inputs: Contorno de imágenes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5400000">
            <a:off x="1117409" y="1199697"/>
            <a:ext cx="1055299" cy="1049543"/>
          </a:xfrm>
          <a:custGeom>
            <a:avLst/>
            <a:gdLst/>
            <a:ahLst/>
            <a:cxnLst/>
            <a:rect r="r" b="b" t="t" l="l"/>
            <a:pathLst>
              <a:path h="1049543" w="1055299">
                <a:moveTo>
                  <a:pt x="0" y="0"/>
                </a:moveTo>
                <a:lnTo>
                  <a:pt x="1055299" y="0"/>
                </a:lnTo>
                <a:lnTo>
                  <a:pt x="1055299" y="1049544"/>
                </a:lnTo>
                <a:lnTo>
                  <a:pt x="0" y="1049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4723696" y="5350574"/>
            <a:ext cx="2298231" cy="3964582"/>
          </a:xfrm>
          <a:custGeom>
            <a:avLst/>
            <a:gdLst/>
            <a:ahLst/>
            <a:cxnLst/>
            <a:rect r="r" b="b" t="t" l="l"/>
            <a:pathLst>
              <a:path h="3964582" w="2298231">
                <a:moveTo>
                  <a:pt x="0" y="0"/>
                </a:moveTo>
                <a:lnTo>
                  <a:pt x="2298231" y="0"/>
                </a:lnTo>
                <a:lnTo>
                  <a:pt x="2298231" y="3964582"/>
                </a:lnTo>
                <a:lnTo>
                  <a:pt x="0" y="39645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52606" y="95833"/>
            <a:ext cx="14194487" cy="10191167"/>
          </a:xfrm>
          <a:custGeom>
            <a:avLst/>
            <a:gdLst/>
            <a:ahLst/>
            <a:cxnLst/>
            <a:rect r="r" b="b" t="t" l="l"/>
            <a:pathLst>
              <a:path h="10191167" w="14194487">
                <a:moveTo>
                  <a:pt x="0" y="0"/>
                </a:moveTo>
                <a:lnTo>
                  <a:pt x="14194487" y="0"/>
                </a:lnTo>
                <a:lnTo>
                  <a:pt x="14194487" y="10191167"/>
                </a:lnTo>
                <a:lnTo>
                  <a:pt x="0" y="101911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43" t="-1773" r="-74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870313" y="1134672"/>
            <a:ext cx="1055299" cy="1049543"/>
          </a:xfrm>
          <a:custGeom>
            <a:avLst/>
            <a:gdLst/>
            <a:ahLst/>
            <a:cxnLst/>
            <a:rect r="r" b="b" t="t" l="l"/>
            <a:pathLst>
              <a:path h="1049543" w="1055299">
                <a:moveTo>
                  <a:pt x="0" y="0"/>
                </a:moveTo>
                <a:lnTo>
                  <a:pt x="1055299" y="0"/>
                </a:lnTo>
                <a:lnTo>
                  <a:pt x="1055299" y="1049543"/>
                </a:lnTo>
                <a:lnTo>
                  <a:pt x="0" y="10495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6934561" y="6963080"/>
            <a:ext cx="2298231" cy="3964582"/>
          </a:xfrm>
          <a:custGeom>
            <a:avLst/>
            <a:gdLst/>
            <a:ahLst/>
            <a:cxnLst/>
            <a:rect r="r" b="b" t="t" l="l"/>
            <a:pathLst>
              <a:path h="3964582" w="2298231">
                <a:moveTo>
                  <a:pt x="0" y="0"/>
                </a:moveTo>
                <a:lnTo>
                  <a:pt x="2298231" y="0"/>
                </a:lnTo>
                <a:lnTo>
                  <a:pt x="2298231" y="3964582"/>
                </a:lnTo>
                <a:lnTo>
                  <a:pt x="0" y="39645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52606" y="95833"/>
            <a:ext cx="14194487" cy="10191167"/>
          </a:xfrm>
          <a:custGeom>
            <a:avLst/>
            <a:gdLst/>
            <a:ahLst/>
            <a:cxnLst/>
            <a:rect r="r" b="b" t="t" l="l"/>
            <a:pathLst>
              <a:path h="10191167" w="14194487">
                <a:moveTo>
                  <a:pt x="0" y="0"/>
                </a:moveTo>
                <a:lnTo>
                  <a:pt x="14194487" y="0"/>
                </a:lnTo>
                <a:lnTo>
                  <a:pt x="14194487" y="10191167"/>
                </a:lnTo>
                <a:lnTo>
                  <a:pt x="0" y="101911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43" t="-1773" r="-74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870313" y="1134672"/>
            <a:ext cx="1055299" cy="1049543"/>
          </a:xfrm>
          <a:custGeom>
            <a:avLst/>
            <a:gdLst/>
            <a:ahLst/>
            <a:cxnLst/>
            <a:rect r="r" b="b" t="t" l="l"/>
            <a:pathLst>
              <a:path h="1049543" w="1055299">
                <a:moveTo>
                  <a:pt x="0" y="0"/>
                </a:moveTo>
                <a:lnTo>
                  <a:pt x="1055299" y="0"/>
                </a:lnTo>
                <a:lnTo>
                  <a:pt x="1055299" y="1049543"/>
                </a:lnTo>
                <a:lnTo>
                  <a:pt x="0" y="10495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6934561" y="6963080"/>
            <a:ext cx="2298231" cy="3964582"/>
          </a:xfrm>
          <a:custGeom>
            <a:avLst/>
            <a:gdLst/>
            <a:ahLst/>
            <a:cxnLst/>
            <a:rect r="r" b="b" t="t" l="l"/>
            <a:pathLst>
              <a:path h="3964582" w="2298231">
                <a:moveTo>
                  <a:pt x="0" y="0"/>
                </a:moveTo>
                <a:lnTo>
                  <a:pt x="2298231" y="0"/>
                </a:lnTo>
                <a:lnTo>
                  <a:pt x="2298231" y="3964582"/>
                </a:lnTo>
                <a:lnTo>
                  <a:pt x="0" y="39645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5" id="5">
            <a:hlinkClick action="ppaction://media"/>
          </p:cNvPr>
          <p:cNvPicPr>
            <a:picLocks noChangeAspect="true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7"/>
          <a:srcRect l="0" t="0" r="0" b="0"/>
          <a:stretch>
            <a:fillRect/>
          </a:stretch>
        </p:blipFill>
        <p:spPr>
          <a:xfrm flipH="false" flipV="false" rot="0">
            <a:off x="4537861" y="2187093"/>
            <a:ext cx="8623978" cy="63111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870313" y="1134672"/>
            <a:ext cx="1055299" cy="1049543"/>
          </a:xfrm>
          <a:custGeom>
            <a:avLst/>
            <a:gdLst/>
            <a:ahLst/>
            <a:cxnLst/>
            <a:rect r="r" b="b" t="t" l="l"/>
            <a:pathLst>
              <a:path h="1049543" w="1055299">
                <a:moveTo>
                  <a:pt x="0" y="0"/>
                </a:moveTo>
                <a:lnTo>
                  <a:pt x="1055299" y="0"/>
                </a:lnTo>
                <a:lnTo>
                  <a:pt x="1055299" y="1049543"/>
                </a:lnTo>
                <a:lnTo>
                  <a:pt x="0" y="1049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6934561" y="6963080"/>
            <a:ext cx="2298231" cy="3964582"/>
          </a:xfrm>
          <a:custGeom>
            <a:avLst/>
            <a:gdLst/>
            <a:ahLst/>
            <a:cxnLst/>
            <a:rect r="r" b="b" t="t" l="l"/>
            <a:pathLst>
              <a:path h="3964582" w="2298231">
                <a:moveTo>
                  <a:pt x="0" y="0"/>
                </a:moveTo>
                <a:lnTo>
                  <a:pt x="2298231" y="0"/>
                </a:lnTo>
                <a:lnTo>
                  <a:pt x="2298231" y="3964582"/>
                </a:lnTo>
                <a:lnTo>
                  <a:pt x="0" y="39645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733810" y="1519091"/>
            <a:ext cx="9121024" cy="8402469"/>
          </a:xfrm>
          <a:custGeom>
            <a:avLst/>
            <a:gdLst/>
            <a:ahLst/>
            <a:cxnLst/>
            <a:rect r="r" b="b" t="t" l="l"/>
            <a:pathLst>
              <a:path h="8402469" w="9121024">
                <a:moveTo>
                  <a:pt x="0" y="0"/>
                </a:moveTo>
                <a:lnTo>
                  <a:pt x="9121024" y="0"/>
                </a:lnTo>
                <a:lnTo>
                  <a:pt x="9121024" y="8402469"/>
                </a:lnTo>
                <a:lnTo>
                  <a:pt x="0" y="8402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957941" y="564696"/>
            <a:ext cx="2473375" cy="567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7"/>
              </a:lnSpc>
              <a:spcBef>
                <a:spcPct val="0"/>
              </a:spcBef>
            </a:pPr>
            <a:r>
              <a:rPr lang="en-US" b="true" sz="2798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Mejor modelo: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870313" y="1134672"/>
            <a:ext cx="1055299" cy="1049543"/>
          </a:xfrm>
          <a:custGeom>
            <a:avLst/>
            <a:gdLst/>
            <a:ahLst/>
            <a:cxnLst/>
            <a:rect r="r" b="b" t="t" l="l"/>
            <a:pathLst>
              <a:path h="1049543" w="1055299">
                <a:moveTo>
                  <a:pt x="0" y="0"/>
                </a:moveTo>
                <a:lnTo>
                  <a:pt x="1055299" y="0"/>
                </a:lnTo>
                <a:lnTo>
                  <a:pt x="1055299" y="1049543"/>
                </a:lnTo>
                <a:lnTo>
                  <a:pt x="0" y="1049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6934561" y="6963080"/>
            <a:ext cx="2298231" cy="3964582"/>
          </a:xfrm>
          <a:custGeom>
            <a:avLst/>
            <a:gdLst/>
            <a:ahLst/>
            <a:cxnLst/>
            <a:rect r="r" b="b" t="t" l="l"/>
            <a:pathLst>
              <a:path h="3964582" w="2298231">
                <a:moveTo>
                  <a:pt x="0" y="0"/>
                </a:moveTo>
                <a:lnTo>
                  <a:pt x="2298231" y="0"/>
                </a:lnTo>
                <a:lnTo>
                  <a:pt x="2298231" y="3964582"/>
                </a:lnTo>
                <a:lnTo>
                  <a:pt x="0" y="39645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733810" y="1519091"/>
            <a:ext cx="9121024" cy="8402469"/>
          </a:xfrm>
          <a:custGeom>
            <a:avLst/>
            <a:gdLst/>
            <a:ahLst/>
            <a:cxnLst/>
            <a:rect r="r" b="b" t="t" l="l"/>
            <a:pathLst>
              <a:path h="8402469" w="9121024">
                <a:moveTo>
                  <a:pt x="0" y="0"/>
                </a:moveTo>
                <a:lnTo>
                  <a:pt x="9121024" y="0"/>
                </a:lnTo>
                <a:lnTo>
                  <a:pt x="9121024" y="8402469"/>
                </a:lnTo>
                <a:lnTo>
                  <a:pt x="0" y="8402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pic>
        <p:nvPicPr>
          <p:cNvPr name="Picture 5" id="5">
            <a:hlinkClick action="ppaction://media"/>
          </p:cNvPr>
          <p:cNvPicPr>
            <a:picLocks noChangeAspect="true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7"/>
          <a:srcRect l="0" t="0" r="0" b="0"/>
          <a:stretch>
            <a:fillRect/>
          </a:stretch>
        </p:blipFill>
        <p:spPr>
          <a:xfrm flipH="false" flipV="false" rot="0">
            <a:off x="3993394" y="1519091"/>
            <a:ext cx="8402469" cy="8402469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6957941" y="564696"/>
            <a:ext cx="2473375" cy="567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7"/>
              </a:lnSpc>
              <a:spcBef>
                <a:spcPct val="0"/>
              </a:spcBef>
            </a:pPr>
            <a:r>
              <a:rPr lang="en-US" b="true" sz="2798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Mejor modelo: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870313" y="1134672"/>
            <a:ext cx="1055299" cy="1049543"/>
          </a:xfrm>
          <a:custGeom>
            <a:avLst/>
            <a:gdLst/>
            <a:ahLst/>
            <a:cxnLst/>
            <a:rect r="r" b="b" t="t" l="l"/>
            <a:pathLst>
              <a:path h="1049543" w="1055299">
                <a:moveTo>
                  <a:pt x="0" y="0"/>
                </a:moveTo>
                <a:lnTo>
                  <a:pt x="1055299" y="0"/>
                </a:lnTo>
                <a:lnTo>
                  <a:pt x="1055299" y="1049543"/>
                </a:lnTo>
                <a:lnTo>
                  <a:pt x="0" y="1049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6934561" y="6963080"/>
            <a:ext cx="2298231" cy="3964582"/>
          </a:xfrm>
          <a:custGeom>
            <a:avLst/>
            <a:gdLst/>
            <a:ahLst/>
            <a:cxnLst/>
            <a:rect r="r" b="b" t="t" l="l"/>
            <a:pathLst>
              <a:path h="3964582" w="2298231">
                <a:moveTo>
                  <a:pt x="0" y="0"/>
                </a:moveTo>
                <a:lnTo>
                  <a:pt x="2298231" y="0"/>
                </a:lnTo>
                <a:lnTo>
                  <a:pt x="2298231" y="3964582"/>
                </a:lnTo>
                <a:lnTo>
                  <a:pt x="0" y="39645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765995" y="3933929"/>
            <a:ext cx="7533531" cy="767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7"/>
              </a:lnSpc>
              <a:spcBef>
                <a:spcPct val="0"/>
              </a:spcBef>
            </a:pPr>
            <a:r>
              <a:rPr lang="en-US" b="true" sz="3898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Inputs: Imagenes en escala gris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870313" y="1134672"/>
            <a:ext cx="1055299" cy="1049543"/>
          </a:xfrm>
          <a:custGeom>
            <a:avLst/>
            <a:gdLst/>
            <a:ahLst/>
            <a:cxnLst/>
            <a:rect r="r" b="b" t="t" l="l"/>
            <a:pathLst>
              <a:path h="1049543" w="1055299">
                <a:moveTo>
                  <a:pt x="0" y="0"/>
                </a:moveTo>
                <a:lnTo>
                  <a:pt x="1055299" y="0"/>
                </a:lnTo>
                <a:lnTo>
                  <a:pt x="1055299" y="1049543"/>
                </a:lnTo>
                <a:lnTo>
                  <a:pt x="0" y="1049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6934561" y="6963080"/>
            <a:ext cx="2298231" cy="3964582"/>
          </a:xfrm>
          <a:custGeom>
            <a:avLst/>
            <a:gdLst/>
            <a:ahLst/>
            <a:cxnLst/>
            <a:rect r="r" b="b" t="t" l="l"/>
            <a:pathLst>
              <a:path h="3964582" w="2298231">
                <a:moveTo>
                  <a:pt x="0" y="0"/>
                </a:moveTo>
                <a:lnTo>
                  <a:pt x="2298231" y="0"/>
                </a:lnTo>
                <a:lnTo>
                  <a:pt x="2298231" y="3964582"/>
                </a:lnTo>
                <a:lnTo>
                  <a:pt x="0" y="39645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960402" y="277075"/>
            <a:ext cx="6818109" cy="4866425"/>
          </a:xfrm>
          <a:custGeom>
            <a:avLst/>
            <a:gdLst/>
            <a:ahLst/>
            <a:cxnLst/>
            <a:rect r="r" b="b" t="t" l="l"/>
            <a:pathLst>
              <a:path h="4866425" w="6818109">
                <a:moveTo>
                  <a:pt x="0" y="0"/>
                </a:moveTo>
                <a:lnTo>
                  <a:pt x="6818109" y="0"/>
                </a:lnTo>
                <a:lnTo>
                  <a:pt x="6818109" y="4866425"/>
                </a:lnTo>
                <a:lnTo>
                  <a:pt x="0" y="48664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260708" y="260967"/>
            <a:ext cx="6625306" cy="4882533"/>
          </a:xfrm>
          <a:custGeom>
            <a:avLst/>
            <a:gdLst/>
            <a:ahLst/>
            <a:cxnLst/>
            <a:rect r="r" b="b" t="t" l="l"/>
            <a:pathLst>
              <a:path h="4882533" w="6625306">
                <a:moveTo>
                  <a:pt x="0" y="0"/>
                </a:moveTo>
                <a:lnTo>
                  <a:pt x="6625306" y="0"/>
                </a:lnTo>
                <a:lnTo>
                  <a:pt x="6625306" y="4882533"/>
                </a:lnTo>
                <a:lnTo>
                  <a:pt x="0" y="48825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325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036069" y="5257075"/>
            <a:ext cx="6742772" cy="4829473"/>
          </a:xfrm>
          <a:custGeom>
            <a:avLst/>
            <a:gdLst/>
            <a:ahLst/>
            <a:cxnLst/>
            <a:rect r="r" b="b" t="t" l="l"/>
            <a:pathLst>
              <a:path h="4829473" w="6742772">
                <a:moveTo>
                  <a:pt x="0" y="0"/>
                </a:moveTo>
                <a:lnTo>
                  <a:pt x="6742771" y="0"/>
                </a:lnTo>
                <a:lnTo>
                  <a:pt x="6742771" y="4829472"/>
                </a:lnTo>
                <a:lnTo>
                  <a:pt x="0" y="48294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74" t="0" r="-174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283665" y="5257075"/>
            <a:ext cx="6602349" cy="4829473"/>
          </a:xfrm>
          <a:custGeom>
            <a:avLst/>
            <a:gdLst/>
            <a:ahLst/>
            <a:cxnLst/>
            <a:rect r="r" b="b" t="t" l="l"/>
            <a:pathLst>
              <a:path h="4829473" w="6602349">
                <a:moveTo>
                  <a:pt x="0" y="0"/>
                </a:moveTo>
                <a:lnTo>
                  <a:pt x="6602349" y="0"/>
                </a:lnTo>
                <a:lnTo>
                  <a:pt x="6602349" y="4829472"/>
                </a:lnTo>
                <a:lnTo>
                  <a:pt x="0" y="48294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241" t="0" r="-1241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40606" y="2567412"/>
            <a:ext cx="1634579" cy="567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7"/>
              </a:lnSpc>
              <a:spcBef>
                <a:spcPct val="0"/>
              </a:spcBef>
            </a:pPr>
            <a:r>
              <a:rPr lang="en-US" b="true" sz="2798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Modelo 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0606" y="6956702"/>
            <a:ext cx="1595438" cy="567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7"/>
              </a:lnSpc>
              <a:spcBef>
                <a:spcPct val="0"/>
              </a:spcBef>
            </a:pPr>
            <a:r>
              <a:rPr lang="en-US" b="true" sz="2798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Modelo 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101385" y="2508593"/>
            <a:ext cx="1564630" cy="567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7"/>
              </a:lnSpc>
              <a:spcBef>
                <a:spcPct val="0"/>
              </a:spcBef>
            </a:pPr>
            <a:r>
              <a:rPr lang="en-US" b="true" sz="2798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Modelo 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083973" y="7168814"/>
            <a:ext cx="1599456" cy="567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7"/>
              </a:lnSpc>
              <a:spcBef>
                <a:spcPct val="0"/>
              </a:spcBef>
            </a:pPr>
            <a:r>
              <a:rPr lang="en-US" b="true" sz="2798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Modelo 3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870313" y="1134672"/>
            <a:ext cx="1055299" cy="1049543"/>
          </a:xfrm>
          <a:custGeom>
            <a:avLst/>
            <a:gdLst/>
            <a:ahLst/>
            <a:cxnLst/>
            <a:rect r="r" b="b" t="t" l="l"/>
            <a:pathLst>
              <a:path h="1049543" w="1055299">
                <a:moveTo>
                  <a:pt x="0" y="0"/>
                </a:moveTo>
                <a:lnTo>
                  <a:pt x="1055299" y="0"/>
                </a:lnTo>
                <a:lnTo>
                  <a:pt x="1055299" y="1049543"/>
                </a:lnTo>
                <a:lnTo>
                  <a:pt x="0" y="1049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6934561" y="6963080"/>
            <a:ext cx="2298231" cy="3964582"/>
          </a:xfrm>
          <a:custGeom>
            <a:avLst/>
            <a:gdLst/>
            <a:ahLst/>
            <a:cxnLst/>
            <a:rect r="r" b="b" t="t" l="l"/>
            <a:pathLst>
              <a:path h="3964582" w="2298231">
                <a:moveTo>
                  <a:pt x="0" y="0"/>
                </a:moveTo>
                <a:lnTo>
                  <a:pt x="2298231" y="0"/>
                </a:lnTo>
                <a:lnTo>
                  <a:pt x="2298231" y="3964582"/>
                </a:lnTo>
                <a:lnTo>
                  <a:pt x="0" y="39645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370074" y="191310"/>
            <a:ext cx="6037198" cy="4920317"/>
          </a:xfrm>
          <a:custGeom>
            <a:avLst/>
            <a:gdLst/>
            <a:ahLst/>
            <a:cxnLst/>
            <a:rect r="r" b="b" t="t" l="l"/>
            <a:pathLst>
              <a:path h="4920317" w="6037198">
                <a:moveTo>
                  <a:pt x="0" y="0"/>
                </a:moveTo>
                <a:lnTo>
                  <a:pt x="6037198" y="0"/>
                </a:lnTo>
                <a:lnTo>
                  <a:pt x="6037198" y="4920316"/>
                </a:lnTo>
                <a:lnTo>
                  <a:pt x="0" y="49203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711556" y="191310"/>
            <a:ext cx="6261514" cy="4920317"/>
          </a:xfrm>
          <a:custGeom>
            <a:avLst/>
            <a:gdLst/>
            <a:ahLst/>
            <a:cxnLst/>
            <a:rect r="r" b="b" t="t" l="l"/>
            <a:pathLst>
              <a:path h="4920317" w="6261514">
                <a:moveTo>
                  <a:pt x="0" y="0"/>
                </a:moveTo>
                <a:lnTo>
                  <a:pt x="6261514" y="0"/>
                </a:lnTo>
                <a:lnTo>
                  <a:pt x="6261514" y="4920316"/>
                </a:lnTo>
                <a:lnTo>
                  <a:pt x="0" y="49203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2114" r="0" b="-160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327008" y="5270471"/>
            <a:ext cx="6123330" cy="4930882"/>
          </a:xfrm>
          <a:custGeom>
            <a:avLst/>
            <a:gdLst/>
            <a:ahLst/>
            <a:cxnLst/>
            <a:rect r="r" b="b" t="t" l="l"/>
            <a:pathLst>
              <a:path h="4930882" w="6123330">
                <a:moveTo>
                  <a:pt x="0" y="0"/>
                </a:moveTo>
                <a:lnTo>
                  <a:pt x="6123330" y="0"/>
                </a:lnTo>
                <a:lnTo>
                  <a:pt x="6123330" y="4930882"/>
                </a:lnTo>
                <a:lnTo>
                  <a:pt x="0" y="493088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604" r="0" b="-604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711556" y="5270471"/>
            <a:ext cx="6261514" cy="5057853"/>
          </a:xfrm>
          <a:custGeom>
            <a:avLst/>
            <a:gdLst/>
            <a:ahLst/>
            <a:cxnLst/>
            <a:rect r="r" b="b" t="t" l="l"/>
            <a:pathLst>
              <a:path h="5057853" w="6261514">
                <a:moveTo>
                  <a:pt x="0" y="0"/>
                </a:moveTo>
                <a:lnTo>
                  <a:pt x="6261514" y="0"/>
                </a:lnTo>
                <a:lnTo>
                  <a:pt x="6261514" y="5057852"/>
                </a:lnTo>
                <a:lnTo>
                  <a:pt x="0" y="50578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91" t="0" r="-339" b="-2439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30694" y="2508593"/>
            <a:ext cx="1634579" cy="567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7"/>
              </a:lnSpc>
              <a:spcBef>
                <a:spcPct val="0"/>
              </a:spcBef>
            </a:pPr>
            <a:r>
              <a:rPr lang="en-US" b="true" sz="2798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Modelo 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7296" y="6956702"/>
            <a:ext cx="1595438" cy="567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7"/>
              </a:lnSpc>
              <a:spcBef>
                <a:spcPct val="0"/>
              </a:spcBef>
            </a:pPr>
            <a:r>
              <a:rPr lang="en-US" b="true" sz="2798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Modelo 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407945" y="2508593"/>
            <a:ext cx="1564630" cy="567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7"/>
              </a:lnSpc>
              <a:spcBef>
                <a:spcPct val="0"/>
              </a:spcBef>
            </a:pPr>
            <a:r>
              <a:rPr lang="en-US" b="true" sz="2798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Modelo 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373120" y="7168814"/>
            <a:ext cx="1599456" cy="567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7"/>
              </a:lnSpc>
              <a:spcBef>
                <a:spcPct val="0"/>
              </a:spcBef>
            </a:pPr>
            <a:r>
              <a:rPr lang="en-US" b="true" sz="2798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Modelo 3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870313" y="1031578"/>
            <a:ext cx="1055299" cy="1049543"/>
          </a:xfrm>
          <a:custGeom>
            <a:avLst/>
            <a:gdLst/>
            <a:ahLst/>
            <a:cxnLst/>
            <a:rect r="r" b="b" t="t" l="l"/>
            <a:pathLst>
              <a:path h="1049543" w="1055299">
                <a:moveTo>
                  <a:pt x="0" y="0"/>
                </a:moveTo>
                <a:lnTo>
                  <a:pt x="1055299" y="0"/>
                </a:lnTo>
                <a:lnTo>
                  <a:pt x="1055299" y="1049543"/>
                </a:lnTo>
                <a:lnTo>
                  <a:pt x="0" y="1049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6804510" y="6963080"/>
            <a:ext cx="2298231" cy="3964582"/>
          </a:xfrm>
          <a:custGeom>
            <a:avLst/>
            <a:gdLst/>
            <a:ahLst/>
            <a:cxnLst/>
            <a:rect r="r" b="b" t="t" l="l"/>
            <a:pathLst>
              <a:path h="3964582" w="2298231">
                <a:moveTo>
                  <a:pt x="0" y="0"/>
                </a:moveTo>
                <a:lnTo>
                  <a:pt x="2298231" y="0"/>
                </a:lnTo>
                <a:lnTo>
                  <a:pt x="2298231" y="3964582"/>
                </a:lnTo>
                <a:lnTo>
                  <a:pt x="0" y="39645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4" id="4">
            <a:hlinkClick action="ppaction://media"/>
          </p:cNvPr>
          <p:cNvPicPr>
            <a:picLocks noChangeAspect="true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6"/>
          <a:srcRect l="0" t="0" r="0" b="0"/>
          <a:stretch>
            <a:fillRect/>
          </a:stretch>
        </p:blipFill>
        <p:spPr>
          <a:xfrm flipH="false" flipV="false" rot="0">
            <a:off x="8550932" y="3403683"/>
            <a:ext cx="8708368" cy="5541689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496843" y="1920808"/>
            <a:ext cx="17211824" cy="767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7"/>
              </a:lnSpc>
              <a:spcBef>
                <a:spcPct val="0"/>
              </a:spcBef>
            </a:pPr>
            <a:r>
              <a:rPr lang="en-US" b="true" sz="3898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¿Y si incluyo un balanceo de clases en la información de entrenamiento?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96843" y="3808002"/>
            <a:ext cx="7657544" cy="1579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7"/>
              </a:lnSpc>
              <a:spcBef>
                <a:spcPct val="0"/>
              </a:spcBef>
            </a:pPr>
            <a:r>
              <a:rPr lang="en-US" b="true" sz="4198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¿Qué pesos debo atribuir a cada clase?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1403" y="6378257"/>
            <a:ext cx="7029225" cy="1417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7"/>
              </a:lnSpc>
              <a:spcBef>
                <a:spcPct val="0"/>
              </a:spcBef>
            </a:pPr>
            <a:r>
              <a:rPr lang="en-US" b="true" sz="3798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¿Más peso a los benignos o malignos?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870313" y="1031578"/>
            <a:ext cx="1055299" cy="1049543"/>
          </a:xfrm>
          <a:custGeom>
            <a:avLst/>
            <a:gdLst/>
            <a:ahLst/>
            <a:cxnLst/>
            <a:rect r="r" b="b" t="t" l="l"/>
            <a:pathLst>
              <a:path h="1049543" w="1055299">
                <a:moveTo>
                  <a:pt x="0" y="0"/>
                </a:moveTo>
                <a:lnTo>
                  <a:pt x="1055299" y="0"/>
                </a:lnTo>
                <a:lnTo>
                  <a:pt x="1055299" y="1049543"/>
                </a:lnTo>
                <a:lnTo>
                  <a:pt x="0" y="1049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6804510" y="6963080"/>
            <a:ext cx="2298231" cy="3964582"/>
          </a:xfrm>
          <a:custGeom>
            <a:avLst/>
            <a:gdLst/>
            <a:ahLst/>
            <a:cxnLst/>
            <a:rect r="r" b="b" t="t" l="l"/>
            <a:pathLst>
              <a:path h="3964582" w="2298231">
                <a:moveTo>
                  <a:pt x="0" y="0"/>
                </a:moveTo>
                <a:lnTo>
                  <a:pt x="2298231" y="0"/>
                </a:lnTo>
                <a:lnTo>
                  <a:pt x="2298231" y="3964582"/>
                </a:lnTo>
                <a:lnTo>
                  <a:pt x="0" y="39645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496615" y="2336500"/>
            <a:ext cx="4747595" cy="3016701"/>
          </a:xfrm>
          <a:custGeom>
            <a:avLst/>
            <a:gdLst/>
            <a:ahLst/>
            <a:cxnLst/>
            <a:rect r="r" b="b" t="t" l="l"/>
            <a:pathLst>
              <a:path h="3016701" w="4747595">
                <a:moveTo>
                  <a:pt x="0" y="0"/>
                </a:moveTo>
                <a:lnTo>
                  <a:pt x="4747594" y="0"/>
                </a:lnTo>
                <a:lnTo>
                  <a:pt x="4747594" y="3016701"/>
                </a:lnTo>
                <a:lnTo>
                  <a:pt x="0" y="30167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771340" y="788591"/>
            <a:ext cx="4198144" cy="767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7"/>
              </a:lnSpc>
              <a:spcBef>
                <a:spcPct val="0"/>
              </a:spcBef>
            </a:pPr>
            <a:r>
              <a:rPr lang="en-US" b="true" sz="3898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Cálculo de pesos: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014035" y="5615675"/>
            <a:ext cx="6930628" cy="767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7"/>
              </a:lnSpc>
              <a:spcBef>
                <a:spcPct val="0"/>
              </a:spcBef>
            </a:pPr>
            <a:r>
              <a:rPr lang="en-US" b="true" sz="3898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N: número total de imágenes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014035" y="6650133"/>
            <a:ext cx="8615065" cy="767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7"/>
              </a:lnSpc>
              <a:spcBef>
                <a:spcPct val="0"/>
              </a:spcBef>
            </a:pPr>
            <a:r>
              <a:rPr lang="en-US" b="true" sz="3898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n: Número de imágenes en la clase c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870313" y="1031578"/>
            <a:ext cx="1055299" cy="1049543"/>
          </a:xfrm>
          <a:custGeom>
            <a:avLst/>
            <a:gdLst/>
            <a:ahLst/>
            <a:cxnLst/>
            <a:rect r="r" b="b" t="t" l="l"/>
            <a:pathLst>
              <a:path h="1049543" w="1055299">
                <a:moveTo>
                  <a:pt x="0" y="0"/>
                </a:moveTo>
                <a:lnTo>
                  <a:pt x="1055299" y="0"/>
                </a:lnTo>
                <a:lnTo>
                  <a:pt x="1055299" y="1049543"/>
                </a:lnTo>
                <a:lnTo>
                  <a:pt x="0" y="1049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6804510" y="6963080"/>
            <a:ext cx="2298231" cy="3964582"/>
          </a:xfrm>
          <a:custGeom>
            <a:avLst/>
            <a:gdLst/>
            <a:ahLst/>
            <a:cxnLst/>
            <a:rect r="r" b="b" t="t" l="l"/>
            <a:pathLst>
              <a:path h="3964582" w="2298231">
                <a:moveTo>
                  <a:pt x="0" y="0"/>
                </a:moveTo>
                <a:lnTo>
                  <a:pt x="2298231" y="0"/>
                </a:lnTo>
                <a:lnTo>
                  <a:pt x="2298231" y="3964582"/>
                </a:lnTo>
                <a:lnTo>
                  <a:pt x="0" y="39645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499188" y="628465"/>
            <a:ext cx="6521289" cy="4654570"/>
          </a:xfrm>
          <a:custGeom>
            <a:avLst/>
            <a:gdLst/>
            <a:ahLst/>
            <a:cxnLst/>
            <a:rect r="r" b="b" t="t" l="l"/>
            <a:pathLst>
              <a:path h="4654570" w="6521289">
                <a:moveTo>
                  <a:pt x="0" y="0"/>
                </a:moveTo>
                <a:lnTo>
                  <a:pt x="6521289" y="0"/>
                </a:lnTo>
                <a:lnTo>
                  <a:pt x="6521289" y="4654570"/>
                </a:lnTo>
                <a:lnTo>
                  <a:pt x="0" y="46545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628465"/>
            <a:ext cx="6430166" cy="4654570"/>
          </a:xfrm>
          <a:custGeom>
            <a:avLst/>
            <a:gdLst/>
            <a:ahLst/>
            <a:cxnLst/>
            <a:rect r="r" b="b" t="t" l="l"/>
            <a:pathLst>
              <a:path h="4654570" w="6430166">
                <a:moveTo>
                  <a:pt x="0" y="0"/>
                </a:moveTo>
                <a:lnTo>
                  <a:pt x="6430166" y="0"/>
                </a:lnTo>
                <a:lnTo>
                  <a:pt x="6430166" y="4654570"/>
                </a:lnTo>
                <a:lnTo>
                  <a:pt x="0" y="46545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708" t="0" r="-708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538882" y="5377378"/>
            <a:ext cx="6433668" cy="4592030"/>
          </a:xfrm>
          <a:custGeom>
            <a:avLst/>
            <a:gdLst/>
            <a:ahLst/>
            <a:cxnLst/>
            <a:rect r="r" b="b" t="t" l="l"/>
            <a:pathLst>
              <a:path h="4592030" w="6433668">
                <a:moveTo>
                  <a:pt x="0" y="0"/>
                </a:moveTo>
                <a:lnTo>
                  <a:pt x="6433668" y="0"/>
                </a:lnTo>
                <a:lnTo>
                  <a:pt x="6433668" y="4592030"/>
                </a:lnTo>
                <a:lnTo>
                  <a:pt x="0" y="45920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5439917"/>
            <a:ext cx="6346047" cy="4529491"/>
          </a:xfrm>
          <a:custGeom>
            <a:avLst/>
            <a:gdLst/>
            <a:ahLst/>
            <a:cxnLst/>
            <a:rect r="r" b="b" t="t" l="l"/>
            <a:pathLst>
              <a:path h="4529491" w="6346047">
                <a:moveTo>
                  <a:pt x="0" y="0"/>
                </a:moveTo>
                <a:lnTo>
                  <a:pt x="6346047" y="0"/>
                </a:lnTo>
                <a:lnTo>
                  <a:pt x="6346047" y="4529491"/>
                </a:lnTo>
                <a:lnTo>
                  <a:pt x="0" y="452949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5309" y="2481383"/>
            <a:ext cx="2277517" cy="767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7"/>
              </a:lnSpc>
              <a:spcBef>
                <a:spcPct val="0"/>
              </a:spcBef>
            </a:pPr>
            <a:r>
              <a:rPr lang="en-US" b="true" sz="3898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Modelo 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5309" y="6850327"/>
            <a:ext cx="2223195" cy="767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7"/>
              </a:lnSpc>
              <a:spcBef>
                <a:spcPct val="0"/>
              </a:spcBef>
            </a:pPr>
            <a:r>
              <a:rPr lang="en-US" b="true" sz="3898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Modelo 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665289" y="2359953"/>
            <a:ext cx="2180034" cy="767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7"/>
              </a:lnSpc>
              <a:spcBef>
                <a:spcPct val="0"/>
              </a:spcBef>
            </a:pPr>
            <a:r>
              <a:rPr lang="en-US" b="true" sz="3898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Modelo 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665289" y="6752012"/>
            <a:ext cx="2228552" cy="767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7"/>
              </a:lnSpc>
              <a:spcBef>
                <a:spcPct val="0"/>
              </a:spcBef>
            </a:pPr>
            <a:r>
              <a:rPr lang="en-US" b="true" sz="3898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Modelo 3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870313" y="1031578"/>
            <a:ext cx="1055299" cy="1049543"/>
          </a:xfrm>
          <a:custGeom>
            <a:avLst/>
            <a:gdLst/>
            <a:ahLst/>
            <a:cxnLst/>
            <a:rect r="r" b="b" t="t" l="l"/>
            <a:pathLst>
              <a:path h="1049543" w="1055299">
                <a:moveTo>
                  <a:pt x="0" y="0"/>
                </a:moveTo>
                <a:lnTo>
                  <a:pt x="1055299" y="0"/>
                </a:lnTo>
                <a:lnTo>
                  <a:pt x="1055299" y="1049543"/>
                </a:lnTo>
                <a:lnTo>
                  <a:pt x="0" y="1049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6804510" y="6963080"/>
            <a:ext cx="2298231" cy="3964582"/>
          </a:xfrm>
          <a:custGeom>
            <a:avLst/>
            <a:gdLst/>
            <a:ahLst/>
            <a:cxnLst/>
            <a:rect r="r" b="b" t="t" l="l"/>
            <a:pathLst>
              <a:path h="3964582" w="2298231">
                <a:moveTo>
                  <a:pt x="0" y="0"/>
                </a:moveTo>
                <a:lnTo>
                  <a:pt x="2298231" y="0"/>
                </a:lnTo>
                <a:lnTo>
                  <a:pt x="2298231" y="3964582"/>
                </a:lnTo>
                <a:lnTo>
                  <a:pt x="0" y="39645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733736" y="178410"/>
            <a:ext cx="5984546" cy="4877405"/>
          </a:xfrm>
          <a:custGeom>
            <a:avLst/>
            <a:gdLst/>
            <a:ahLst/>
            <a:cxnLst/>
            <a:rect r="r" b="b" t="t" l="l"/>
            <a:pathLst>
              <a:path h="4877405" w="5984546">
                <a:moveTo>
                  <a:pt x="0" y="0"/>
                </a:moveTo>
                <a:lnTo>
                  <a:pt x="5984546" y="0"/>
                </a:lnTo>
                <a:lnTo>
                  <a:pt x="5984546" y="4877406"/>
                </a:lnTo>
                <a:lnTo>
                  <a:pt x="0" y="48774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042132" y="241111"/>
            <a:ext cx="5946908" cy="4846730"/>
          </a:xfrm>
          <a:custGeom>
            <a:avLst/>
            <a:gdLst/>
            <a:ahLst/>
            <a:cxnLst/>
            <a:rect r="r" b="b" t="t" l="l"/>
            <a:pathLst>
              <a:path h="4846730" w="5946908">
                <a:moveTo>
                  <a:pt x="0" y="0"/>
                </a:moveTo>
                <a:lnTo>
                  <a:pt x="5946908" y="0"/>
                </a:lnTo>
                <a:lnTo>
                  <a:pt x="5946908" y="4846731"/>
                </a:lnTo>
                <a:lnTo>
                  <a:pt x="0" y="48467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652113" y="5250007"/>
            <a:ext cx="6085219" cy="4959453"/>
          </a:xfrm>
          <a:custGeom>
            <a:avLst/>
            <a:gdLst/>
            <a:ahLst/>
            <a:cxnLst/>
            <a:rect r="r" b="b" t="t" l="l"/>
            <a:pathLst>
              <a:path h="4959453" w="6085219">
                <a:moveTo>
                  <a:pt x="0" y="0"/>
                </a:moveTo>
                <a:lnTo>
                  <a:pt x="6085219" y="0"/>
                </a:lnTo>
                <a:lnTo>
                  <a:pt x="6085219" y="4959453"/>
                </a:lnTo>
                <a:lnTo>
                  <a:pt x="0" y="49594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042132" y="5281559"/>
            <a:ext cx="6046504" cy="4927901"/>
          </a:xfrm>
          <a:custGeom>
            <a:avLst/>
            <a:gdLst/>
            <a:ahLst/>
            <a:cxnLst/>
            <a:rect r="r" b="b" t="t" l="l"/>
            <a:pathLst>
              <a:path h="4927901" w="6046504">
                <a:moveTo>
                  <a:pt x="0" y="0"/>
                </a:moveTo>
                <a:lnTo>
                  <a:pt x="6046504" y="0"/>
                </a:lnTo>
                <a:lnTo>
                  <a:pt x="6046504" y="4927901"/>
                </a:lnTo>
                <a:lnTo>
                  <a:pt x="0" y="492790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8147" y="2653344"/>
            <a:ext cx="2277517" cy="767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7"/>
              </a:lnSpc>
              <a:spcBef>
                <a:spcPct val="0"/>
              </a:spcBef>
            </a:pPr>
            <a:r>
              <a:rPr lang="en-US" b="true" sz="3898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Modelo 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5309" y="6850327"/>
            <a:ext cx="2223195" cy="767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7"/>
              </a:lnSpc>
              <a:spcBef>
                <a:spcPct val="0"/>
              </a:spcBef>
            </a:pPr>
            <a:r>
              <a:rPr lang="en-US" b="true" sz="3898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Modelo 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314006" y="2359953"/>
            <a:ext cx="2180034" cy="767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7"/>
              </a:lnSpc>
              <a:spcBef>
                <a:spcPct val="0"/>
              </a:spcBef>
            </a:pPr>
            <a:r>
              <a:rPr lang="en-US" b="true" sz="3898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Modelo 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369177" y="6752012"/>
            <a:ext cx="2228552" cy="767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7"/>
              </a:lnSpc>
              <a:spcBef>
                <a:spcPct val="0"/>
              </a:spcBef>
            </a:pPr>
            <a:r>
              <a:rPr lang="en-US" b="true" sz="3898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Modelo 3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870313" y="1031578"/>
            <a:ext cx="1055299" cy="1049543"/>
          </a:xfrm>
          <a:custGeom>
            <a:avLst/>
            <a:gdLst/>
            <a:ahLst/>
            <a:cxnLst/>
            <a:rect r="r" b="b" t="t" l="l"/>
            <a:pathLst>
              <a:path h="1049543" w="1055299">
                <a:moveTo>
                  <a:pt x="0" y="0"/>
                </a:moveTo>
                <a:lnTo>
                  <a:pt x="1055299" y="0"/>
                </a:lnTo>
                <a:lnTo>
                  <a:pt x="1055299" y="1049543"/>
                </a:lnTo>
                <a:lnTo>
                  <a:pt x="0" y="1049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6804510" y="6963080"/>
            <a:ext cx="2298231" cy="3964582"/>
          </a:xfrm>
          <a:custGeom>
            <a:avLst/>
            <a:gdLst/>
            <a:ahLst/>
            <a:cxnLst/>
            <a:rect r="r" b="b" t="t" l="l"/>
            <a:pathLst>
              <a:path h="3964582" w="2298231">
                <a:moveTo>
                  <a:pt x="0" y="0"/>
                </a:moveTo>
                <a:lnTo>
                  <a:pt x="2298231" y="0"/>
                </a:lnTo>
                <a:lnTo>
                  <a:pt x="2298231" y="3964582"/>
                </a:lnTo>
                <a:lnTo>
                  <a:pt x="0" y="39645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733736" y="178410"/>
            <a:ext cx="5984546" cy="4877405"/>
          </a:xfrm>
          <a:custGeom>
            <a:avLst/>
            <a:gdLst/>
            <a:ahLst/>
            <a:cxnLst/>
            <a:rect r="r" b="b" t="t" l="l"/>
            <a:pathLst>
              <a:path h="4877405" w="5984546">
                <a:moveTo>
                  <a:pt x="0" y="0"/>
                </a:moveTo>
                <a:lnTo>
                  <a:pt x="5984546" y="0"/>
                </a:lnTo>
                <a:lnTo>
                  <a:pt x="5984546" y="4877406"/>
                </a:lnTo>
                <a:lnTo>
                  <a:pt x="0" y="48774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042132" y="241111"/>
            <a:ext cx="5946908" cy="4846730"/>
          </a:xfrm>
          <a:custGeom>
            <a:avLst/>
            <a:gdLst/>
            <a:ahLst/>
            <a:cxnLst/>
            <a:rect r="r" b="b" t="t" l="l"/>
            <a:pathLst>
              <a:path h="4846730" w="5946908">
                <a:moveTo>
                  <a:pt x="0" y="0"/>
                </a:moveTo>
                <a:lnTo>
                  <a:pt x="5946908" y="0"/>
                </a:lnTo>
                <a:lnTo>
                  <a:pt x="5946908" y="4846731"/>
                </a:lnTo>
                <a:lnTo>
                  <a:pt x="0" y="48467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652113" y="5250007"/>
            <a:ext cx="6085219" cy="4959453"/>
          </a:xfrm>
          <a:custGeom>
            <a:avLst/>
            <a:gdLst/>
            <a:ahLst/>
            <a:cxnLst/>
            <a:rect r="r" b="b" t="t" l="l"/>
            <a:pathLst>
              <a:path h="4959453" w="6085219">
                <a:moveTo>
                  <a:pt x="0" y="0"/>
                </a:moveTo>
                <a:lnTo>
                  <a:pt x="6085219" y="0"/>
                </a:lnTo>
                <a:lnTo>
                  <a:pt x="6085219" y="4959453"/>
                </a:lnTo>
                <a:lnTo>
                  <a:pt x="0" y="49594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042132" y="5281559"/>
            <a:ext cx="6046504" cy="4927901"/>
          </a:xfrm>
          <a:custGeom>
            <a:avLst/>
            <a:gdLst/>
            <a:ahLst/>
            <a:cxnLst/>
            <a:rect r="r" b="b" t="t" l="l"/>
            <a:pathLst>
              <a:path h="4927901" w="6046504">
                <a:moveTo>
                  <a:pt x="0" y="0"/>
                </a:moveTo>
                <a:lnTo>
                  <a:pt x="6046504" y="0"/>
                </a:lnTo>
                <a:lnTo>
                  <a:pt x="6046504" y="4927901"/>
                </a:lnTo>
                <a:lnTo>
                  <a:pt x="0" y="492790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pic>
        <p:nvPicPr>
          <p:cNvPr name="Picture 8" id="8">
            <a:hlinkClick action="ppaction://media"/>
          </p:cNvPr>
          <p:cNvPicPr>
            <a:picLocks noChangeAspect="true"/>
          </p:cNvPicPr>
          <p:nvPr>
            <a:videoFile r:link="rId11"/>
            <p:extLst>
              <p:ext uri="{DAA4B4D4-6D71-4841-9C94-3DE7FCFB9230}">
                <p14:media xmlns:p14="http://schemas.microsoft.com/office/powerpoint/2010/main" r:embed="rId12"/>
              </p:ext>
            </p:extLst>
          </p:nvPr>
        </p:nvPicPr>
        <p:blipFill>
          <a:blip r:embed="rId10"/>
          <a:srcRect l="0" t="0" r="0" b="0"/>
          <a:stretch>
            <a:fillRect/>
          </a:stretch>
        </p:blipFill>
        <p:spPr>
          <a:xfrm flipH="false" flipV="false" rot="0">
            <a:off x="2521214" y="2079703"/>
            <a:ext cx="12647242" cy="5716553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98147" y="2653344"/>
            <a:ext cx="2277517" cy="767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7"/>
              </a:lnSpc>
              <a:spcBef>
                <a:spcPct val="0"/>
              </a:spcBef>
            </a:pPr>
            <a:r>
              <a:rPr lang="en-US" b="true" sz="3898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Modelo 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5309" y="6850327"/>
            <a:ext cx="2223195" cy="767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7"/>
              </a:lnSpc>
              <a:spcBef>
                <a:spcPct val="0"/>
              </a:spcBef>
            </a:pPr>
            <a:r>
              <a:rPr lang="en-US" b="true" sz="3898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Modelo 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314006" y="2359953"/>
            <a:ext cx="2180034" cy="767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7"/>
              </a:lnSpc>
              <a:spcBef>
                <a:spcPct val="0"/>
              </a:spcBef>
            </a:pPr>
            <a:r>
              <a:rPr lang="en-US" b="true" sz="3898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Modelo 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369177" y="6752012"/>
            <a:ext cx="2228552" cy="767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7"/>
              </a:lnSpc>
              <a:spcBef>
                <a:spcPct val="0"/>
              </a:spcBef>
            </a:pPr>
            <a:r>
              <a:rPr lang="en-US" b="true" sz="3898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Modelo 3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774527" y="546735"/>
            <a:ext cx="7484773" cy="482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7"/>
              </a:lnSpc>
            </a:pPr>
            <a:r>
              <a:rPr lang="en-US" sz="2398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2026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46735"/>
            <a:ext cx="7484773" cy="482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57"/>
              </a:lnSpc>
            </a:pPr>
            <a:r>
              <a:rPr lang="en-US" sz="2398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Análisis de Cáncer de Mama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5400000">
            <a:off x="1117409" y="1199697"/>
            <a:ext cx="1055299" cy="1049543"/>
          </a:xfrm>
          <a:custGeom>
            <a:avLst/>
            <a:gdLst/>
            <a:ahLst/>
            <a:cxnLst/>
            <a:rect r="r" b="b" t="t" l="l"/>
            <a:pathLst>
              <a:path h="1049543" w="1055299">
                <a:moveTo>
                  <a:pt x="0" y="0"/>
                </a:moveTo>
                <a:lnTo>
                  <a:pt x="1055299" y="0"/>
                </a:lnTo>
                <a:lnTo>
                  <a:pt x="1055299" y="1049544"/>
                </a:lnTo>
                <a:lnTo>
                  <a:pt x="0" y="1049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3927633" y="4630725"/>
            <a:ext cx="2298231" cy="3964582"/>
          </a:xfrm>
          <a:custGeom>
            <a:avLst/>
            <a:gdLst/>
            <a:ahLst/>
            <a:cxnLst/>
            <a:rect r="r" b="b" t="t" l="l"/>
            <a:pathLst>
              <a:path h="3964582" w="2298231">
                <a:moveTo>
                  <a:pt x="0" y="0"/>
                </a:moveTo>
                <a:lnTo>
                  <a:pt x="2298232" y="0"/>
                </a:lnTo>
                <a:lnTo>
                  <a:pt x="2298232" y="3964583"/>
                </a:lnTo>
                <a:lnTo>
                  <a:pt x="0" y="39645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60049" y="3092607"/>
            <a:ext cx="1633399" cy="479177"/>
          </a:xfrm>
          <a:custGeom>
            <a:avLst/>
            <a:gdLst/>
            <a:ahLst/>
            <a:cxnLst/>
            <a:rect r="r" b="b" t="t" l="l"/>
            <a:pathLst>
              <a:path h="479177" w="1633399">
                <a:moveTo>
                  <a:pt x="0" y="0"/>
                </a:moveTo>
                <a:lnTo>
                  <a:pt x="1633400" y="0"/>
                </a:lnTo>
                <a:lnTo>
                  <a:pt x="1633400" y="479178"/>
                </a:lnTo>
                <a:lnTo>
                  <a:pt x="0" y="4791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843993" y="2185444"/>
            <a:ext cx="12182551" cy="1340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8144"/>
              </a:lnSpc>
            </a:pPr>
            <a:r>
              <a:rPr lang="en-US" sz="8396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FUTURO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975779" y="4882643"/>
            <a:ext cx="8958394" cy="4052737"/>
            <a:chOff x="0" y="0"/>
            <a:chExt cx="2359412" cy="10673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59412" cy="1067387"/>
            </a:xfrm>
            <a:custGeom>
              <a:avLst/>
              <a:gdLst/>
              <a:ahLst/>
              <a:cxnLst/>
              <a:rect r="r" b="b" t="t" l="l"/>
              <a:pathLst>
                <a:path h="1067387" w="2359412">
                  <a:moveTo>
                    <a:pt x="86421" y="0"/>
                  </a:moveTo>
                  <a:lnTo>
                    <a:pt x="2272991" y="0"/>
                  </a:lnTo>
                  <a:cubicBezTo>
                    <a:pt x="2320720" y="0"/>
                    <a:pt x="2359412" y="38692"/>
                    <a:pt x="2359412" y="86421"/>
                  </a:cubicBezTo>
                  <a:lnTo>
                    <a:pt x="2359412" y="980966"/>
                  </a:lnTo>
                  <a:cubicBezTo>
                    <a:pt x="2359412" y="1028695"/>
                    <a:pt x="2320720" y="1067387"/>
                    <a:pt x="2272991" y="1067387"/>
                  </a:cubicBezTo>
                  <a:lnTo>
                    <a:pt x="86421" y="1067387"/>
                  </a:lnTo>
                  <a:cubicBezTo>
                    <a:pt x="38692" y="1067387"/>
                    <a:pt x="0" y="1028695"/>
                    <a:pt x="0" y="980966"/>
                  </a:cubicBezTo>
                  <a:lnTo>
                    <a:pt x="0" y="86421"/>
                  </a:lnTo>
                  <a:cubicBezTo>
                    <a:pt x="0" y="38692"/>
                    <a:pt x="38692" y="0"/>
                    <a:pt x="86421" y="0"/>
                  </a:cubicBezTo>
                  <a:close/>
                </a:path>
              </a:pathLst>
            </a:custGeom>
            <a:solidFill>
              <a:srgbClr val="E1E3E1"/>
            </a:solidFill>
            <a:ln w="19050" cap="rnd">
              <a:solidFill>
                <a:srgbClr val="296D5F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2359412" cy="1191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82927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1F1F25"/>
                  </a:solidFill>
                  <a:latin typeface="Agrandir"/>
                  <a:ea typeface="Agrandir"/>
                  <a:cs typeface="Agrandir"/>
                  <a:sym typeface="Agrandir"/>
                </a:rPr>
                <a:t>Intentar sacar estadísticas relevantes a partir de contorno y texturas (média de contornos, radio medio, perímeto, etc)</a:t>
              </a:r>
            </a:p>
            <a:p>
              <a:pPr algn="l" marL="582927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1F1F25"/>
                  </a:solidFill>
                  <a:latin typeface="Agrandir"/>
                  <a:ea typeface="Agrandir"/>
                  <a:cs typeface="Agrandir"/>
                  <a:sym typeface="Agrandir"/>
                </a:rPr>
                <a:t>Incluyir un modelo de validación de entrada (Garantizar que las entradas son de hecho imagenes de histopatología)</a:t>
              </a:r>
            </a:p>
            <a:p>
              <a:pPr algn="l" marL="582927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1F1F25"/>
                  </a:solidFill>
                  <a:latin typeface="Agrandir"/>
                  <a:ea typeface="Agrandir"/>
                  <a:cs typeface="Agrandir"/>
                  <a:sym typeface="Agrandir"/>
                </a:rPr>
                <a:t>Generar más imagenes para entrenar y mejorar el modelo</a:t>
              </a:r>
            </a:p>
          </p:txBody>
        </p:sp>
      </p:grp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774527" y="546735"/>
            <a:ext cx="7484773" cy="482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7"/>
              </a:lnSpc>
            </a:pPr>
            <a:r>
              <a:rPr lang="en-US" sz="2398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2026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46735"/>
            <a:ext cx="7484773" cy="482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57"/>
              </a:lnSpc>
            </a:pPr>
            <a:r>
              <a:rPr lang="en-US" sz="2398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Análisis de Cáncer de Mama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5400000">
            <a:off x="1117409" y="1199697"/>
            <a:ext cx="1055299" cy="1049543"/>
          </a:xfrm>
          <a:custGeom>
            <a:avLst/>
            <a:gdLst/>
            <a:ahLst/>
            <a:cxnLst/>
            <a:rect r="r" b="b" t="t" l="l"/>
            <a:pathLst>
              <a:path h="1049543" w="1055299">
                <a:moveTo>
                  <a:pt x="0" y="0"/>
                </a:moveTo>
                <a:lnTo>
                  <a:pt x="1055299" y="0"/>
                </a:lnTo>
                <a:lnTo>
                  <a:pt x="1055299" y="1049544"/>
                </a:lnTo>
                <a:lnTo>
                  <a:pt x="0" y="1049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3927633" y="4630725"/>
            <a:ext cx="2298231" cy="3964582"/>
          </a:xfrm>
          <a:custGeom>
            <a:avLst/>
            <a:gdLst/>
            <a:ahLst/>
            <a:cxnLst/>
            <a:rect r="r" b="b" t="t" l="l"/>
            <a:pathLst>
              <a:path h="3964582" w="2298231">
                <a:moveTo>
                  <a:pt x="0" y="0"/>
                </a:moveTo>
                <a:lnTo>
                  <a:pt x="2298232" y="0"/>
                </a:lnTo>
                <a:lnTo>
                  <a:pt x="2298232" y="3964583"/>
                </a:lnTo>
                <a:lnTo>
                  <a:pt x="0" y="39645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60049" y="3092607"/>
            <a:ext cx="1633399" cy="479177"/>
          </a:xfrm>
          <a:custGeom>
            <a:avLst/>
            <a:gdLst/>
            <a:ahLst/>
            <a:cxnLst/>
            <a:rect r="r" b="b" t="t" l="l"/>
            <a:pathLst>
              <a:path h="479177" w="1633399">
                <a:moveTo>
                  <a:pt x="0" y="0"/>
                </a:moveTo>
                <a:lnTo>
                  <a:pt x="1633400" y="0"/>
                </a:lnTo>
                <a:lnTo>
                  <a:pt x="1633400" y="479178"/>
                </a:lnTo>
                <a:lnTo>
                  <a:pt x="0" y="4791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367042" y="1972684"/>
            <a:ext cx="12182551" cy="3398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8144"/>
              </a:lnSpc>
            </a:pPr>
            <a:r>
              <a:rPr lang="en-US" sz="8396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MODELOS DESPLEGABLES (STREAMLIT)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9578" y="4914958"/>
            <a:ext cx="1558087" cy="457083"/>
          </a:xfrm>
          <a:custGeom>
            <a:avLst/>
            <a:gdLst/>
            <a:ahLst/>
            <a:cxnLst/>
            <a:rect r="r" b="b" t="t" l="l"/>
            <a:pathLst>
              <a:path h="457083" w="1558087">
                <a:moveTo>
                  <a:pt x="0" y="0"/>
                </a:moveTo>
                <a:lnTo>
                  <a:pt x="1558087" y="0"/>
                </a:lnTo>
                <a:lnTo>
                  <a:pt x="1558087" y="457084"/>
                </a:lnTo>
                <a:lnTo>
                  <a:pt x="0" y="4570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07120" y="3550720"/>
            <a:ext cx="3203031" cy="3185560"/>
          </a:xfrm>
          <a:custGeom>
            <a:avLst/>
            <a:gdLst/>
            <a:ahLst/>
            <a:cxnLst/>
            <a:rect r="r" b="b" t="t" l="l"/>
            <a:pathLst>
              <a:path h="3185560" w="3203031">
                <a:moveTo>
                  <a:pt x="0" y="0"/>
                </a:moveTo>
                <a:lnTo>
                  <a:pt x="3203030" y="0"/>
                </a:lnTo>
                <a:lnTo>
                  <a:pt x="3203030" y="3185560"/>
                </a:lnTo>
                <a:lnTo>
                  <a:pt x="0" y="31855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1765392" y="-1687841"/>
            <a:ext cx="2385311" cy="4114800"/>
          </a:xfrm>
          <a:custGeom>
            <a:avLst/>
            <a:gdLst/>
            <a:ahLst/>
            <a:cxnLst/>
            <a:rect r="r" b="b" t="t" l="l"/>
            <a:pathLst>
              <a:path h="4114800" w="2385311">
                <a:moveTo>
                  <a:pt x="0" y="0"/>
                </a:moveTo>
                <a:lnTo>
                  <a:pt x="2385311" y="0"/>
                </a:lnTo>
                <a:lnTo>
                  <a:pt x="23853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133082" y="4044893"/>
            <a:ext cx="10702538" cy="211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971"/>
              </a:lnSpc>
            </a:pPr>
            <a:r>
              <a:rPr lang="en-US" sz="13372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¡GRACIAS!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433385"/>
            <a:ext cx="7484773" cy="901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</a:pPr>
            <a:r>
              <a:rPr lang="en-US" sz="2398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¿Preguntas, comentarios o sugerencias? Estoy a su disposición.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74527" y="546735"/>
            <a:ext cx="7484773" cy="482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7"/>
              </a:lnSpc>
            </a:pPr>
            <a:r>
              <a:rPr lang="en-US" sz="2398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8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46735"/>
            <a:ext cx="7484773" cy="482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57"/>
              </a:lnSpc>
            </a:pPr>
            <a:r>
              <a:rPr lang="en-US" sz="2398">
                <a:solidFill>
                  <a:srgbClr val="1F1F25"/>
                </a:solidFill>
                <a:latin typeface="Agrandir"/>
                <a:ea typeface="Agrandir"/>
                <a:cs typeface="Agrandir"/>
                <a:sym typeface="Agrandir"/>
              </a:rPr>
              <a:t>Análisis de Cáncer de Mama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DAHJfZ57His</dc:identifier>
  <dcterms:modified xsi:type="dcterms:W3CDTF">2011-08-01T06:04:30Z</dcterms:modified>
  <cp:revision>1</cp:revision>
  <dc:title>ML Beast Cancer Presentation BBK</dc:title>
</cp:coreProperties>
</file>