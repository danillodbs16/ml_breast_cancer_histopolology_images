
<file path=[Content_Types].xml><?xml version="1.0" encoding="utf-8"?>
<Types xmlns="http://schemas.openxmlformats.org/package/2006/content-types">
  <Default ContentType="application/vnd.openxmlformats-officedocument.oleObject" Extension="bin"/>
  <Default ContentType="application/x-fontdata" Extension="fntdata"/>
  <Default ContentType="image/jpeg" Extension="jpeg"/>
  <Default ContentType="video/mp4" Extension="mp4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slide+xml" PartName="/ppt/slides/slide13.xml"/>
  <Override ContentType="application/vnd.openxmlformats-officedocument.presentationml.slide+xml" PartName="/ppt/slides/slide14.xml"/>
  <Override ContentType="application/vnd.openxmlformats-officedocument.presentationml.slide+xml" PartName="/ppt/slides/slide15.xml"/>
  <Override ContentType="application/vnd.openxmlformats-officedocument.presentationml.slide+xml" PartName="/ppt/slides/slide16.xml"/>
  <Override ContentType="application/vnd.openxmlformats-officedocument.presentationml.slide+xml" PartName="/ppt/slides/slide17.xml"/>
  <Override ContentType="application/vnd.openxmlformats-officedocument.presentationml.slide+xml" PartName="/ppt/slides/slide18.xml"/>
  <Override ContentType="application/vnd.openxmlformats-officedocument.presentationml.slide+xml" PartName="/ppt/slides/slide19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22.xml"/>
  <Override ContentType="application/vnd.openxmlformats-officedocument.presentationml.slide+xml" PartName="/ppt/slides/slide23.xml"/>
  <Override ContentType="application/vnd.openxmlformats-officedocument.presentationml.slide+xml" PartName="/ppt/slides/slide24.xml"/>
  <Override ContentType="application/vnd.openxmlformats-officedocument.presentationml.slide+xml" PartName="/ppt/slides/slide25.xml"/>
  <Override ContentType="application/vnd.openxmlformats-officedocument.presentationml.slide+xml" PartName="/ppt/slides/slide26.xml"/>
  <Override ContentType="application/vnd.openxmlformats-officedocument.presentationml.slide+xml" PartName="/ppt/slides/slide27.xml"/>
  <Override ContentType="application/vnd.openxmlformats-officedocument.presentationml.slide+xml" PartName="/ppt/slides/slide28.xml"/>
  <Override ContentType="application/vnd.openxmlformats-officedocument.presentationml.slide+xml" PartName="/ppt/slides/slide29.xml"/>
  <Override ContentType="application/vnd.openxmlformats-officedocument.presentationml.slide+xml" PartName="/ppt/slides/slide30.xml"/>
  <Override ContentType="application/vnd.openxmlformats-officedocument.presentationml.slide+xml" PartName="/ppt/slides/slide31.xml"/>
  <Override ContentType="application/vnd.openxmlformats-officedocument.presentationml.slide+xml" PartName="/ppt/slides/slide32.xml"/>
  <Override ContentType="application/vnd.openxmlformats-officedocument.presentationml.slide+xml" PartName="/ppt/slides/slide33.xml"/>
  <Override ContentType="application/vnd.openxmlformats-officedocument.presentationml.slide+xml" PartName="/ppt/slides/slide34.xml"/>
  <Override ContentType="application/vnd.openxmlformats-officedocument.presentationml.slide+xml" PartName="/ppt/slides/slide35.xml"/>
  <Override ContentType="application/vnd.openxmlformats-officedocument.presentationml.slide+xml" PartName="/ppt/slides/slide36.xml"/>
  <Override ContentType="application/vnd.openxmlformats-officedocument.presentationml.slide+xml" PartName="/ppt/slides/slide37.xml"/>
  <Override ContentType="application/vnd.openxmlformats-officedocument.presentationml.slide+xml" PartName="/ppt/slides/slide38.xml"/>
  <Override ContentType="application/vnd.openxmlformats-officedocument.presentationml.slide+xml" PartName="/ppt/slides/slide39.xml"/>
  <Override ContentType="application/vnd.openxmlformats-officedocument.presentationml.slide+xml" PartName="/ppt/slides/slide40.xml"/>
  <Override ContentType="application/vnd.openxmlformats-officedocument.presentationml.slide+xml" PartName="/ppt/slides/slide41.xml"/>
  <Override ContentType="application/vnd.openxmlformats-officedocument.presentationml.slide+xml" PartName="/ppt/slides/slide42.xml"/>
  <Override ContentType="application/vnd.openxmlformats-officedocument.presentationml.slide+xml" PartName="/ppt/slides/slide43.xml"/>
  <Override ContentType="application/vnd.openxmlformats-officedocument.presentationml.slide+xml" PartName="/ppt/slides/slide44.xml"/>
  <Override ContentType="application/vnd.openxmlformats-officedocument.presentationml.slide+xml" PartName="/ppt/slides/slide45.xml"/>
  <Override ContentType="application/vnd.openxmlformats-officedocument.presentationml.slide+xml" PartName="/ppt/slides/slide46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  <p:sldId id="295" r:id="rId45"/>
    <p:sldId id="296" r:id="rId46"/>
    <p:sldId id="297" r:id="rId47"/>
    <p:sldId id="298" r:id="rId48"/>
    <p:sldId id="299" r:id="rId49"/>
    <p:sldId id="300" r:id="rId50"/>
    <p:sldId id="301" r:id="rId51"/>
  </p:sldIdLst>
  <p:sldSz cx="18288000" cy="10287000"/>
  <p:notesSz cx="6858000" cy="9144000"/>
  <p:embeddedFontLst>
    <p:embeddedFont>
      <p:font typeface="Agrandir" charset="1" panose="00000500000000000000"/>
      <p:regular r:id="rId52"/>
    </p:embeddedFont>
    <p:embeddedFont>
      <p:font typeface="Agrandir Bold" charset="1" panose="00000800000000000000"/>
      <p:regular r:id="rId53"/>
    </p:embeddedFont>
    <p:embeddedFont>
      <p:font typeface="Canva Sans Bold" charset="1" panose="020B0803030501040103"/>
      <p:regular r:id="rId54"/>
    </p:embeddedFont>
    <p:embeddedFont>
      <p:font typeface="Agrandir Bold Italics" charset="1" panose="00000800000000000000"/>
      <p:regular r:id="rId55"/>
    </p:embeddedFont>
    <p:embeddedFont>
      <p:font typeface="Agrandir Italics" charset="1" panose="00000500000000000000"/>
      <p:regular r:id="rId56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slides/slide11.xml" Type="http://schemas.openxmlformats.org/officeDocument/2006/relationships/slide"/><Relationship Id="rId17" Target="slides/slide12.xml" Type="http://schemas.openxmlformats.org/officeDocument/2006/relationships/slide"/><Relationship Id="rId18" Target="slides/slide13.xml" Type="http://schemas.openxmlformats.org/officeDocument/2006/relationships/slide"/><Relationship Id="rId19" Target="slides/slide14.xml" Type="http://schemas.openxmlformats.org/officeDocument/2006/relationships/slide"/><Relationship Id="rId2" Target="presProps.xml" Type="http://schemas.openxmlformats.org/officeDocument/2006/relationships/presProps"/><Relationship Id="rId20" Target="slides/slide15.xml" Type="http://schemas.openxmlformats.org/officeDocument/2006/relationships/slide"/><Relationship Id="rId21" Target="slides/slide16.xml" Type="http://schemas.openxmlformats.org/officeDocument/2006/relationships/slide"/><Relationship Id="rId22" Target="slides/slide17.xml" Type="http://schemas.openxmlformats.org/officeDocument/2006/relationships/slide"/><Relationship Id="rId23" Target="slides/slide18.xml" Type="http://schemas.openxmlformats.org/officeDocument/2006/relationships/slide"/><Relationship Id="rId24" Target="slides/slide19.xml" Type="http://schemas.openxmlformats.org/officeDocument/2006/relationships/slide"/><Relationship Id="rId25" Target="slides/slide20.xml" Type="http://schemas.openxmlformats.org/officeDocument/2006/relationships/slide"/><Relationship Id="rId26" Target="slides/slide21.xml" Type="http://schemas.openxmlformats.org/officeDocument/2006/relationships/slide"/><Relationship Id="rId27" Target="slides/slide22.xml" Type="http://schemas.openxmlformats.org/officeDocument/2006/relationships/slide"/><Relationship Id="rId28" Target="slides/slide23.xml" Type="http://schemas.openxmlformats.org/officeDocument/2006/relationships/slide"/><Relationship Id="rId29" Target="slides/slide24.xml" Type="http://schemas.openxmlformats.org/officeDocument/2006/relationships/slide"/><Relationship Id="rId3" Target="viewProps.xml" Type="http://schemas.openxmlformats.org/officeDocument/2006/relationships/viewProps"/><Relationship Id="rId30" Target="slides/slide25.xml" Type="http://schemas.openxmlformats.org/officeDocument/2006/relationships/slide"/><Relationship Id="rId31" Target="slides/slide26.xml" Type="http://schemas.openxmlformats.org/officeDocument/2006/relationships/slide"/><Relationship Id="rId32" Target="slides/slide27.xml" Type="http://schemas.openxmlformats.org/officeDocument/2006/relationships/slide"/><Relationship Id="rId33" Target="slides/slide28.xml" Type="http://schemas.openxmlformats.org/officeDocument/2006/relationships/slide"/><Relationship Id="rId34" Target="slides/slide29.xml" Type="http://schemas.openxmlformats.org/officeDocument/2006/relationships/slide"/><Relationship Id="rId35" Target="slides/slide30.xml" Type="http://schemas.openxmlformats.org/officeDocument/2006/relationships/slide"/><Relationship Id="rId36" Target="slides/slide31.xml" Type="http://schemas.openxmlformats.org/officeDocument/2006/relationships/slide"/><Relationship Id="rId37" Target="slides/slide32.xml" Type="http://schemas.openxmlformats.org/officeDocument/2006/relationships/slide"/><Relationship Id="rId38" Target="slides/slide33.xml" Type="http://schemas.openxmlformats.org/officeDocument/2006/relationships/slide"/><Relationship Id="rId39" Target="slides/slide34.xml" Type="http://schemas.openxmlformats.org/officeDocument/2006/relationships/slide"/><Relationship Id="rId4" Target="theme/theme1.xml" Type="http://schemas.openxmlformats.org/officeDocument/2006/relationships/theme"/><Relationship Id="rId40" Target="slides/slide35.xml" Type="http://schemas.openxmlformats.org/officeDocument/2006/relationships/slide"/><Relationship Id="rId41" Target="slides/slide36.xml" Type="http://schemas.openxmlformats.org/officeDocument/2006/relationships/slide"/><Relationship Id="rId42" Target="slides/slide37.xml" Type="http://schemas.openxmlformats.org/officeDocument/2006/relationships/slide"/><Relationship Id="rId43" Target="slides/slide38.xml" Type="http://schemas.openxmlformats.org/officeDocument/2006/relationships/slide"/><Relationship Id="rId44" Target="slides/slide39.xml" Type="http://schemas.openxmlformats.org/officeDocument/2006/relationships/slide"/><Relationship Id="rId45" Target="slides/slide40.xml" Type="http://schemas.openxmlformats.org/officeDocument/2006/relationships/slide"/><Relationship Id="rId46" Target="slides/slide41.xml" Type="http://schemas.openxmlformats.org/officeDocument/2006/relationships/slide"/><Relationship Id="rId47" Target="slides/slide42.xml" Type="http://schemas.openxmlformats.org/officeDocument/2006/relationships/slide"/><Relationship Id="rId48" Target="slides/slide43.xml" Type="http://schemas.openxmlformats.org/officeDocument/2006/relationships/slide"/><Relationship Id="rId49" Target="slides/slide44.xml" Type="http://schemas.openxmlformats.org/officeDocument/2006/relationships/slide"/><Relationship Id="rId5" Target="tableStyles.xml" Type="http://schemas.openxmlformats.org/officeDocument/2006/relationships/tableStyles"/><Relationship Id="rId50" Target="slides/slide45.xml" Type="http://schemas.openxmlformats.org/officeDocument/2006/relationships/slide"/><Relationship Id="rId51" Target="slides/slide46.xml" Type="http://schemas.openxmlformats.org/officeDocument/2006/relationships/slide"/><Relationship Id="rId52" Target="fonts/font52.fntdata" Type="http://schemas.openxmlformats.org/officeDocument/2006/relationships/font"/><Relationship Id="rId53" Target="fonts/font53.fntdata" Type="http://schemas.openxmlformats.org/officeDocument/2006/relationships/font"/><Relationship Id="rId54" Target="fonts/font54.fntdata" Type="http://schemas.openxmlformats.org/officeDocument/2006/relationships/font"/><Relationship Id="rId55" Target="fonts/font55.fntdata" Type="http://schemas.openxmlformats.org/officeDocument/2006/relationships/font"/><Relationship Id="rId56" Target="fonts/font56.fntdata" Type="http://schemas.openxmlformats.org/officeDocument/2006/relationships/font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png" Type="http://schemas.openxmlformats.org/officeDocument/2006/relationships/image"/><Relationship Id="rId4" Target="../media/image3.svg" Type="http://schemas.openxmlformats.org/officeDocument/2006/relationships/image"/><Relationship Id="rId5" Target="../media/image4.png" Type="http://schemas.openxmlformats.org/officeDocument/2006/relationships/image"/><Relationship Id="rId6" Target="../media/image5.svg" Type="http://schemas.openxmlformats.org/officeDocument/2006/relationships/image"/><Relationship Id="rId7" Target="../media/image6.png" Type="http://schemas.openxmlformats.org/officeDocument/2006/relationships/image"/><Relationship Id="rId8" Target="../media/image7.sv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4.png" Type="http://schemas.openxmlformats.org/officeDocument/2006/relationships/image"/><Relationship Id="rId3" Target="../media/image5.svg" Type="http://schemas.openxmlformats.org/officeDocument/2006/relationships/image"/><Relationship Id="rId4" Target="../media/image6.png" Type="http://schemas.openxmlformats.org/officeDocument/2006/relationships/image"/><Relationship Id="rId5" Target="../media/image7.svg" Type="http://schemas.openxmlformats.org/officeDocument/2006/relationships/image"/><Relationship Id="rId6" Target="../media/image2.png" Type="http://schemas.openxmlformats.org/officeDocument/2006/relationships/image"/><Relationship Id="rId7" Target="../media/image3.sv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8.png" Type="http://schemas.openxmlformats.org/officeDocument/2006/relationships/image"/><Relationship Id="rId3" Target="../media/image6.png" Type="http://schemas.openxmlformats.org/officeDocument/2006/relationships/image"/><Relationship Id="rId4" Target="../media/image7.sv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4.png" Type="http://schemas.openxmlformats.org/officeDocument/2006/relationships/image"/><Relationship Id="rId3" Target="../media/image5.svg" Type="http://schemas.openxmlformats.org/officeDocument/2006/relationships/image"/><Relationship Id="rId4" Target="../media/image6.png" Type="http://schemas.openxmlformats.org/officeDocument/2006/relationships/image"/><Relationship Id="rId5" Target="../media/image7.svg" Type="http://schemas.openxmlformats.org/officeDocument/2006/relationships/image"/><Relationship Id="rId6" Target="../media/image2.png" Type="http://schemas.openxmlformats.org/officeDocument/2006/relationships/image"/><Relationship Id="rId7" Target="../media/image3.svg" Type="http://schemas.openxmlformats.org/officeDocument/2006/relationships/image"/><Relationship Id="rId8" Target="../media/image9.pn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4.png" Type="http://schemas.openxmlformats.org/officeDocument/2006/relationships/image"/><Relationship Id="rId3" Target="../media/image5.svg" Type="http://schemas.openxmlformats.org/officeDocument/2006/relationships/image"/><Relationship Id="rId4" Target="../media/image6.png" Type="http://schemas.openxmlformats.org/officeDocument/2006/relationships/image"/><Relationship Id="rId5" Target="../media/image7.svg" Type="http://schemas.openxmlformats.org/officeDocument/2006/relationships/image"/><Relationship Id="rId6" Target="../media/image2.png" Type="http://schemas.openxmlformats.org/officeDocument/2006/relationships/image"/><Relationship Id="rId7" Target="../media/image3.svg" Type="http://schemas.openxmlformats.org/officeDocument/2006/relationships/image"/><Relationship Id="rId8" Target="../media/image10.png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4.png" Type="http://schemas.openxmlformats.org/officeDocument/2006/relationships/image"/><Relationship Id="rId3" Target="../media/image5.svg" Type="http://schemas.openxmlformats.org/officeDocument/2006/relationships/image"/><Relationship Id="rId4" Target="../media/image6.png" Type="http://schemas.openxmlformats.org/officeDocument/2006/relationships/image"/><Relationship Id="rId5" Target="../media/image7.svg" Type="http://schemas.openxmlformats.org/officeDocument/2006/relationships/image"/><Relationship Id="rId6" Target="../media/image2.png" Type="http://schemas.openxmlformats.org/officeDocument/2006/relationships/image"/><Relationship Id="rId7" Target="../media/image3.svg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6.png" Type="http://schemas.openxmlformats.org/officeDocument/2006/relationships/image"/><Relationship Id="rId3" Target="../media/image7.svg" Type="http://schemas.openxmlformats.org/officeDocument/2006/relationships/image"/><Relationship Id="rId4" Target="../media/image2.png" Type="http://schemas.openxmlformats.org/officeDocument/2006/relationships/image"/><Relationship Id="rId5" Target="../media/image3.svg" Type="http://schemas.openxmlformats.org/officeDocument/2006/relationships/image"/><Relationship Id="rId6" Target="../media/image11.png" Type="http://schemas.openxmlformats.org/officeDocument/2006/relationships/image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6.png" Type="http://schemas.openxmlformats.org/officeDocument/2006/relationships/image"/><Relationship Id="rId3" Target="../media/image7.svg" Type="http://schemas.openxmlformats.org/officeDocument/2006/relationships/image"/><Relationship Id="rId4" Target="../media/image2.png" Type="http://schemas.openxmlformats.org/officeDocument/2006/relationships/image"/><Relationship Id="rId5" Target="../media/image3.svg" Type="http://schemas.openxmlformats.org/officeDocument/2006/relationships/image"/><Relationship Id="rId6" Target="../media/image11.png" Type="http://schemas.openxmlformats.org/officeDocument/2006/relationships/image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6.png" Type="http://schemas.openxmlformats.org/officeDocument/2006/relationships/image"/><Relationship Id="rId3" Target="../media/image7.svg" Type="http://schemas.openxmlformats.org/officeDocument/2006/relationships/image"/><Relationship Id="rId4" Target="../media/image2.png" Type="http://schemas.openxmlformats.org/officeDocument/2006/relationships/image"/><Relationship Id="rId5" Target="../media/image3.svg" Type="http://schemas.openxmlformats.org/officeDocument/2006/relationships/image"/><Relationship Id="rId6" Target="../media/image12.png" Type="http://schemas.openxmlformats.org/officeDocument/2006/relationships/image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6.png" Type="http://schemas.openxmlformats.org/officeDocument/2006/relationships/image"/><Relationship Id="rId3" Target="../media/image7.svg" Type="http://schemas.openxmlformats.org/officeDocument/2006/relationships/image"/><Relationship Id="rId4" Target="../media/image2.png" Type="http://schemas.openxmlformats.org/officeDocument/2006/relationships/image"/><Relationship Id="rId5" Target="../media/image3.svg" Type="http://schemas.openxmlformats.org/officeDocument/2006/relationships/image"/><Relationship Id="rId6" Target="../media/image12.png" Type="http://schemas.openxmlformats.org/officeDocument/2006/relationships/image"/></Relationships>
</file>

<file path=ppt/slides/_rels/slide1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6.png" Type="http://schemas.openxmlformats.org/officeDocument/2006/relationships/image"/><Relationship Id="rId3" Target="../media/image7.svg" Type="http://schemas.openxmlformats.org/officeDocument/2006/relationships/image"/><Relationship Id="rId4" Target="../media/image2.png" Type="http://schemas.openxmlformats.org/officeDocument/2006/relationships/image"/><Relationship Id="rId5" Target="../media/image3.svg" Type="http://schemas.openxmlformats.org/officeDocument/2006/relationships/image"/><Relationship Id="rId6" Target="../media/image13.png" Type="http://schemas.openxmlformats.org/officeDocument/2006/relationships/image"/></Relationships>
</file>

<file path=ppt/slides/_rels/slide1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6.png" Type="http://schemas.openxmlformats.org/officeDocument/2006/relationships/image"/><Relationship Id="rId3" Target="../media/image7.svg" Type="http://schemas.openxmlformats.org/officeDocument/2006/relationships/image"/><Relationship Id="rId4" Target="../media/image2.png" Type="http://schemas.openxmlformats.org/officeDocument/2006/relationships/image"/><Relationship Id="rId5" Target="../media/image3.svg" Type="http://schemas.openxmlformats.org/officeDocument/2006/relationships/image"/><Relationship Id="rId6" Target="../media/image13.png" Type="http://schemas.openxmlformats.org/officeDocument/2006/relationships/image"/></Relationships>
</file>

<file path=ppt/slides/_rels/slide1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6.png" Type="http://schemas.openxmlformats.org/officeDocument/2006/relationships/image"/><Relationship Id="rId3" Target="../media/image7.svg" Type="http://schemas.openxmlformats.org/officeDocument/2006/relationships/image"/><Relationship Id="rId4" Target="../media/image2.png" Type="http://schemas.openxmlformats.org/officeDocument/2006/relationships/image"/><Relationship Id="rId5" Target="../media/image3.svg" Type="http://schemas.openxmlformats.org/officeDocument/2006/relationships/image"/><Relationship Id="rId6" Target="../media/image14.png" Type="http://schemas.openxmlformats.org/officeDocument/2006/relationships/image"/></Relationships>
</file>

<file path=ppt/slides/_rels/slide1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6.png" Type="http://schemas.openxmlformats.org/officeDocument/2006/relationships/image"/><Relationship Id="rId3" Target="../media/image7.svg" Type="http://schemas.openxmlformats.org/officeDocument/2006/relationships/image"/><Relationship Id="rId4" Target="../media/image2.png" Type="http://schemas.openxmlformats.org/officeDocument/2006/relationships/image"/><Relationship Id="rId5" Target="../media/image3.svg" Type="http://schemas.openxmlformats.org/officeDocument/2006/relationships/image"/><Relationship Id="rId6" Target="../media/image14.png" Type="http://schemas.openxmlformats.org/officeDocument/2006/relationships/image"/></Relationships>
</file>

<file path=ppt/slides/_rels/slide1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5.png" Type="http://schemas.openxmlformats.org/officeDocument/2006/relationships/image"/></Relationships>
</file>

<file path=ppt/slides/_rels/slide1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6.jpeg" Type="http://schemas.openxmlformats.org/officeDocument/2006/relationships/image"/></Relationships>
</file>

<file path=ppt/slides/_rels/slide1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6.jpeg" Type="http://schemas.openxmlformats.org/officeDocument/2006/relationships/image"/></Relationships>
</file>

<file path=ppt/slides/_rels/slide1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6.jpeg" Type="http://schemas.openxmlformats.org/officeDocument/2006/relationships/image"/><Relationship Id="rId3" Target="../media/image17.jpeg" Type="http://schemas.openxmlformats.org/officeDocument/2006/relationships/image"/><Relationship Id="rId4" Target="../media/VAHJjeFYHc8.mp4" Type="http://schemas.openxmlformats.org/officeDocument/2006/relationships/video"/><Relationship Id="rId5" Target="../media/VAHJjeFYHc8.mp4" Type="http://schemas.microsoft.com/office/2007/relationships/media"/></Relationships>
</file>

<file path=ppt/slides/_rels/slide1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6.png" Type="http://schemas.openxmlformats.org/officeDocument/2006/relationships/image"/><Relationship Id="rId3" Target="../media/image7.svg" Type="http://schemas.openxmlformats.org/officeDocument/2006/relationships/image"/><Relationship Id="rId4" Target="../media/image2.png" Type="http://schemas.openxmlformats.org/officeDocument/2006/relationships/image"/><Relationship Id="rId5" Target="../media/image3.svg" Type="http://schemas.openxmlformats.org/officeDocument/2006/relationships/image"/></Relationships>
</file>

<file path=ppt/slides/_rels/slide2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4.png" Type="http://schemas.openxmlformats.org/officeDocument/2006/relationships/image"/><Relationship Id="rId3" Target="../media/image5.svg" Type="http://schemas.openxmlformats.org/officeDocument/2006/relationships/image"/><Relationship Id="rId4" Target="../media/image6.png" Type="http://schemas.openxmlformats.org/officeDocument/2006/relationships/image"/><Relationship Id="rId5" Target="../media/image7.svg" Type="http://schemas.openxmlformats.org/officeDocument/2006/relationships/image"/><Relationship Id="rId6" Target="../media/image2.png" Type="http://schemas.openxmlformats.org/officeDocument/2006/relationships/image"/><Relationship Id="rId7" Target="../media/image3.svg" Type="http://schemas.openxmlformats.org/officeDocument/2006/relationships/image"/></Relationships>
</file>

<file path=ppt/slides/_rels/slide2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8.png" Type="http://schemas.openxmlformats.org/officeDocument/2006/relationships/image"/><Relationship Id="rId3" Target="../media/image2.png" Type="http://schemas.openxmlformats.org/officeDocument/2006/relationships/image"/><Relationship Id="rId4" Target="../media/image3.svg" Type="http://schemas.openxmlformats.org/officeDocument/2006/relationships/image"/></Relationships>
</file>

<file path=ppt/slides/_rels/slide2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8.png" Type="http://schemas.openxmlformats.org/officeDocument/2006/relationships/image"/><Relationship Id="rId3" Target="../media/image2.png" Type="http://schemas.openxmlformats.org/officeDocument/2006/relationships/image"/><Relationship Id="rId4" Target="../media/image3.svg" Type="http://schemas.openxmlformats.org/officeDocument/2006/relationships/image"/><Relationship Id="rId5" Target="../media/image19.jpeg" Type="http://schemas.openxmlformats.org/officeDocument/2006/relationships/image"/><Relationship Id="rId6" Target="../media/VAHJjlPdfJY.mp4" Type="http://schemas.openxmlformats.org/officeDocument/2006/relationships/video"/><Relationship Id="rId7" Target="../media/VAHJjlPdfJY.mp4" Type="http://schemas.microsoft.com/office/2007/relationships/media"/></Relationships>
</file>

<file path=ppt/slides/_rels/slide2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4.png" Type="http://schemas.openxmlformats.org/officeDocument/2006/relationships/image"/><Relationship Id="rId3" Target="../media/image5.svg" Type="http://schemas.openxmlformats.org/officeDocument/2006/relationships/image"/><Relationship Id="rId4" Target="../media/image6.png" Type="http://schemas.openxmlformats.org/officeDocument/2006/relationships/image"/><Relationship Id="rId5" Target="../media/image7.svg" Type="http://schemas.openxmlformats.org/officeDocument/2006/relationships/image"/></Relationships>
</file>

<file path=ppt/slides/_rels/slide2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4.png" Type="http://schemas.openxmlformats.org/officeDocument/2006/relationships/image"/><Relationship Id="rId3" Target="../media/image5.svg" Type="http://schemas.openxmlformats.org/officeDocument/2006/relationships/image"/><Relationship Id="rId4" Target="../media/image6.png" Type="http://schemas.openxmlformats.org/officeDocument/2006/relationships/image"/><Relationship Id="rId5" Target="../media/image7.svg" Type="http://schemas.openxmlformats.org/officeDocument/2006/relationships/image"/><Relationship Id="rId6" Target="../media/image20.jpeg" Type="http://schemas.openxmlformats.org/officeDocument/2006/relationships/image"/><Relationship Id="rId7" Target="../media/VAHJju7116E.mp4" Type="http://schemas.openxmlformats.org/officeDocument/2006/relationships/video"/><Relationship Id="rId8" Target="../media/VAHJju7116E.mp4" Type="http://schemas.microsoft.com/office/2007/relationships/media"/></Relationships>
</file>

<file path=ppt/slides/_rels/slide2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4.png" Type="http://schemas.openxmlformats.org/officeDocument/2006/relationships/image"/><Relationship Id="rId3" Target="../media/image5.svg" Type="http://schemas.openxmlformats.org/officeDocument/2006/relationships/image"/><Relationship Id="rId4" Target="../media/image6.png" Type="http://schemas.openxmlformats.org/officeDocument/2006/relationships/image"/><Relationship Id="rId5" Target="../media/image7.svg" Type="http://schemas.openxmlformats.org/officeDocument/2006/relationships/image"/><Relationship Id="rId6" Target="../media/image21.png" Type="http://schemas.openxmlformats.org/officeDocument/2006/relationships/image"/></Relationships>
</file>

<file path=ppt/slides/_rels/slide2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2.png" Type="http://schemas.openxmlformats.org/officeDocument/2006/relationships/image"/><Relationship Id="rId3" Target="../embeddings/oleObject1.bin" Type="http://schemas.openxmlformats.org/officeDocument/2006/relationships/oleObject"/><Relationship Id="rId4" Target="../media/image4.png" Type="http://schemas.openxmlformats.org/officeDocument/2006/relationships/image"/><Relationship Id="rId5" Target="../media/image5.svg" Type="http://schemas.openxmlformats.org/officeDocument/2006/relationships/image"/><Relationship Id="rId6" Target="../media/image6.png" Type="http://schemas.openxmlformats.org/officeDocument/2006/relationships/image"/><Relationship Id="rId7" Target="../media/image7.svg" Type="http://schemas.openxmlformats.org/officeDocument/2006/relationships/image"/></Relationships>
</file>

<file path=ppt/slides/_rels/slide2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3.png" Type="http://schemas.openxmlformats.org/officeDocument/2006/relationships/image"/><Relationship Id="rId3" Target="../embeddings/oleObject2.bin" Type="http://schemas.openxmlformats.org/officeDocument/2006/relationships/oleObject"/></Relationships>
</file>

<file path=ppt/slides/_rels/slide2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4.png" Type="http://schemas.openxmlformats.org/officeDocument/2006/relationships/image"/><Relationship Id="rId3" Target="../embeddings/oleObject3.bin" Type="http://schemas.openxmlformats.org/officeDocument/2006/relationships/oleObject"/><Relationship Id="rId4" Target="../media/image25.png" Type="http://schemas.openxmlformats.org/officeDocument/2006/relationships/image"/><Relationship Id="rId5" Target="../embeddings/oleObject4.bin" Type="http://schemas.openxmlformats.org/officeDocument/2006/relationships/oleObject"/><Relationship Id="rId6" Target="../media/image26.png" Type="http://schemas.openxmlformats.org/officeDocument/2006/relationships/image"/><Relationship Id="rId7" Target="../embeddings/oleObject5.bin" Type="http://schemas.openxmlformats.org/officeDocument/2006/relationships/oleObject"/><Relationship Id="rId8" Target="../media/image27.png" Type="http://schemas.openxmlformats.org/officeDocument/2006/relationships/image"/><Relationship Id="rId9" Target="../embeddings/oleObject6.bin" Type="http://schemas.openxmlformats.org/officeDocument/2006/relationships/oleObject"/></Relationships>
</file>

<file path=ppt/slides/_rels/slide2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6.png" Type="http://schemas.openxmlformats.org/officeDocument/2006/relationships/image"/><Relationship Id="rId11" Target="../media/image7.svg" Type="http://schemas.openxmlformats.org/officeDocument/2006/relationships/image"/><Relationship Id="rId2" Target="../media/image28.png" Type="http://schemas.openxmlformats.org/officeDocument/2006/relationships/image"/><Relationship Id="rId3" Target="../embeddings/oleObject7.bin" Type="http://schemas.openxmlformats.org/officeDocument/2006/relationships/oleObject"/><Relationship Id="rId4" Target="../media/image29.png" Type="http://schemas.openxmlformats.org/officeDocument/2006/relationships/image"/><Relationship Id="rId5" Target="../embeddings/oleObject8.bin" Type="http://schemas.openxmlformats.org/officeDocument/2006/relationships/oleObject"/><Relationship Id="rId6" Target="../media/image30.png" Type="http://schemas.openxmlformats.org/officeDocument/2006/relationships/image"/><Relationship Id="rId7" Target="../embeddings/oleObject9.bin" Type="http://schemas.openxmlformats.org/officeDocument/2006/relationships/oleObject"/><Relationship Id="rId8" Target="../media/image4.png" Type="http://schemas.openxmlformats.org/officeDocument/2006/relationships/image"/><Relationship Id="rId9" Target="../media/image5.svg" Type="http://schemas.openxmlformats.org/officeDocument/2006/relationships/image"/></Relationships>
</file>

<file path=ppt/slides/_rels/slide3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1.jpeg" Type="http://schemas.openxmlformats.org/officeDocument/2006/relationships/image"/><Relationship Id="rId3" Target="../media/VAHJj0W0Df8.mp4" Type="http://schemas.openxmlformats.org/officeDocument/2006/relationships/video"/><Relationship Id="rId4" Target="../media/VAHJj0W0Df8.mp4" Type="http://schemas.microsoft.com/office/2007/relationships/media"/></Relationships>
</file>

<file path=ppt/slides/_rels/slide3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4.png" Type="http://schemas.openxmlformats.org/officeDocument/2006/relationships/image"/><Relationship Id="rId3" Target="../media/image5.svg" Type="http://schemas.openxmlformats.org/officeDocument/2006/relationships/image"/><Relationship Id="rId4" Target="../media/image6.png" Type="http://schemas.openxmlformats.org/officeDocument/2006/relationships/image"/><Relationship Id="rId5" Target="../media/image7.svg" Type="http://schemas.openxmlformats.org/officeDocument/2006/relationships/image"/></Relationships>
</file>

<file path=ppt/slides/_rels/slide3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2.png" Type="http://schemas.openxmlformats.org/officeDocument/2006/relationships/image"/><Relationship Id="rId3" Target="../media/image4.png" Type="http://schemas.openxmlformats.org/officeDocument/2006/relationships/image"/><Relationship Id="rId4" Target="../media/image5.svg" Type="http://schemas.openxmlformats.org/officeDocument/2006/relationships/image"/><Relationship Id="rId5" Target="../media/image6.png" Type="http://schemas.openxmlformats.org/officeDocument/2006/relationships/image"/><Relationship Id="rId6" Target="../media/image7.svg" Type="http://schemas.openxmlformats.org/officeDocument/2006/relationships/image"/></Relationships>
</file>

<file path=ppt/slides/_rels/slide3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2.png" Type="http://schemas.openxmlformats.org/officeDocument/2006/relationships/image"/><Relationship Id="rId3" Target="../media/image4.png" Type="http://schemas.openxmlformats.org/officeDocument/2006/relationships/image"/><Relationship Id="rId4" Target="../media/image5.svg" Type="http://schemas.openxmlformats.org/officeDocument/2006/relationships/image"/><Relationship Id="rId5" Target="../media/image6.png" Type="http://schemas.openxmlformats.org/officeDocument/2006/relationships/image"/><Relationship Id="rId6" Target="../media/image7.svg" Type="http://schemas.openxmlformats.org/officeDocument/2006/relationships/image"/><Relationship Id="rId7" Target="../media/image33.jpeg" Type="http://schemas.openxmlformats.org/officeDocument/2006/relationships/image"/><Relationship Id="rId8" Target="../media/VAHJlBN2HgI.mp4" Type="http://schemas.openxmlformats.org/officeDocument/2006/relationships/video"/><Relationship Id="rId9" Target="../media/VAHJlBN2HgI.mp4" Type="http://schemas.microsoft.com/office/2007/relationships/media"/></Relationships>
</file>

<file path=ppt/slides/_rels/slide3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4.png" Type="http://schemas.openxmlformats.org/officeDocument/2006/relationships/image"/><Relationship Id="rId3" Target="../media/image5.svg" Type="http://schemas.openxmlformats.org/officeDocument/2006/relationships/image"/><Relationship Id="rId4" Target="../media/image6.png" Type="http://schemas.openxmlformats.org/officeDocument/2006/relationships/image"/><Relationship Id="rId5" Target="../media/image7.svg" Type="http://schemas.openxmlformats.org/officeDocument/2006/relationships/image"/><Relationship Id="rId6" Target="../media/image34.png" Type="http://schemas.openxmlformats.org/officeDocument/2006/relationships/image"/></Relationships>
</file>

<file path=ppt/slides/_rels/slide3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4.png" Type="http://schemas.openxmlformats.org/officeDocument/2006/relationships/image"/><Relationship Id="rId3" Target="../media/image5.svg" Type="http://schemas.openxmlformats.org/officeDocument/2006/relationships/image"/><Relationship Id="rId4" Target="../media/image6.png" Type="http://schemas.openxmlformats.org/officeDocument/2006/relationships/image"/><Relationship Id="rId5" Target="../media/image7.svg" Type="http://schemas.openxmlformats.org/officeDocument/2006/relationships/image"/><Relationship Id="rId6" Target="../media/image34.png" Type="http://schemas.openxmlformats.org/officeDocument/2006/relationships/image"/><Relationship Id="rId7" Target="../media/image35.jpeg" Type="http://schemas.openxmlformats.org/officeDocument/2006/relationships/image"/><Relationship Id="rId8" Target="../media/VAHJlDGecb4.mp4" Type="http://schemas.openxmlformats.org/officeDocument/2006/relationships/video"/><Relationship Id="rId9" Target="../media/VAHJlDGecb4.mp4" Type="http://schemas.microsoft.com/office/2007/relationships/media"/></Relationships>
</file>

<file path=ppt/slides/_rels/slide3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4.png" Type="http://schemas.openxmlformats.org/officeDocument/2006/relationships/image"/><Relationship Id="rId3" Target="../media/image5.svg" Type="http://schemas.openxmlformats.org/officeDocument/2006/relationships/image"/><Relationship Id="rId4" Target="../media/image6.png" Type="http://schemas.openxmlformats.org/officeDocument/2006/relationships/image"/><Relationship Id="rId5" Target="../media/image7.svg" Type="http://schemas.openxmlformats.org/officeDocument/2006/relationships/image"/><Relationship Id="rId6" Target="../media/image36.jpeg" Type="http://schemas.openxmlformats.org/officeDocument/2006/relationships/image"/><Relationship Id="rId7" Target="../media/VAHJnSmQVZM.mp4" Type="http://schemas.openxmlformats.org/officeDocument/2006/relationships/video"/><Relationship Id="rId8" Target="../media/VAHJnSmQVZM.mp4" Type="http://schemas.microsoft.com/office/2007/relationships/media"/></Relationships>
</file>

<file path=ppt/slides/_rels/slide3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4.png" Type="http://schemas.openxmlformats.org/officeDocument/2006/relationships/image"/><Relationship Id="rId3" Target="../media/image5.svg" Type="http://schemas.openxmlformats.org/officeDocument/2006/relationships/image"/><Relationship Id="rId4" Target="../media/image6.png" Type="http://schemas.openxmlformats.org/officeDocument/2006/relationships/image"/><Relationship Id="rId5" Target="../media/image7.svg" Type="http://schemas.openxmlformats.org/officeDocument/2006/relationships/image"/><Relationship Id="rId6" Target="../media/image37.png" Type="http://schemas.openxmlformats.org/officeDocument/2006/relationships/image"/><Relationship Id="rId7" Target="../media/image38.png" Type="http://schemas.openxmlformats.org/officeDocument/2006/relationships/image"/><Relationship Id="rId8" Target="../media/image39.png" Type="http://schemas.openxmlformats.org/officeDocument/2006/relationships/image"/><Relationship Id="rId9" Target="../media/image40.png" Type="http://schemas.openxmlformats.org/officeDocument/2006/relationships/image"/></Relationships>
</file>

<file path=ppt/slides/_rels/slide3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4.png" Type="http://schemas.openxmlformats.org/officeDocument/2006/relationships/image"/><Relationship Id="rId3" Target="../media/image5.svg" Type="http://schemas.openxmlformats.org/officeDocument/2006/relationships/image"/><Relationship Id="rId4" Target="../media/image6.png" Type="http://schemas.openxmlformats.org/officeDocument/2006/relationships/image"/><Relationship Id="rId5" Target="../media/image7.svg" Type="http://schemas.openxmlformats.org/officeDocument/2006/relationships/image"/><Relationship Id="rId6" Target="../media/image41.png" Type="http://schemas.openxmlformats.org/officeDocument/2006/relationships/image"/><Relationship Id="rId7" Target="../media/image42.png" Type="http://schemas.openxmlformats.org/officeDocument/2006/relationships/image"/><Relationship Id="rId8" Target="../media/image43.png" Type="http://schemas.openxmlformats.org/officeDocument/2006/relationships/image"/><Relationship Id="rId9" Target="../media/image44.png" Type="http://schemas.openxmlformats.org/officeDocument/2006/relationships/image"/></Relationships>
</file>

<file path=ppt/slides/_rels/slide3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4.png" Type="http://schemas.openxmlformats.org/officeDocument/2006/relationships/image"/><Relationship Id="rId3" Target="../media/image5.svg" Type="http://schemas.openxmlformats.org/officeDocument/2006/relationships/image"/><Relationship Id="rId4" Target="../media/image6.png" Type="http://schemas.openxmlformats.org/officeDocument/2006/relationships/image"/><Relationship Id="rId5" Target="../media/image7.svg" Type="http://schemas.openxmlformats.org/officeDocument/2006/relationships/image"/><Relationship Id="rId6" Target="../media/image45.jpeg" Type="http://schemas.openxmlformats.org/officeDocument/2006/relationships/image"/><Relationship Id="rId7" Target="../media/VAHJlDsLKbg.mp4" Type="http://schemas.openxmlformats.org/officeDocument/2006/relationships/video"/><Relationship Id="rId8" Target="../media/VAHJlDsLKbg.mp4" Type="http://schemas.microsoft.com/office/2007/relationships/media"/></Relationships>
</file>

<file path=ppt/slides/_rels/slide4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4.png" Type="http://schemas.openxmlformats.org/officeDocument/2006/relationships/image"/><Relationship Id="rId3" Target="../media/image5.svg" Type="http://schemas.openxmlformats.org/officeDocument/2006/relationships/image"/><Relationship Id="rId4" Target="../media/image6.png" Type="http://schemas.openxmlformats.org/officeDocument/2006/relationships/image"/><Relationship Id="rId5" Target="../media/image7.svg" Type="http://schemas.openxmlformats.org/officeDocument/2006/relationships/image"/><Relationship Id="rId6" Target="../media/image46.png" Type="http://schemas.openxmlformats.org/officeDocument/2006/relationships/image"/></Relationships>
</file>

<file path=ppt/slides/_rels/slide4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4.png" Type="http://schemas.openxmlformats.org/officeDocument/2006/relationships/image"/><Relationship Id="rId3" Target="../media/image5.svg" Type="http://schemas.openxmlformats.org/officeDocument/2006/relationships/image"/><Relationship Id="rId4" Target="../media/image6.png" Type="http://schemas.openxmlformats.org/officeDocument/2006/relationships/image"/><Relationship Id="rId5" Target="../media/image7.svg" Type="http://schemas.openxmlformats.org/officeDocument/2006/relationships/image"/><Relationship Id="rId6" Target="../media/image47.png" Type="http://schemas.openxmlformats.org/officeDocument/2006/relationships/image"/><Relationship Id="rId7" Target="../media/image48.png" Type="http://schemas.openxmlformats.org/officeDocument/2006/relationships/image"/><Relationship Id="rId8" Target="../media/image49.png" Type="http://schemas.openxmlformats.org/officeDocument/2006/relationships/image"/><Relationship Id="rId9" Target="../media/image50.png" Type="http://schemas.openxmlformats.org/officeDocument/2006/relationships/image"/></Relationships>
</file>

<file path=ppt/slides/_rels/slide4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4.png" Type="http://schemas.openxmlformats.org/officeDocument/2006/relationships/image"/><Relationship Id="rId3" Target="../media/image5.svg" Type="http://schemas.openxmlformats.org/officeDocument/2006/relationships/image"/><Relationship Id="rId4" Target="../media/image6.png" Type="http://schemas.openxmlformats.org/officeDocument/2006/relationships/image"/><Relationship Id="rId5" Target="../media/image7.svg" Type="http://schemas.openxmlformats.org/officeDocument/2006/relationships/image"/><Relationship Id="rId6" Target="../media/image51.png" Type="http://schemas.openxmlformats.org/officeDocument/2006/relationships/image"/><Relationship Id="rId7" Target="../media/image52.png" Type="http://schemas.openxmlformats.org/officeDocument/2006/relationships/image"/><Relationship Id="rId8" Target="../media/image53.png" Type="http://schemas.openxmlformats.org/officeDocument/2006/relationships/image"/><Relationship Id="rId9" Target="../media/image54.png" Type="http://schemas.openxmlformats.org/officeDocument/2006/relationships/image"/></Relationships>
</file>

<file path=ppt/slides/_rels/slide4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55.jpeg" Type="http://schemas.openxmlformats.org/officeDocument/2006/relationships/image"/><Relationship Id="rId11" Target="../media/VAHJlKi0rCQ.mp4" Type="http://schemas.openxmlformats.org/officeDocument/2006/relationships/video"/><Relationship Id="rId12" Target="../media/VAHJlKi0rCQ.mp4" Type="http://schemas.microsoft.com/office/2007/relationships/media"/><Relationship Id="rId2" Target="../media/image4.png" Type="http://schemas.openxmlformats.org/officeDocument/2006/relationships/image"/><Relationship Id="rId3" Target="../media/image5.svg" Type="http://schemas.openxmlformats.org/officeDocument/2006/relationships/image"/><Relationship Id="rId4" Target="../media/image6.png" Type="http://schemas.openxmlformats.org/officeDocument/2006/relationships/image"/><Relationship Id="rId5" Target="../media/image7.svg" Type="http://schemas.openxmlformats.org/officeDocument/2006/relationships/image"/><Relationship Id="rId6" Target="../media/image51.png" Type="http://schemas.openxmlformats.org/officeDocument/2006/relationships/image"/><Relationship Id="rId7" Target="../media/image52.png" Type="http://schemas.openxmlformats.org/officeDocument/2006/relationships/image"/><Relationship Id="rId8" Target="../media/image53.png" Type="http://schemas.openxmlformats.org/officeDocument/2006/relationships/image"/><Relationship Id="rId9" Target="../media/image54.png" Type="http://schemas.openxmlformats.org/officeDocument/2006/relationships/image"/></Relationships>
</file>

<file path=ppt/slides/_rels/slide4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4.png" Type="http://schemas.openxmlformats.org/officeDocument/2006/relationships/image"/><Relationship Id="rId3" Target="../media/image5.svg" Type="http://schemas.openxmlformats.org/officeDocument/2006/relationships/image"/><Relationship Id="rId4" Target="../media/image6.png" Type="http://schemas.openxmlformats.org/officeDocument/2006/relationships/image"/><Relationship Id="rId5" Target="../media/image7.svg" Type="http://schemas.openxmlformats.org/officeDocument/2006/relationships/image"/><Relationship Id="rId6" Target="../media/image2.png" Type="http://schemas.openxmlformats.org/officeDocument/2006/relationships/image"/><Relationship Id="rId7" Target="../media/image3.svg" Type="http://schemas.openxmlformats.org/officeDocument/2006/relationships/image"/></Relationships>
</file>

<file path=ppt/slides/_rels/slide4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4.png" Type="http://schemas.openxmlformats.org/officeDocument/2006/relationships/image"/><Relationship Id="rId3" Target="../media/image5.svg" Type="http://schemas.openxmlformats.org/officeDocument/2006/relationships/image"/><Relationship Id="rId4" Target="../media/image6.png" Type="http://schemas.openxmlformats.org/officeDocument/2006/relationships/image"/><Relationship Id="rId5" Target="../media/image7.svg" Type="http://schemas.openxmlformats.org/officeDocument/2006/relationships/image"/><Relationship Id="rId6" Target="../media/image2.png" Type="http://schemas.openxmlformats.org/officeDocument/2006/relationships/image"/><Relationship Id="rId7" Target="../media/image3.svg" Type="http://schemas.openxmlformats.org/officeDocument/2006/relationships/image"/></Relationships>
</file>

<file path=ppt/slides/_rels/slide4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png" Type="http://schemas.openxmlformats.org/officeDocument/2006/relationships/image"/><Relationship Id="rId3" Target="../media/image3.svg" Type="http://schemas.openxmlformats.org/officeDocument/2006/relationships/image"/><Relationship Id="rId4" Target="../media/image4.png" Type="http://schemas.openxmlformats.org/officeDocument/2006/relationships/image"/><Relationship Id="rId5" Target="../media/image5.svg" Type="http://schemas.openxmlformats.org/officeDocument/2006/relationships/image"/><Relationship Id="rId6" Target="../media/image6.png" Type="http://schemas.openxmlformats.org/officeDocument/2006/relationships/image"/><Relationship Id="rId7" Target="../media/image7.sv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1E3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3148171" y="1700121"/>
            <a:ext cx="4140251" cy="4456484"/>
            <a:chOff x="0" y="0"/>
            <a:chExt cx="991229" cy="1066939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991229" cy="1066939"/>
            </a:xfrm>
            <a:custGeom>
              <a:avLst/>
              <a:gdLst/>
              <a:ahLst/>
              <a:cxnLst/>
              <a:rect r="r" b="b" t="t" l="l"/>
              <a:pathLst>
                <a:path h="1066939" w="991229">
                  <a:moveTo>
                    <a:pt x="186992" y="0"/>
                  </a:moveTo>
                  <a:lnTo>
                    <a:pt x="804237" y="0"/>
                  </a:lnTo>
                  <a:cubicBezTo>
                    <a:pt x="853831" y="0"/>
                    <a:pt x="901393" y="19701"/>
                    <a:pt x="936460" y="54769"/>
                  </a:cubicBezTo>
                  <a:cubicBezTo>
                    <a:pt x="971528" y="89836"/>
                    <a:pt x="991229" y="137398"/>
                    <a:pt x="991229" y="186992"/>
                  </a:cubicBezTo>
                  <a:lnTo>
                    <a:pt x="991229" y="879947"/>
                  </a:lnTo>
                  <a:cubicBezTo>
                    <a:pt x="991229" y="929541"/>
                    <a:pt x="971528" y="977103"/>
                    <a:pt x="936460" y="1012170"/>
                  </a:cubicBezTo>
                  <a:cubicBezTo>
                    <a:pt x="901393" y="1047238"/>
                    <a:pt x="853831" y="1066939"/>
                    <a:pt x="804237" y="1066939"/>
                  </a:cubicBezTo>
                  <a:lnTo>
                    <a:pt x="186992" y="1066939"/>
                  </a:lnTo>
                  <a:cubicBezTo>
                    <a:pt x="137398" y="1066939"/>
                    <a:pt x="89836" y="1047238"/>
                    <a:pt x="54769" y="1012170"/>
                  </a:cubicBezTo>
                  <a:cubicBezTo>
                    <a:pt x="19701" y="977103"/>
                    <a:pt x="0" y="929541"/>
                    <a:pt x="0" y="879947"/>
                  </a:cubicBezTo>
                  <a:lnTo>
                    <a:pt x="0" y="186992"/>
                  </a:lnTo>
                  <a:cubicBezTo>
                    <a:pt x="0" y="137398"/>
                    <a:pt x="19701" y="89836"/>
                    <a:pt x="54769" y="54769"/>
                  </a:cubicBezTo>
                  <a:cubicBezTo>
                    <a:pt x="89836" y="19701"/>
                    <a:pt x="137398" y="0"/>
                    <a:pt x="186992" y="0"/>
                  </a:cubicBezTo>
                  <a:close/>
                </a:path>
              </a:pathLst>
            </a:custGeom>
            <a:blipFill>
              <a:blip r:embed="rId2"/>
              <a:stretch>
                <a:fillRect l="-3819" t="0" r="-3819" b="0"/>
              </a:stretch>
            </a:blipFill>
          </p:spPr>
        </p:sp>
      </p:grpSp>
      <p:sp>
        <p:nvSpPr>
          <p:cNvPr name="Freeform 4" id="4"/>
          <p:cNvSpPr/>
          <p:nvPr/>
        </p:nvSpPr>
        <p:spPr>
          <a:xfrm flipH="false" flipV="false" rot="0">
            <a:off x="848298" y="7701041"/>
            <a:ext cx="1558087" cy="457083"/>
          </a:xfrm>
          <a:custGeom>
            <a:avLst/>
            <a:gdLst/>
            <a:ahLst/>
            <a:cxnLst/>
            <a:rect r="r" b="b" t="t" l="l"/>
            <a:pathLst>
              <a:path h="457083" w="1558087">
                <a:moveTo>
                  <a:pt x="0" y="0"/>
                </a:moveTo>
                <a:lnTo>
                  <a:pt x="1558087" y="0"/>
                </a:lnTo>
                <a:lnTo>
                  <a:pt x="1558087" y="457083"/>
                </a:lnTo>
                <a:lnTo>
                  <a:pt x="0" y="45708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6515015" y="4403275"/>
            <a:ext cx="1488570" cy="1480450"/>
          </a:xfrm>
          <a:custGeom>
            <a:avLst/>
            <a:gdLst/>
            <a:ahLst/>
            <a:cxnLst/>
            <a:rect r="r" b="b" t="t" l="l"/>
            <a:pathLst>
              <a:path h="1480450" w="1488570">
                <a:moveTo>
                  <a:pt x="0" y="0"/>
                </a:moveTo>
                <a:lnTo>
                  <a:pt x="1488570" y="0"/>
                </a:lnTo>
                <a:lnTo>
                  <a:pt x="1488570" y="1480450"/>
                </a:lnTo>
                <a:lnTo>
                  <a:pt x="0" y="1480450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5400000">
            <a:off x="4729465" y="-1904331"/>
            <a:ext cx="2385311" cy="4114800"/>
          </a:xfrm>
          <a:custGeom>
            <a:avLst/>
            <a:gdLst/>
            <a:ahLst/>
            <a:cxnLst/>
            <a:rect r="r" b="b" t="t" l="l"/>
            <a:pathLst>
              <a:path h="4114800" w="2385311">
                <a:moveTo>
                  <a:pt x="0" y="0"/>
                </a:moveTo>
                <a:lnTo>
                  <a:pt x="2385311" y="0"/>
                </a:lnTo>
                <a:lnTo>
                  <a:pt x="2385311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7" id="7"/>
          <p:cNvSpPr txBox="true"/>
          <p:nvPr/>
        </p:nvSpPr>
        <p:spPr>
          <a:xfrm rot="0">
            <a:off x="597285" y="1606016"/>
            <a:ext cx="11452690" cy="41643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7656"/>
              </a:lnSpc>
            </a:pPr>
            <a:r>
              <a:rPr lang="en-US" sz="7893">
                <a:solidFill>
                  <a:srgbClr val="1F1F25"/>
                </a:solidFill>
                <a:latin typeface="Agrandir"/>
                <a:ea typeface="Agrandir"/>
                <a:cs typeface="Agrandir"/>
                <a:sym typeface="Agrandir"/>
              </a:rPr>
              <a:t>MODELOS DE CLASIFICACIÓN </a:t>
            </a:r>
            <a:r>
              <a:rPr lang="en-US" sz="7893">
                <a:solidFill>
                  <a:srgbClr val="1F1F25"/>
                </a:solidFill>
                <a:latin typeface="Agrandir"/>
                <a:ea typeface="Agrandir"/>
                <a:cs typeface="Agrandir"/>
                <a:sym typeface="Agrandir"/>
              </a:rPr>
              <a:t>DE IM</a:t>
            </a:r>
            <a:r>
              <a:rPr lang="en-US" sz="7893">
                <a:solidFill>
                  <a:srgbClr val="1F1F25"/>
                </a:solidFill>
                <a:latin typeface="Agrandir"/>
                <a:ea typeface="Agrandir"/>
                <a:cs typeface="Agrandir"/>
                <a:sym typeface="Agrandir"/>
              </a:rPr>
              <a:t>Á</a:t>
            </a:r>
            <a:r>
              <a:rPr lang="en-US" sz="7893">
                <a:solidFill>
                  <a:srgbClr val="1F1F25"/>
                </a:solidFill>
                <a:latin typeface="Agrandir"/>
                <a:ea typeface="Agrandir"/>
                <a:cs typeface="Agrandir"/>
                <a:sym typeface="Agrandir"/>
              </a:rPr>
              <a:t>GENES DE TUMORES DE M</a:t>
            </a:r>
            <a:r>
              <a:rPr lang="en-US" sz="7893">
                <a:solidFill>
                  <a:srgbClr val="1F1F25"/>
                </a:solidFill>
                <a:latin typeface="Agrandir"/>
                <a:ea typeface="Agrandir"/>
                <a:cs typeface="Agrandir"/>
                <a:sym typeface="Agrandir"/>
              </a:rPr>
              <a:t>AMA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2615445" y="6473947"/>
            <a:ext cx="7484773" cy="43123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0" indent="0" lvl="0">
              <a:lnSpc>
                <a:spcPts val="3005"/>
              </a:lnSpc>
            </a:pPr>
            <a:r>
              <a:rPr lang="en-US" b="true" sz="2147">
                <a:solidFill>
                  <a:srgbClr val="1F1F25"/>
                </a:solidFill>
                <a:latin typeface="Agrandir Bold"/>
                <a:ea typeface="Agrandir Bold"/>
                <a:cs typeface="Agrandir Bold"/>
                <a:sym typeface="Agrandir Bold"/>
              </a:rPr>
              <a:t>Breast Cancer Project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217548" y="6618130"/>
            <a:ext cx="8178418" cy="53153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777"/>
              </a:lnSpc>
              <a:spcBef>
                <a:spcPct val="0"/>
              </a:spcBef>
            </a:pPr>
            <a:r>
              <a:rPr lang="en-US" sz="2698">
                <a:solidFill>
                  <a:srgbClr val="1F1F25"/>
                </a:solidFill>
                <a:latin typeface="Agrandir"/>
                <a:ea typeface="Agrandir"/>
                <a:cs typeface="Agrandir"/>
                <a:sym typeface="Agrandir"/>
              </a:rPr>
              <a:t>Danillo Barros de Souza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1E3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9774527" y="565785"/>
            <a:ext cx="7484773" cy="43916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 marL="0" indent="0" lvl="0">
              <a:lnSpc>
                <a:spcPts val="3093"/>
              </a:lnSpc>
            </a:pPr>
            <a:r>
              <a:rPr lang="en-US" sz="2209">
                <a:solidFill>
                  <a:srgbClr val="1F1F25"/>
                </a:solidFill>
                <a:latin typeface="Agrandir"/>
                <a:ea typeface="Agrandir"/>
                <a:cs typeface="Agrandir"/>
                <a:sym typeface="Agrandir"/>
              </a:rPr>
              <a:t>2026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1028700" y="565785"/>
            <a:ext cx="7484773" cy="43916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0" indent="0" lvl="0">
              <a:lnSpc>
                <a:spcPts val="3093"/>
              </a:lnSpc>
            </a:pPr>
            <a:r>
              <a:rPr lang="en-US" sz="2209">
                <a:solidFill>
                  <a:srgbClr val="1F1F25"/>
                </a:solidFill>
                <a:latin typeface="Agrandir"/>
                <a:ea typeface="Agrandir"/>
                <a:cs typeface="Agrandir"/>
                <a:sym typeface="Agrandir"/>
              </a:rPr>
              <a:t>Análisis de Cáncer de Mama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5400000">
            <a:off x="15052879" y="458978"/>
            <a:ext cx="1055299" cy="1049543"/>
          </a:xfrm>
          <a:custGeom>
            <a:avLst/>
            <a:gdLst/>
            <a:ahLst/>
            <a:cxnLst/>
            <a:rect r="r" b="b" t="t" l="l"/>
            <a:pathLst>
              <a:path h="1049543" w="1055299">
                <a:moveTo>
                  <a:pt x="0" y="0"/>
                </a:moveTo>
                <a:lnTo>
                  <a:pt x="1055300" y="0"/>
                </a:lnTo>
                <a:lnTo>
                  <a:pt x="1055300" y="1049543"/>
                </a:lnTo>
                <a:lnTo>
                  <a:pt x="0" y="1049543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5400000">
            <a:off x="975865" y="1950726"/>
            <a:ext cx="3707745" cy="6396075"/>
          </a:xfrm>
          <a:custGeom>
            <a:avLst/>
            <a:gdLst/>
            <a:ahLst/>
            <a:cxnLst/>
            <a:rect r="r" b="b" t="t" l="l"/>
            <a:pathLst>
              <a:path h="6396075" w="3707745">
                <a:moveTo>
                  <a:pt x="0" y="0"/>
                </a:moveTo>
                <a:lnTo>
                  <a:pt x="3707745" y="0"/>
                </a:lnTo>
                <a:lnTo>
                  <a:pt x="3707745" y="6396075"/>
                </a:lnTo>
                <a:lnTo>
                  <a:pt x="0" y="639607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10168059" y="3294891"/>
            <a:ext cx="1558087" cy="457083"/>
          </a:xfrm>
          <a:custGeom>
            <a:avLst/>
            <a:gdLst/>
            <a:ahLst/>
            <a:cxnLst/>
            <a:rect r="r" b="b" t="t" l="l"/>
            <a:pathLst>
              <a:path h="457083" w="1558087">
                <a:moveTo>
                  <a:pt x="0" y="0"/>
                </a:moveTo>
                <a:lnTo>
                  <a:pt x="1558087" y="0"/>
                </a:lnTo>
                <a:lnTo>
                  <a:pt x="1558087" y="457084"/>
                </a:lnTo>
                <a:lnTo>
                  <a:pt x="0" y="457084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7" id="7"/>
          <p:cNvSpPr txBox="true"/>
          <p:nvPr/>
        </p:nvSpPr>
        <p:spPr>
          <a:xfrm rot="0">
            <a:off x="6127304" y="1468360"/>
            <a:ext cx="7785921" cy="12644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 marL="0" indent="0" lvl="0">
              <a:lnSpc>
                <a:spcPts val="7710"/>
              </a:lnSpc>
            </a:pPr>
            <a:r>
              <a:rPr lang="en-US" sz="7948">
                <a:solidFill>
                  <a:srgbClr val="1F1F25"/>
                </a:solidFill>
                <a:latin typeface="Agrandir"/>
                <a:ea typeface="Agrandir"/>
                <a:cs typeface="Agrandir"/>
                <a:sym typeface="Agrandir"/>
              </a:rPr>
              <a:t>OBJETIVO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6396075" y="3959622"/>
            <a:ext cx="10863225" cy="289540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0" indent="0" lvl="0">
              <a:lnSpc>
                <a:spcPts val="4490"/>
              </a:lnSpc>
            </a:pPr>
          </a:p>
          <a:p>
            <a:pPr algn="just" marL="692472" indent="-346236" lvl="1">
              <a:lnSpc>
                <a:spcPts val="4490"/>
              </a:lnSpc>
              <a:buAutoNum type="arabicPeriod" startAt="1"/>
            </a:pPr>
            <a:r>
              <a:rPr lang="en-US" sz="3207">
                <a:solidFill>
                  <a:srgbClr val="1F1F25"/>
                </a:solidFill>
                <a:latin typeface="Agrandir"/>
                <a:ea typeface="Agrandir"/>
                <a:cs typeface="Agrandir"/>
                <a:sym typeface="Agrandir"/>
              </a:rPr>
              <a:t> </a:t>
            </a:r>
            <a:r>
              <a:rPr lang="en-US" sz="3207">
                <a:solidFill>
                  <a:srgbClr val="1F1F25"/>
                </a:solidFill>
                <a:latin typeface="Agrandir"/>
                <a:ea typeface="Agrandir"/>
                <a:cs typeface="Agrandir"/>
                <a:sym typeface="Agrandir"/>
              </a:rPr>
              <a:t>Encontrar patrones de tumores a partir de características de imágenes histopatológicas</a:t>
            </a:r>
          </a:p>
          <a:p>
            <a:pPr algn="just">
              <a:lnSpc>
                <a:spcPts val="4490"/>
              </a:lnSpc>
            </a:pPr>
            <a:r>
              <a:rPr lang="en-US" sz="3207">
                <a:solidFill>
                  <a:srgbClr val="1F1F25"/>
                </a:solidFill>
                <a:latin typeface="Agrandir"/>
                <a:ea typeface="Agrandir"/>
                <a:cs typeface="Agrandir"/>
                <a:sym typeface="Agrandir"/>
              </a:rPr>
              <a:t> 2. Desplegar un modelo predictivo que utilice informaciones estadísticas de tumores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1E3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4610249" y="1829227"/>
            <a:ext cx="12429687" cy="8281279"/>
          </a:xfrm>
          <a:custGeom>
            <a:avLst/>
            <a:gdLst/>
            <a:ahLst/>
            <a:cxnLst/>
            <a:rect r="r" b="b" t="t" l="l"/>
            <a:pathLst>
              <a:path h="8281279" w="12429687">
                <a:moveTo>
                  <a:pt x="0" y="0"/>
                </a:moveTo>
                <a:lnTo>
                  <a:pt x="12429687" y="0"/>
                </a:lnTo>
                <a:lnTo>
                  <a:pt x="12429687" y="8281279"/>
                </a:lnTo>
                <a:lnTo>
                  <a:pt x="0" y="828127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605122" y="230066"/>
            <a:ext cx="8197028" cy="13050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274"/>
              </a:lnSpc>
            </a:pPr>
            <a:r>
              <a:rPr lang="en-US" sz="3767" b="true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Anteriormente: Características de Contorno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5400000">
            <a:off x="1154158" y="3438527"/>
            <a:ext cx="2298231" cy="3964582"/>
          </a:xfrm>
          <a:custGeom>
            <a:avLst/>
            <a:gdLst/>
            <a:ahLst/>
            <a:cxnLst/>
            <a:rect r="r" b="b" t="t" l="l"/>
            <a:pathLst>
              <a:path h="3964582" w="2298231">
                <a:moveTo>
                  <a:pt x="0" y="0"/>
                </a:moveTo>
                <a:lnTo>
                  <a:pt x="2298231" y="0"/>
                </a:lnTo>
                <a:lnTo>
                  <a:pt x="2298231" y="3964582"/>
                </a:lnTo>
                <a:lnTo>
                  <a:pt x="0" y="3964582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1E3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5400000">
            <a:off x="1117409" y="1199697"/>
            <a:ext cx="1055299" cy="1049543"/>
          </a:xfrm>
          <a:custGeom>
            <a:avLst/>
            <a:gdLst/>
            <a:ahLst/>
            <a:cxnLst/>
            <a:rect r="r" b="b" t="t" l="l"/>
            <a:pathLst>
              <a:path h="1049543" w="1055299">
                <a:moveTo>
                  <a:pt x="0" y="0"/>
                </a:moveTo>
                <a:lnTo>
                  <a:pt x="1055299" y="0"/>
                </a:lnTo>
                <a:lnTo>
                  <a:pt x="1055299" y="1049544"/>
                </a:lnTo>
                <a:lnTo>
                  <a:pt x="0" y="1049544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5400000">
            <a:off x="3927633" y="4630725"/>
            <a:ext cx="2298231" cy="3964582"/>
          </a:xfrm>
          <a:custGeom>
            <a:avLst/>
            <a:gdLst/>
            <a:ahLst/>
            <a:cxnLst/>
            <a:rect r="r" b="b" t="t" l="l"/>
            <a:pathLst>
              <a:path h="3964582" w="2298231">
                <a:moveTo>
                  <a:pt x="0" y="0"/>
                </a:moveTo>
                <a:lnTo>
                  <a:pt x="2298232" y="0"/>
                </a:lnTo>
                <a:lnTo>
                  <a:pt x="2298232" y="3964583"/>
                </a:lnTo>
                <a:lnTo>
                  <a:pt x="0" y="3964583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4260049" y="3092607"/>
            <a:ext cx="1633399" cy="479177"/>
          </a:xfrm>
          <a:custGeom>
            <a:avLst/>
            <a:gdLst/>
            <a:ahLst/>
            <a:cxnLst/>
            <a:rect r="r" b="b" t="t" l="l"/>
            <a:pathLst>
              <a:path h="479177" w="1633399">
                <a:moveTo>
                  <a:pt x="0" y="0"/>
                </a:moveTo>
                <a:lnTo>
                  <a:pt x="1633400" y="0"/>
                </a:lnTo>
                <a:lnTo>
                  <a:pt x="1633400" y="479178"/>
                </a:lnTo>
                <a:lnTo>
                  <a:pt x="0" y="479178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5340037" y="404843"/>
            <a:ext cx="9707259" cy="9659116"/>
          </a:xfrm>
          <a:custGeom>
            <a:avLst/>
            <a:gdLst/>
            <a:ahLst/>
            <a:cxnLst/>
            <a:rect r="r" b="b" t="t" l="l"/>
            <a:pathLst>
              <a:path h="9659116" w="9707259">
                <a:moveTo>
                  <a:pt x="0" y="0"/>
                </a:moveTo>
                <a:lnTo>
                  <a:pt x="9707259" y="0"/>
                </a:lnTo>
                <a:lnTo>
                  <a:pt x="9707259" y="9659116"/>
                </a:lnTo>
                <a:lnTo>
                  <a:pt x="0" y="9659116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-129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9774527" y="546735"/>
            <a:ext cx="7484773" cy="48200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 marL="0" indent="0" lvl="0">
              <a:lnSpc>
                <a:spcPts val="3357"/>
              </a:lnSpc>
            </a:pPr>
            <a:r>
              <a:rPr lang="en-US" sz="2398">
                <a:solidFill>
                  <a:srgbClr val="1F1F25"/>
                </a:solidFill>
                <a:latin typeface="Agrandir"/>
                <a:ea typeface="Agrandir"/>
                <a:cs typeface="Agrandir"/>
                <a:sym typeface="Agrandir"/>
              </a:rPr>
              <a:t>2026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028700" y="546735"/>
            <a:ext cx="7484773" cy="48200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0" indent="0" lvl="0">
              <a:lnSpc>
                <a:spcPts val="3357"/>
              </a:lnSpc>
            </a:pPr>
            <a:r>
              <a:rPr lang="en-US" sz="2398">
                <a:solidFill>
                  <a:srgbClr val="1F1F25"/>
                </a:solidFill>
                <a:latin typeface="Agrandir"/>
                <a:ea typeface="Agrandir"/>
                <a:cs typeface="Agrandir"/>
                <a:sym typeface="Agrandir"/>
              </a:rPr>
              <a:t>Análisis de Cáncer de Mama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1E3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5400000">
            <a:off x="1117409" y="1199697"/>
            <a:ext cx="1055299" cy="1049543"/>
          </a:xfrm>
          <a:custGeom>
            <a:avLst/>
            <a:gdLst/>
            <a:ahLst/>
            <a:cxnLst/>
            <a:rect r="r" b="b" t="t" l="l"/>
            <a:pathLst>
              <a:path h="1049543" w="1055299">
                <a:moveTo>
                  <a:pt x="0" y="0"/>
                </a:moveTo>
                <a:lnTo>
                  <a:pt x="1055299" y="0"/>
                </a:lnTo>
                <a:lnTo>
                  <a:pt x="1055299" y="1049544"/>
                </a:lnTo>
                <a:lnTo>
                  <a:pt x="0" y="1049544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5400000">
            <a:off x="3927633" y="4630725"/>
            <a:ext cx="2298231" cy="3964582"/>
          </a:xfrm>
          <a:custGeom>
            <a:avLst/>
            <a:gdLst/>
            <a:ahLst/>
            <a:cxnLst/>
            <a:rect r="r" b="b" t="t" l="l"/>
            <a:pathLst>
              <a:path h="3964582" w="2298231">
                <a:moveTo>
                  <a:pt x="0" y="0"/>
                </a:moveTo>
                <a:lnTo>
                  <a:pt x="2298232" y="0"/>
                </a:lnTo>
                <a:lnTo>
                  <a:pt x="2298232" y="3964583"/>
                </a:lnTo>
                <a:lnTo>
                  <a:pt x="0" y="3964583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4260049" y="3092607"/>
            <a:ext cx="1633399" cy="479177"/>
          </a:xfrm>
          <a:custGeom>
            <a:avLst/>
            <a:gdLst/>
            <a:ahLst/>
            <a:cxnLst/>
            <a:rect r="r" b="b" t="t" l="l"/>
            <a:pathLst>
              <a:path h="479177" w="1633399">
                <a:moveTo>
                  <a:pt x="0" y="0"/>
                </a:moveTo>
                <a:lnTo>
                  <a:pt x="1633400" y="0"/>
                </a:lnTo>
                <a:lnTo>
                  <a:pt x="1633400" y="479178"/>
                </a:lnTo>
                <a:lnTo>
                  <a:pt x="0" y="479178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4619231" y="170674"/>
            <a:ext cx="12640069" cy="14598311"/>
          </a:xfrm>
          <a:custGeom>
            <a:avLst/>
            <a:gdLst/>
            <a:ahLst/>
            <a:cxnLst/>
            <a:rect r="r" b="b" t="t" l="l"/>
            <a:pathLst>
              <a:path h="14598311" w="12640069">
                <a:moveTo>
                  <a:pt x="0" y="0"/>
                </a:moveTo>
                <a:lnTo>
                  <a:pt x="12640069" y="0"/>
                </a:lnTo>
                <a:lnTo>
                  <a:pt x="12640069" y="14598311"/>
                </a:lnTo>
                <a:lnTo>
                  <a:pt x="0" y="14598311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0" t="-1905" r="0" b="-54457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317006" y="546735"/>
            <a:ext cx="7484773" cy="48200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0" indent="0" lvl="0">
              <a:lnSpc>
                <a:spcPts val="3357"/>
              </a:lnSpc>
            </a:pPr>
            <a:r>
              <a:rPr lang="en-US" sz="2398">
                <a:solidFill>
                  <a:srgbClr val="1F1F25"/>
                </a:solidFill>
                <a:latin typeface="Agrandir"/>
                <a:ea typeface="Agrandir"/>
                <a:cs typeface="Agrandir"/>
                <a:sym typeface="Agrandir"/>
              </a:rPr>
              <a:t>Análisis de Cáncer de Mama</a:t>
            </a:r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1E3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5400000">
            <a:off x="1117409" y="1199697"/>
            <a:ext cx="1055299" cy="1049543"/>
          </a:xfrm>
          <a:custGeom>
            <a:avLst/>
            <a:gdLst/>
            <a:ahLst/>
            <a:cxnLst/>
            <a:rect r="r" b="b" t="t" l="l"/>
            <a:pathLst>
              <a:path h="1049543" w="1055299">
                <a:moveTo>
                  <a:pt x="0" y="0"/>
                </a:moveTo>
                <a:lnTo>
                  <a:pt x="1055299" y="0"/>
                </a:lnTo>
                <a:lnTo>
                  <a:pt x="1055299" y="1049544"/>
                </a:lnTo>
                <a:lnTo>
                  <a:pt x="0" y="1049544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5400000">
            <a:off x="3927633" y="4630725"/>
            <a:ext cx="2298231" cy="3964582"/>
          </a:xfrm>
          <a:custGeom>
            <a:avLst/>
            <a:gdLst/>
            <a:ahLst/>
            <a:cxnLst/>
            <a:rect r="r" b="b" t="t" l="l"/>
            <a:pathLst>
              <a:path h="3964582" w="2298231">
                <a:moveTo>
                  <a:pt x="0" y="0"/>
                </a:moveTo>
                <a:lnTo>
                  <a:pt x="2298232" y="0"/>
                </a:lnTo>
                <a:lnTo>
                  <a:pt x="2298232" y="3964583"/>
                </a:lnTo>
                <a:lnTo>
                  <a:pt x="0" y="3964583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14651115" y="3365714"/>
            <a:ext cx="1633399" cy="479177"/>
          </a:xfrm>
          <a:custGeom>
            <a:avLst/>
            <a:gdLst/>
            <a:ahLst/>
            <a:cxnLst/>
            <a:rect r="r" b="b" t="t" l="l"/>
            <a:pathLst>
              <a:path h="479177" w="1633399">
                <a:moveTo>
                  <a:pt x="0" y="0"/>
                </a:moveTo>
                <a:lnTo>
                  <a:pt x="1633400" y="0"/>
                </a:lnTo>
                <a:lnTo>
                  <a:pt x="1633400" y="479177"/>
                </a:lnTo>
                <a:lnTo>
                  <a:pt x="0" y="479177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5" id="5"/>
          <p:cNvSpPr txBox="true"/>
          <p:nvPr/>
        </p:nvSpPr>
        <p:spPr>
          <a:xfrm rot="0">
            <a:off x="3869897" y="2970110"/>
            <a:ext cx="11322191" cy="102273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153"/>
              </a:lnSpc>
              <a:spcBef>
                <a:spcPct val="0"/>
              </a:spcBef>
            </a:pPr>
            <a:r>
              <a:rPr lang="en-US" sz="5109">
                <a:solidFill>
                  <a:srgbClr val="000000"/>
                </a:solidFill>
                <a:latin typeface="Agrandir"/>
                <a:ea typeface="Agrandir"/>
                <a:cs typeface="Agrandir"/>
                <a:sym typeface="Agrandir"/>
              </a:rPr>
              <a:t>Imagenes de BreakHis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6237433" y="4534317"/>
            <a:ext cx="8294787" cy="464223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03208" indent="-551604" lvl="1">
              <a:lnSpc>
                <a:spcPts val="7153"/>
              </a:lnSpc>
              <a:buFont typeface="Arial"/>
              <a:buChar char="•"/>
            </a:pPr>
            <a:r>
              <a:rPr lang="en-US" sz="5109">
                <a:solidFill>
                  <a:srgbClr val="000000"/>
                </a:solidFill>
                <a:latin typeface="Agrandir"/>
                <a:ea typeface="Agrandir"/>
                <a:cs typeface="Agrandir"/>
                <a:sym typeface="Agrandir"/>
              </a:rPr>
              <a:t>Dimensiones: 700 x 460</a:t>
            </a:r>
          </a:p>
          <a:p>
            <a:pPr algn="l" marL="1103208" indent="-551604" lvl="1">
              <a:lnSpc>
                <a:spcPts val="7153"/>
              </a:lnSpc>
              <a:buFont typeface="Arial"/>
              <a:buChar char="•"/>
            </a:pPr>
            <a:r>
              <a:rPr lang="en-US" sz="5109">
                <a:solidFill>
                  <a:srgbClr val="000000"/>
                </a:solidFill>
                <a:latin typeface="Agrandir"/>
                <a:ea typeface="Agrandir"/>
                <a:cs typeface="Agrandir"/>
                <a:sym typeface="Agrandir"/>
              </a:rPr>
              <a:t>Magnitud: 40X</a:t>
            </a:r>
          </a:p>
          <a:p>
            <a:pPr algn="l" marL="1103208" indent="-551604" lvl="1">
              <a:lnSpc>
                <a:spcPts val="7153"/>
              </a:lnSpc>
              <a:buFont typeface="Arial"/>
              <a:buChar char="•"/>
            </a:pPr>
            <a:r>
              <a:rPr lang="en-US" sz="5109">
                <a:solidFill>
                  <a:srgbClr val="000000"/>
                </a:solidFill>
                <a:latin typeface="Agrandir"/>
                <a:ea typeface="Agrandir"/>
                <a:cs typeface="Agrandir"/>
                <a:sym typeface="Agrandir"/>
              </a:rPr>
              <a:t>Total: 1995</a:t>
            </a:r>
          </a:p>
          <a:p>
            <a:pPr algn="l" marL="1103208" indent="-551604" lvl="1">
              <a:lnSpc>
                <a:spcPts val="7153"/>
              </a:lnSpc>
              <a:buFont typeface="Arial"/>
              <a:buChar char="•"/>
            </a:pPr>
            <a:r>
              <a:rPr lang="en-US" sz="5109">
                <a:solidFill>
                  <a:srgbClr val="000000"/>
                </a:solidFill>
                <a:latin typeface="Agrandir"/>
                <a:ea typeface="Agrandir"/>
                <a:cs typeface="Agrandir"/>
                <a:sym typeface="Agrandir"/>
              </a:rPr>
              <a:t>Clase 0: 1370</a:t>
            </a:r>
          </a:p>
          <a:p>
            <a:pPr algn="l" marL="1103208" indent="-551604" lvl="1">
              <a:lnSpc>
                <a:spcPts val="7153"/>
              </a:lnSpc>
              <a:buFont typeface="Arial"/>
              <a:buChar char="•"/>
            </a:pPr>
            <a:r>
              <a:rPr lang="en-US" sz="5109">
                <a:solidFill>
                  <a:srgbClr val="000000"/>
                </a:solidFill>
                <a:latin typeface="Agrandir"/>
                <a:ea typeface="Agrandir"/>
                <a:cs typeface="Agrandir"/>
                <a:sym typeface="Agrandir"/>
              </a:rPr>
              <a:t>Clase 1: 625</a:t>
            </a:r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1E3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5400000">
            <a:off x="4729465" y="-1904331"/>
            <a:ext cx="2385311" cy="4114800"/>
          </a:xfrm>
          <a:custGeom>
            <a:avLst/>
            <a:gdLst/>
            <a:ahLst/>
            <a:cxnLst/>
            <a:rect r="r" b="b" t="t" l="l"/>
            <a:pathLst>
              <a:path h="4114800" w="2385311">
                <a:moveTo>
                  <a:pt x="0" y="0"/>
                </a:moveTo>
                <a:lnTo>
                  <a:pt x="2385311" y="0"/>
                </a:lnTo>
                <a:lnTo>
                  <a:pt x="2385311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999578" y="4914958"/>
            <a:ext cx="1558087" cy="457083"/>
          </a:xfrm>
          <a:custGeom>
            <a:avLst/>
            <a:gdLst/>
            <a:ahLst/>
            <a:cxnLst/>
            <a:rect r="r" b="b" t="t" l="l"/>
            <a:pathLst>
              <a:path h="457083" w="1558087">
                <a:moveTo>
                  <a:pt x="0" y="0"/>
                </a:moveTo>
                <a:lnTo>
                  <a:pt x="1558087" y="0"/>
                </a:lnTo>
                <a:lnTo>
                  <a:pt x="1558087" y="457084"/>
                </a:lnTo>
                <a:lnTo>
                  <a:pt x="0" y="457084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6519456" y="2747498"/>
            <a:ext cx="5249087" cy="5249087"/>
          </a:xfrm>
          <a:custGeom>
            <a:avLst/>
            <a:gdLst/>
            <a:ahLst/>
            <a:cxnLst/>
            <a:rect r="r" b="b" t="t" l="l"/>
            <a:pathLst>
              <a:path h="5249087" w="5249087">
                <a:moveTo>
                  <a:pt x="0" y="0"/>
                </a:moveTo>
                <a:lnTo>
                  <a:pt x="5249088" y="0"/>
                </a:lnTo>
                <a:lnTo>
                  <a:pt x="5249088" y="5249087"/>
                </a:lnTo>
                <a:lnTo>
                  <a:pt x="0" y="5249087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  <p:sp>
        <p:nvSpPr>
          <p:cNvPr name="TextBox 5" id="5"/>
          <p:cNvSpPr txBox="true"/>
          <p:nvPr/>
        </p:nvSpPr>
        <p:spPr>
          <a:xfrm rot="0">
            <a:off x="1204104" y="1241963"/>
            <a:ext cx="9271397" cy="102273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153"/>
              </a:lnSpc>
              <a:spcBef>
                <a:spcPct val="0"/>
              </a:spcBef>
            </a:pPr>
            <a:r>
              <a:rPr lang="en-US" sz="5109">
                <a:solidFill>
                  <a:srgbClr val="000000"/>
                </a:solidFill>
                <a:latin typeface="Agrandir"/>
                <a:ea typeface="Agrandir"/>
                <a:cs typeface="Agrandir"/>
                <a:sym typeface="Agrandir"/>
              </a:rPr>
              <a:t>Pregunta: ¿Benigno o Maligno?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7111383" y="8409453"/>
            <a:ext cx="2815949" cy="84884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61"/>
              </a:lnSpc>
              <a:spcBef>
                <a:spcPct val="0"/>
              </a:spcBef>
            </a:pPr>
            <a:r>
              <a:rPr lang="en-US" sz="4257">
                <a:solidFill>
                  <a:srgbClr val="000000"/>
                </a:solidFill>
                <a:latin typeface="Agrandir"/>
                <a:ea typeface="Agrandir"/>
                <a:cs typeface="Agrandir"/>
                <a:sym typeface="Agrandir"/>
              </a:rPr>
              <a:t>Respuesta: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9927255" y="8587253"/>
            <a:ext cx="2396430" cy="85387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61"/>
              </a:lnSpc>
              <a:spcBef>
                <a:spcPct val="0"/>
              </a:spcBef>
            </a:pPr>
            <a:r>
              <a:rPr lang="en-US" sz="4257">
                <a:solidFill>
                  <a:srgbClr val="E1E3E1"/>
                </a:solidFill>
                <a:latin typeface="Agrandir"/>
                <a:ea typeface="Agrandir"/>
                <a:cs typeface="Agrandir"/>
                <a:sym typeface="Agrandir"/>
              </a:rPr>
              <a:t>BENINGO</a:t>
            </a:r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1E3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5400000">
            <a:off x="4729465" y="-1904331"/>
            <a:ext cx="2385311" cy="4114800"/>
          </a:xfrm>
          <a:custGeom>
            <a:avLst/>
            <a:gdLst/>
            <a:ahLst/>
            <a:cxnLst/>
            <a:rect r="r" b="b" t="t" l="l"/>
            <a:pathLst>
              <a:path h="4114800" w="2385311">
                <a:moveTo>
                  <a:pt x="0" y="0"/>
                </a:moveTo>
                <a:lnTo>
                  <a:pt x="2385311" y="0"/>
                </a:lnTo>
                <a:lnTo>
                  <a:pt x="2385311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999578" y="4914958"/>
            <a:ext cx="1558087" cy="457083"/>
          </a:xfrm>
          <a:custGeom>
            <a:avLst/>
            <a:gdLst/>
            <a:ahLst/>
            <a:cxnLst/>
            <a:rect r="r" b="b" t="t" l="l"/>
            <a:pathLst>
              <a:path h="457083" w="1558087">
                <a:moveTo>
                  <a:pt x="0" y="0"/>
                </a:moveTo>
                <a:lnTo>
                  <a:pt x="1558087" y="0"/>
                </a:lnTo>
                <a:lnTo>
                  <a:pt x="1558087" y="457084"/>
                </a:lnTo>
                <a:lnTo>
                  <a:pt x="0" y="457084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6519456" y="2747498"/>
            <a:ext cx="5249087" cy="5249087"/>
          </a:xfrm>
          <a:custGeom>
            <a:avLst/>
            <a:gdLst/>
            <a:ahLst/>
            <a:cxnLst/>
            <a:rect r="r" b="b" t="t" l="l"/>
            <a:pathLst>
              <a:path h="5249087" w="5249087">
                <a:moveTo>
                  <a:pt x="0" y="0"/>
                </a:moveTo>
                <a:lnTo>
                  <a:pt x="5249088" y="0"/>
                </a:lnTo>
                <a:lnTo>
                  <a:pt x="5249088" y="5249087"/>
                </a:lnTo>
                <a:lnTo>
                  <a:pt x="0" y="5249087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  <p:sp>
        <p:nvSpPr>
          <p:cNvPr name="TextBox 5" id="5"/>
          <p:cNvSpPr txBox="true"/>
          <p:nvPr/>
        </p:nvSpPr>
        <p:spPr>
          <a:xfrm rot="0">
            <a:off x="1204104" y="1241963"/>
            <a:ext cx="9271397" cy="102273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153"/>
              </a:lnSpc>
              <a:spcBef>
                <a:spcPct val="0"/>
              </a:spcBef>
            </a:pPr>
            <a:r>
              <a:rPr lang="en-US" sz="5109">
                <a:solidFill>
                  <a:srgbClr val="000000"/>
                </a:solidFill>
                <a:latin typeface="Agrandir"/>
                <a:ea typeface="Agrandir"/>
                <a:cs typeface="Agrandir"/>
                <a:sym typeface="Agrandir"/>
              </a:rPr>
              <a:t>Pregunta: ¿Benigno o Maligno?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7111383" y="8409453"/>
            <a:ext cx="2815949" cy="84884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61"/>
              </a:lnSpc>
              <a:spcBef>
                <a:spcPct val="0"/>
              </a:spcBef>
            </a:pPr>
            <a:r>
              <a:rPr lang="en-US" sz="4257">
                <a:solidFill>
                  <a:srgbClr val="000000"/>
                </a:solidFill>
                <a:latin typeface="Agrandir"/>
                <a:ea typeface="Agrandir"/>
                <a:cs typeface="Agrandir"/>
                <a:sym typeface="Agrandir"/>
              </a:rPr>
              <a:t>Respuesta: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0104608" y="8409453"/>
            <a:ext cx="2016323" cy="85387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61"/>
              </a:lnSpc>
              <a:spcBef>
                <a:spcPct val="0"/>
              </a:spcBef>
            </a:pPr>
            <a:r>
              <a:rPr lang="en-US" sz="4257">
                <a:solidFill>
                  <a:srgbClr val="296D5F"/>
                </a:solidFill>
                <a:latin typeface="Agrandir"/>
                <a:ea typeface="Agrandir"/>
                <a:cs typeface="Agrandir"/>
                <a:sym typeface="Agrandir"/>
              </a:rPr>
              <a:t>Benigno</a:t>
            </a:r>
          </a:p>
        </p:txBody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1E3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5400000">
            <a:off x="4729465" y="-1904331"/>
            <a:ext cx="2385311" cy="4114800"/>
          </a:xfrm>
          <a:custGeom>
            <a:avLst/>
            <a:gdLst/>
            <a:ahLst/>
            <a:cxnLst/>
            <a:rect r="r" b="b" t="t" l="l"/>
            <a:pathLst>
              <a:path h="4114800" w="2385311">
                <a:moveTo>
                  <a:pt x="0" y="0"/>
                </a:moveTo>
                <a:lnTo>
                  <a:pt x="2385311" y="0"/>
                </a:lnTo>
                <a:lnTo>
                  <a:pt x="2385311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999578" y="4914958"/>
            <a:ext cx="1558087" cy="457083"/>
          </a:xfrm>
          <a:custGeom>
            <a:avLst/>
            <a:gdLst/>
            <a:ahLst/>
            <a:cxnLst/>
            <a:rect r="r" b="b" t="t" l="l"/>
            <a:pathLst>
              <a:path h="457083" w="1558087">
                <a:moveTo>
                  <a:pt x="0" y="0"/>
                </a:moveTo>
                <a:lnTo>
                  <a:pt x="1558087" y="0"/>
                </a:lnTo>
                <a:lnTo>
                  <a:pt x="1558087" y="457084"/>
                </a:lnTo>
                <a:lnTo>
                  <a:pt x="0" y="457084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4839826" y="2315043"/>
            <a:ext cx="8608349" cy="5656915"/>
          </a:xfrm>
          <a:custGeom>
            <a:avLst/>
            <a:gdLst/>
            <a:ahLst/>
            <a:cxnLst/>
            <a:rect r="r" b="b" t="t" l="l"/>
            <a:pathLst>
              <a:path h="5656915" w="8608349">
                <a:moveTo>
                  <a:pt x="0" y="0"/>
                </a:moveTo>
                <a:lnTo>
                  <a:pt x="8608348" y="0"/>
                </a:lnTo>
                <a:lnTo>
                  <a:pt x="8608348" y="5656914"/>
                </a:lnTo>
                <a:lnTo>
                  <a:pt x="0" y="5656914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  <p:sp>
        <p:nvSpPr>
          <p:cNvPr name="TextBox 5" id="5"/>
          <p:cNvSpPr txBox="true"/>
          <p:nvPr/>
        </p:nvSpPr>
        <p:spPr>
          <a:xfrm rot="0">
            <a:off x="1204104" y="1241963"/>
            <a:ext cx="9271397" cy="102273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153"/>
              </a:lnSpc>
              <a:spcBef>
                <a:spcPct val="0"/>
              </a:spcBef>
            </a:pPr>
            <a:r>
              <a:rPr lang="en-US" sz="5109">
                <a:solidFill>
                  <a:srgbClr val="000000"/>
                </a:solidFill>
                <a:latin typeface="Agrandir"/>
                <a:ea typeface="Agrandir"/>
                <a:cs typeface="Agrandir"/>
                <a:sym typeface="Agrandir"/>
              </a:rPr>
              <a:t>Pregunta: ¿Benigno o Maligno?</a:t>
            </a:r>
          </a:p>
        </p:txBody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1E3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5400000">
            <a:off x="4729465" y="-1904331"/>
            <a:ext cx="2385311" cy="4114800"/>
          </a:xfrm>
          <a:custGeom>
            <a:avLst/>
            <a:gdLst/>
            <a:ahLst/>
            <a:cxnLst/>
            <a:rect r="r" b="b" t="t" l="l"/>
            <a:pathLst>
              <a:path h="4114800" w="2385311">
                <a:moveTo>
                  <a:pt x="0" y="0"/>
                </a:moveTo>
                <a:lnTo>
                  <a:pt x="2385311" y="0"/>
                </a:lnTo>
                <a:lnTo>
                  <a:pt x="2385311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999578" y="4914958"/>
            <a:ext cx="1558087" cy="457083"/>
          </a:xfrm>
          <a:custGeom>
            <a:avLst/>
            <a:gdLst/>
            <a:ahLst/>
            <a:cxnLst/>
            <a:rect r="r" b="b" t="t" l="l"/>
            <a:pathLst>
              <a:path h="457083" w="1558087">
                <a:moveTo>
                  <a:pt x="0" y="0"/>
                </a:moveTo>
                <a:lnTo>
                  <a:pt x="1558087" y="0"/>
                </a:lnTo>
                <a:lnTo>
                  <a:pt x="1558087" y="457084"/>
                </a:lnTo>
                <a:lnTo>
                  <a:pt x="0" y="457084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4839826" y="2315043"/>
            <a:ext cx="8608349" cy="5656915"/>
          </a:xfrm>
          <a:custGeom>
            <a:avLst/>
            <a:gdLst/>
            <a:ahLst/>
            <a:cxnLst/>
            <a:rect r="r" b="b" t="t" l="l"/>
            <a:pathLst>
              <a:path h="5656915" w="8608349">
                <a:moveTo>
                  <a:pt x="0" y="0"/>
                </a:moveTo>
                <a:lnTo>
                  <a:pt x="8608348" y="0"/>
                </a:lnTo>
                <a:lnTo>
                  <a:pt x="8608348" y="5656914"/>
                </a:lnTo>
                <a:lnTo>
                  <a:pt x="0" y="5656914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  <p:sp>
        <p:nvSpPr>
          <p:cNvPr name="TextBox 5" id="5"/>
          <p:cNvSpPr txBox="true"/>
          <p:nvPr/>
        </p:nvSpPr>
        <p:spPr>
          <a:xfrm rot="0">
            <a:off x="1204104" y="1241963"/>
            <a:ext cx="9271397" cy="102273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153"/>
              </a:lnSpc>
              <a:spcBef>
                <a:spcPct val="0"/>
              </a:spcBef>
            </a:pPr>
            <a:r>
              <a:rPr lang="en-US" sz="5109">
                <a:solidFill>
                  <a:srgbClr val="000000"/>
                </a:solidFill>
                <a:latin typeface="Agrandir"/>
                <a:ea typeface="Agrandir"/>
                <a:cs typeface="Agrandir"/>
                <a:sym typeface="Agrandir"/>
              </a:rPr>
              <a:t>Pregunta: ¿Benigno o Maligno?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7111383" y="8409453"/>
            <a:ext cx="2815949" cy="84884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61"/>
              </a:lnSpc>
              <a:spcBef>
                <a:spcPct val="0"/>
              </a:spcBef>
            </a:pPr>
            <a:r>
              <a:rPr lang="en-US" sz="4257">
                <a:solidFill>
                  <a:srgbClr val="000000"/>
                </a:solidFill>
                <a:latin typeface="Agrandir"/>
                <a:ea typeface="Agrandir"/>
                <a:cs typeface="Agrandir"/>
                <a:sym typeface="Agrandir"/>
              </a:rPr>
              <a:t>Respuesta: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0104608" y="8409453"/>
            <a:ext cx="2016323" cy="85387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61"/>
              </a:lnSpc>
              <a:spcBef>
                <a:spcPct val="0"/>
              </a:spcBef>
            </a:pPr>
            <a:r>
              <a:rPr lang="en-US" sz="4257">
                <a:solidFill>
                  <a:srgbClr val="296D5F"/>
                </a:solidFill>
                <a:latin typeface="Agrandir"/>
                <a:ea typeface="Agrandir"/>
                <a:cs typeface="Agrandir"/>
                <a:sym typeface="Agrandir"/>
              </a:rPr>
              <a:t>Benigno</a:t>
            </a:r>
          </a:p>
        </p:txBody>
      </p: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1E3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5400000">
            <a:off x="4729465" y="-1904331"/>
            <a:ext cx="2385311" cy="4114800"/>
          </a:xfrm>
          <a:custGeom>
            <a:avLst/>
            <a:gdLst/>
            <a:ahLst/>
            <a:cxnLst/>
            <a:rect r="r" b="b" t="t" l="l"/>
            <a:pathLst>
              <a:path h="4114800" w="2385311">
                <a:moveTo>
                  <a:pt x="0" y="0"/>
                </a:moveTo>
                <a:lnTo>
                  <a:pt x="2385311" y="0"/>
                </a:lnTo>
                <a:lnTo>
                  <a:pt x="2385311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999578" y="4914958"/>
            <a:ext cx="1558087" cy="457083"/>
          </a:xfrm>
          <a:custGeom>
            <a:avLst/>
            <a:gdLst/>
            <a:ahLst/>
            <a:cxnLst/>
            <a:rect r="r" b="b" t="t" l="l"/>
            <a:pathLst>
              <a:path h="457083" w="1558087">
                <a:moveTo>
                  <a:pt x="0" y="0"/>
                </a:moveTo>
                <a:lnTo>
                  <a:pt x="1558087" y="0"/>
                </a:lnTo>
                <a:lnTo>
                  <a:pt x="1558087" y="457084"/>
                </a:lnTo>
                <a:lnTo>
                  <a:pt x="0" y="457084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4839826" y="2315043"/>
            <a:ext cx="8608349" cy="5656915"/>
          </a:xfrm>
          <a:custGeom>
            <a:avLst/>
            <a:gdLst/>
            <a:ahLst/>
            <a:cxnLst/>
            <a:rect r="r" b="b" t="t" l="l"/>
            <a:pathLst>
              <a:path h="5656915" w="8608349">
                <a:moveTo>
                  <a:pt x="0" y="0"/>
                </a:moveTo>
                <a:lnTo>
                  <a:pt x="8608348" y="0"/>
                </a:lnTo>
                <a:lnTo>
                  <a:pt x="8608348" y="5656914"/>
                </a:lnTo>
                <a:lnTo>
                  <a:pt x="0" y="5656914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  <p:sp>
        <p:nvSpPr>
          <p:cNvPr name="TextBox 5" id="5"/>
          <p:cNvSpPr txBox="true"/>
          <p:nvPr/>
        </p:nvSpPr>
        <p:spPr>
          <a:xfrm rot="0">
            <a:off x="1204104" y="1241963"/>
            <a:ext cx="9271397" cy="102273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153"/>
              </a:lnSpc>
              <a:spcBef>
                <a:spcPct val="0"/>
              </a:spcBef>
            </a:pPr>
            <a:r>
              <a:rPr lang="en-US" sz="5109">
                <a:solidFill>
                  <a:srgbClr val="000000"/>
                </a:solidFill>
                <a:latin typeface="Agrandir"/>
                <a:ea typeface="Agrandir"/>
                <a:cs typeface="Agrandir"/>
                <a:sym typeface="Agrandir"/>
              </a:rPr>
              <a:t>Pregunta: ¿Benigno o Maligno?</a:t>
            </a:r>
          </a:p>
        </p:txBody>
      </p:sp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1E3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5400000">
            <a:off x="4729465" y="-1904331"/>
            <a:ext cx="2385311" cy="4114800"/>
          </a:xfrm>
          <a:custGeom>
            <a:avLst/>
            <a:gdLst/>
            <a:ahLst/>
            <a:cxnLst/>
            <a:rect r="r" b="b" t="t" l="l"/>
            <a:pathLst>
              <a:path h="4114800" w="2385311">
                <a:moveTo>
                  <a:pt x="0" y="0"/>
                </a:moveTo>
                <a:lnTo>
                  <a:pt x="2385311" y="0"/>
                </a:lnTo>
                <a:lnTo>
                  <a:pt x="2385311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999578" y="4914958"/>
            <a:ext cx="1558087" cy="457083"/>
          </a:xfrm>
          <a:custGeom>
            <a:avLst/>
            <a:gdLst/>
            <a:ahLst/>
            <a:cxnLst/>
            <a:rect r="r" b="b" t="t" l="l"/>
            <a:pathLst>
              <a:path h="457083" w="1558087">
                <a:moveTo>
                  <a:pt x="0" y="0"/>
                </a:moveTo>
                <a:lnTo>
                  <a:pt x="1558087" y="0"/>
                </a:lnTo>
                <a:lnTo>
                  <a:pt x="1558087" y="457084"/>
                </a:lnTo>
                <a:lnTo>
                  <a:pt x="0" y="457084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4839826" y="2315043"/>
            <a:ext cx="8608349" cy="5656915"/>
          </a:xfrm>
          <a:custGeom>
            <a:avLst/>
            <a:gdLst/>
            <a:ahLst/>
            <a:cxnLst/>
            <a:rect r="r" b="b" t="t" l="l"/>
            <a:pathLst>
              <a:path h="5656915" w="8608349">
                <a:moveTo>
                  <a:pt x="0" y="0"/>
                </a:moveTo>
                <a:lnTo>
                  <a:pt x="8608348" y="0"/>
                </a:lnTo>
                <a:lnTo>
                  <a:pt x="8608348" y="5656914"/>
                </a:lnTo>
                <a:lnTo>
                  <a:pt x="0" y="5656914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  <p:sp>
        <p:nvSpPr>
          <p:cNvPr name="TextBox 5" id="5"/>
          <p:cNvSpPr txBox="true"/>
          <p:nvPr/>
        </p:nvSpPr>
        <p:spPr>
          <a:xfrm rot="0">
            <a:off x="1204104" y="1241963"/>
            <a:ext cx="9271397" cy="102273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153"/>
              </a:lnSpc>
              <a:spcBef>
                <a:spcPct val="0"/>
              </a:spcBef>
            </a:pPr>
            <a:r>
              <a:rPr lang="en-US" sz="5109">
                <a:solidFill>
                  <a:srgbClr val="000000"/>
                </a:solidFill>
                <a:latin typeface="Agrandir"/>
                <a:ea typeface="Agrandir"/>
                <a:cs typeface="Agrandir"/>
                <a:sym typeface="Agrandir"/>
              </a:rPr>
              <a:t>Pregunta: ¿Benigno o Maligno?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7111383" y="8409453"/>
            <a:ext cx="2815949" cy="84884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61"/>
              </a:lnSpc>
              <a:spcBef>
                <a:spcPct val="0"/>
              </a:spcBef>
            </a:pPr>
            <a:r>
              <a:rPr lang="en-US" sz="4257">
                <a:solidFill>
                  <a:srgbClr val="000000"/>
                </a:solidFill>
                <a:latin typeface="Agrandir"/>
                <a:ea typeface="Agrandir"/>
                <a:cs typeface="Agrandir"/>
                <a:sym typeface="Agrandir"/>
              </a:rPr>
              <a:t>Respuesta: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0140327" y="8409453"/>
            <a:ext cx="1944886" cy="85387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61"/>
              </a:lnSpc>
              <a:spcBef>
                <a:spcPct val="0"/>
              </a:spcBef>
            </a:pPr>
            <a:r>
              <a:rPr lang="en-US" sz="4257">
                <a:solidFill>
                  <a:srgbClr val="FF5757"/>
                </a:solidFill>
                <a:latin typeface="Agrandir"/>
                <a:ea typeface="Agrandir"/>
                <a:cs typeface="Agrandir"/>
                <a:sym typeface="Agrandir"/>
              </a:rPr>
              <a:t>Maligno</a:t>
            </a:r>
          </a:p>
        </p:txBody>
      </p:sp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1E3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5400000">
            <a:off x="4729465" y="-1904331"/>
            <a:ext cx="2385311" cy="4114800"/>
          </a:xfrm>
          <a:custGeom>
            <a:avLst/>
            <a:gdLst/>
            <a:ahLst/>
            <a:cxnLst/>
            <a:rect r="r" b="b" t="t" l="l"/>
            <a:pathLst>
              <a:path h="4114800" w="2385311">
                <a:moveTo>
                  <a:pt x="0" y="0"/>
                </a:moveTo>
                <a:lnTo>
                  <a:pt x="2385311" y="0"/>
                </a:lnTo>
                <a:lnTo>
                  <a:pt x="2385311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999578" y="4914958"/>
            <a:ext cx="1558087" cy="457083"/>
          </a:xfrm>
          <a:custGeom>
            <a:avLst/>
            <a:gdLst/>
            <a:ahLst/>
            <a:cxnLst/>
            <a:rect r="r" b="b" t="t" l="l"/>
            <a:pathLst>
              <a:path h="457083" w="1558087">
                <a:moveTo>
                  <a:pt x="0" y="0"/>
                </a:moveTo>
                <a:lnTo>
                  <a:pt x="1558087" y="0"/>
                </a:lnTo>
                <a:lnTo>
                  <a:pt x="1558087" y="457084"/>
                </a:lnTo>
                <a:lnTo>
                  <a:pt x="0" y="457084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4839826" y="2315043"/>
            <a:ext cx="8608349" cy="5656915"/>
          </a:xfrm>
          <a:custGeom>
            <a:avLst/>
            <a:gdLst/>
            <a:ahLst/>
            <a:cxnLst/>
            <a:rect r="r" b="b" t="t" l="l"/>
            <a:pathLst>
              <a:path h="5656915" w="8608349">
                <a:moveTo>
                  <a:pt x="0" y="0"/>
                </a:moveTo>
                <a:lnTo>
                  <a:pt x="8608348" y="0"/>
                </a:lnTo>
                <a:lnTo>
                  <a:pt x="8608348" y="5656914"/>
                </a:lnTo>
                <a:lnTo>
                  <a:pt x="0" y="5656914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  <p:sp>
        <p:nvSpPr>
          <p:cNvPr name="TextBox 5" id="5"/>
          <p:cNvSpPr txBox="true"/>
          <p:nvPr/>
        </p:nvSpPr>
        <p:spPr>
          <a:xfrm rot="0">
            <a:off x="1204104" y="1241963"/>
            <a:ext cx="9271397" cy="102273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153"/>
              </a:lnSpc>
              <a:spcBef>
                <a:spcPct val="0"/>
              </a:spcBef>
            </a:pPr>
            <a:r>
              <a:rPr lang="en-US" sz="5109">
                <a:solidFill>
                  <a:srgbClr val="000000"/>
                </a:solidFill>
                <a:latin typeface="Agrandir"/>
                <a:ea typeface="Agrandir"/>
                <a:cs typeface="Agrandir"/>
                <a:sym typeface="Agrandir"/>
              </a:rPr>
              <a:t>Pregunta: ¿Benigno o Maligno?</a:t>
            </a:r>
          </a:p>
        </p:txBody>
      </p:sp>
    </p:spTree>
  </p:cSld>
  <p:clrMapOvr>
    <a:masterClrMapping/>
  </p:clrMapOvr>
</p:sld>
</file>

<file path=ppt/slides/slide1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1E3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5400000">
            <a:off x="4729465" y="-1904331"/>
            <a:ext cx="2385311" cy="4114800"/>
          </a:xfrm>
          <a:custGeom>
            <a:avLst/>
            <a:gdLst/>
            <a:ahLst/>
            <a:cxnLst/>
            <a:rect r="r" b="b" t="t" l="l"/>
            <a:pathLst>
              <a:path h="4114800" w="2385311">
                <a:moveTo>
                  <a:pt x="0" y="0"/>
                </a:moveTo>
                <a:lnTo>
                  <a:pt x="2385311" y="0"/>
                </a:lnTo>
                <a:lnTo>
                  <a:pt x="2385311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999578" y="4914958"/>
            <a:ext cx="1558087" cy="457083"/>
          </a:xfrm>
          <a:custGeom>
            <a:avLst/>
            <a:gdLst/>
            <a:ahLst/>
            <a:cxnLst/>
            <a:rect r="r" b="b" t="t" l="l"/>
            <a:pathLst>
              <a:path h="457083" w="1558087">
                <a:moveTo>
                  <a:pt x="0" y="0"/>
                </a:moveTo>
                <a:lnTo>
                  <a:pt x="1558087" y="0"/>
                </a:lnTo>
                <a:lnTo>
                  <a:pt x="1558087" y="457084"/>
                </a:lnTo>
                <a:lnTo>
                  <a:pt x="0" y="457084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4839826" y="2315043"/>
            <a:ext cx="8608349" cy="5656915"/>
          </a:xfrm>
          <a:custGeom>
            <a:avLst/>
            <a:gdLst/>
            <a:ahLst/>
            <a:cxnLst/>
            <a:rect r="r" b="b" t="t" l="l"/>
            <a:pathLst>
              <a:path h="5656915" w="8608349">
                <a:moveTo>
                  <a:pt x="0" y="0"/>
                </a:moveTo>
                <a:lnTo>
                  <a:pt x="8608348" y="0"/>
                </a:lnTo>
                <a:lnTo>
                  <a:pt x="8608348" y="5656914"/>
                </a:lnTo>
                <a:lnTo>
                  <a:pt x="0" y="5656914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  <p:sp>
        <p:nvSpPr>
          <p:cNvPr name="TextBox 5" id="5"/>
          <p:cNvSpPr txBox="true"/>
          <p:nvPr/>
        </p:nvSpPr>
        <p:spPr>
          <a:xfrm rot="0">
            <a:off x="1204104" y="1241963"/>
            <a:ext cx="9271397" cy="102273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153"/>
              </a:lnSpc>
              <a:spcBef>
                <a:spcPct val="0"/>
              </a:spcBef>
            </a:pPr>
            <a:r>
              <a:rPr lang="en-US" sz="5109">
                <a:solidFill>
                  <a:srgbClr val="000000"/>
                </a:solidFill>
                <a:latin typeface="Agrandir"/>
                <a:ea typeface="Agrandir"/>
                <a:cs typeface="Agrandir"/>
                <a:sym typeface="Agrandir"/>
              </a:rPr>
              <a:t>Pregunta: ¿Benigno o Maligno?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7111383" y="8409453"/>
            <a:ext cx="2815949" cy="84884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61"/>
              </a:lnSpc>
              <a:spcBef>
                <a:spcPct val="0"/>
              </a:spcBef>
            </a:pPr>
            <a:r>
              <a:rPr lang="en-US" sz="4257">
                <a:solidFill>
                  <a:srgbClr val="000000"/>
                </a:solidFill>
                <a:latin typeface="Agrandir"/>
                <a:ea typeface="Agrandir"/>
                <a:cs typeface="Agrandir"/>
                <a:sym typeface="Agrandir"/>
              </a:rPr>
              <a:t>Respuesta: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0140327" y="8409453"/>
            <a:ext cx="1944886" cy="85387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61"/>
              </a:lnSpc>
              <a:spcBef>
                <a:spcPct val="0"/>
              </a:spcBef>
            </a:pPr>
            <a:r>
              <a:rPr lang="en-US" sz="4257">
                <a:solidFill>
                  <a:srgbClr val="FF5757"/>
                </a:solidFill>
                <a:latin typeface="Agrandir"/>
                <a:ea typeface="Agrandir"/>
                <a:cs typeface="Agrandir"/>
                <a:sym typeface="Agrandir"/>
              </a:rPr>
              <a:t>Maligno</a:t>
            </a:r>
          </a:p>
        </p:txBody>
      </p:sp>
    </p:spTree>
  </p:cSld>
  <p:clrMapOvr>
    <a:masterClrMapping/>
  </p:clrMapOvr>
</p:sld>
</file>

<file path=ppt/slides/slide1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1E3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775976" y="2014188"/>
            <a:ext cx="15230242" cy="8091066"/>
          </a:xfrm>
          <a:custGeom>
            <a:avLst/>
            <a:gdLst/>
            <a:ahLst/>
            <a:cxnLst/>
            <a:rect r="r" b="b" t="t" l="l"/>
            <a:pathLst>
              <a:path h="8091066" w="15230242">
                <a:moveTo>
                  <a:pt x="0" y="0"/>
                </a:moveTo>
                <a:lnTo>
                  <a:pt x="15230242" y="0"/>
                </a:lnTo>
                <a:lnTo>
                  <a:pt x="15230242" y="8091066"/>
                </a:lnTo>
                <a:lnTo>
                  <a:pt x="0" y="809106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-533209" y="86577"/>
            <a:ext cx="18288000" cy="19276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153"/>
              </a:lnSpc>
              <a:spcBef>
                <a:spcPct val="0"/>
              </a:spcBef>
            </a:pPr>
            <a:r>
              <a:rPr lang="en-US" sz="5109">
                <a:solidFill>
                  <a:srgbClr val="000000"/>
                </a:solidFill>
                <a:latin typeface="Agrandir"/>
                <a:ea typeface="Agrandir"/>
                <a:cs typeface="Agrandir"/>
                <a:sym typeface="Agrandir"/>
              </a:rPr>
              <a:t>¿Qué información puedo obtener de una imagen histopatológica?</a:t>
            </a:r>
          </a:p>
        </p:txBody>
      </p:sp>
    </p:spTree>
  </p:cSld>
  <p:clrMapOvr>
    <a:masterClrMapping/>
  </p:clrMapOvr>
</p:sld>
</file>

<file path=ppt/slides/slide1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1E3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17046" y="140601"/>
            <a:ext cx="17664463" cy="10598678"/>
          </a:xfrm>
          <a:custGeom>
            <a:avLst/>
            <a:gdLst/>
            <a:ahLst/>
            <a:cxnLst/>
            <a:rect r="r" b="b" t="t" l="l"/>
            <a:pathLst>
              <a:path h="10598678" w="17664463">
                <a:moveTo>
                  <a:pt x="0" y="0"/>
                </a:moveTo>
                <a:lnTo>
                  <a:pt x="17664463" y="0"/>
                </a:lnTo>
                <a:lnTo>
                  <a:pt x="17664463" y="10598677"/>
                </a:lnTo>
                <a:lnTo>
                  <a:pt x="0" y="1059867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10999"/>
            </a:blip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0" y="1361076"/>
            <a:ext cx="18288000" cy="19276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153"/>
              </a:lnSpc>
              <a:spcBef>
                <a:spcPct val="0"/>
              </a:spcBef>
            </a:pPr>
            <a:r>
              <a:rPr lang="en-US" b="true" sz="5109">
                <a:solidFill>
                  <a:srgbClr val="FF3131"/>
                </a:solidFill>
                <a:latin typeface="Agrandir Bold"/>
                <a:ea typeface="Agrandir Bold"/>
                <a:cs typeface="Agrandir Bold"/>
                <a:sym typeface="Agrandir Bold"/>
              </a:rPr>
              <a:t>¿Qué información tengo que utilizar para terner una buena prediccíon?</a:t>
            </a:r>
          </a:p>
        </p:txBody>
      </p:sp>
    </p:spTree>
  </p:cSld>
  <p:clrMapOvr>
    <a:masterClrMapping/>
  </p:clrMapOvr>
</p:sld>
</file>

<file path=ppt/slides/slide1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1E3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30051" y="140601"/>
            <a:ext cx="17664463" cy="10598678"/>
          </a:xfrm>
          <a:custGeom>
            <a:avLst/>
            <a:gdLst/>
            <a:ahLst/>
            <a:cxnLst/>
            <a:rect r="r" b="b" t="t" l="l"/>
            <a:pathLst>
              <a:path h="10598678" w="17664463">
                <a:moveTo>
                  <a:pt x="0" y="0"/>
                </a:moveTo>
                <a:lnTo>
                  <a:pt x="17664463" y="0"/>
                </a:lnTo>
                <a:lnTo>
                  <a:pt x="17664463" y="10598677"/>
                </a:lnTo>
                <a:lnTo>
                  <a:pt x="0" y="1059867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10999"/>
            </a:blip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0" y="1361076"/>
            <a:ext cx="18288000" cy="19276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153"/>
              </a:lnSpc>
              <a:spcBef>
                <a:spcPct val="0"/>
              </a:spcBef>
            </a:pPr>
            <a:r>
              <a:rPr lang="en-US" b="true" sz="5109">
                <a:solidFill>
                  <a:srgbClr val="FF3131"/>
                </a:solidFill>
                <a:latin typeface="Agrandir Bold"/>
                <a:ea typeface="Agrandir Bold"/>
                <a:cs typeface="Agrandir Bold"/>
                <a:sym typeface="Agrandir Bold"/>
              </a:rPr>
              <a:t>¿Qué información tengo que utilizar para terner una buena prediccíon?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0" y="4111239"/>
            <a:ext cx="6141414" cy="199974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420"/>
              </a:lnSpc>
            </a:pPr>
            <a:r>
              <a:rPr lang="en-US" sz="5300" b="true">
                <a:solidFill>
                  <a:srgbClr val="296D5F"/>
                </a:solidFill>
                <a:latin typeface="Agrandir Bold"/>
                <a:ea typeface="Agrandir Bold"/>
                <a:cs typeface="Agrandir Bold"/>
                <a:sym typeface="Agrandir Bold"/>
              </a:rPr>
              <a:t>Respuesta:</a:t>
            </a:r>
          </a:p>
          <a:p>
            <a:pPr algn="ctr">
              <a:lnSpc>
                <a:spcPts val="7420"/>
              </a:lnSpc>
              <a:spcBef>
                <a:spcPct val="0"/>
              </a:spcBef>
            </a:pPr>
          </a:p>
        </p:txBody>
      </p:sp>
    </p:spTree>
  </p:cSld>
  <p:clrMapOvr>
    <a:masterClrMapping/>
  </p:clrMapOvr>
</p:sld>
</file>

<file path=ppt/slides/slide1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1E3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140601"/>
            <a:ext cx="17664463" cy="10598678"/>
          </a:xfrm>
          <a:custGeom>
            <a:avLst/>
            <a:gdLst/>
            <a:ahLst/>
            <a:cxnLst/>
            <a:rect r="r" b="b" t="t" l="l"/>
            <a:pathLst>
              <a:path h="10598678" w="17664463">
                <a:moveTo>
                  <a:pt x="0" y="0"/>
                </a:moveTo>
                <a:lnTo>
                  <a:pt x="17664463" y="0"/>
                </a:lnTo>
                <a:lnTo>
                  <a:pt x="17664463" y="10598677"/>
                </a:lnTo>
                <a:lnTo>
                  <a:pt x="0" y="1059867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10999"/>
            </a:blip>
            <a:stretch>
              <a:fillRect l="0" t="0" r="0" b="0"/>
            </a:stretch>
          </a:blipFill>
        </p:spPr>
      </p:sp>
      <p:pic>
        <p:nvPicPr>
          <p:cNvPr name="Picture 3" id="3">
            <a:hlinkClick action="ppaction://media"/>
          </p:cNvPr>
          <p:cNvPicPr>
            <a:picLocks noChangeAspect="true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5"/>
              </p:ext>
            </p:extLst>
          </p:nvPr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6302010" y="3926905"/>
            <a:ext cx="9871078" cy="5552481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0" y="1361076"/>
            <a:ext cx="18288000" cy="19276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153"/>
              </a:lnSpc>
              <a:spcBef>
                <a:spcPct val="0"/>
              </a:spcBef>
            </a:pPr>
            <a:r>
              <a:rPr lang="en-US" b="true" sz="5109">
                <a:solidFill>
                  <a:srgbClr val="FF3131"/>
                </a:solidFill>
                <a:latin typeface="Agrandir Bold"/>
                <a:ea typeface="Agrandir Bold"/>
                <a:cs typeface="Agrandir Bold"/>
                <a:sym typeface="Agrandir Bold"/>
              </a:rPr>
              <a:t>¿Qué información tengo que utilizar para terner una buena prediccíon?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0" y="4111239"/>
            <a:ext cx="6141414" cy="199974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420"/>
              </a:lnSpc>
            </a:pPr>
            <a:r>
              <a:rPr lang="en-US" sz="5300" b="true">
                <a:solidFill>
                  <a:srgbClr val="296D5F"/>
                </a:solidFill>
                <a:latin typeface="Agrandir Bold"/>
                <a:ea typeface="Agrandir Bold"/>
                <a:cs typeface="Agrandir Bold"/>
                <a:sym typeface="Agrandir Bold"/>
              </a:rPr>
              <a:t>Respuesta:</a:t>
            </a:r>
          </a:p>
          <a:p>
            <a:pPr algn="ctr">
              <a:lnSpc>
                <a:spcPts val="7420"/>
              </a:lnSpc>
              <a:spcBef>
                <a:spcPct val="0"/>
              </a:spcBef>
            </a:pPr>
            <a:r>
              <a:rPr lang="en-US" b="true" sz="5300">
                <a:solidFill>
                  <a:srgbClr val="296D5F"/>
                </a:solidFill>
                <a:latin typeface="Agrandir Bold"/>
                <a:ea typeface="Agrandir Bold"/>
                <a:cs typeface="Agrandir Bold"/>
                <a:sym typeface="Agrandir Bold"/>
              </a:rPr>
              <a:t>¡</a:t>
            </a:r>
            <a:r>
              <a:rPr lang="en-US" b="true" sz="5300">
                <a:solidFill>
                  <a:srgbClr val="296D5F"/>
                </a:solidFill>
                <a:latin typeface="Agrandir Bold"/>
                <a:ea typeface="Agrandir Bold"/>
                <a:cs typeface="Agrandir Bold"/>
                <a:sym typeface="Agrandir Bold"/>
              </a:rPr>
              <a:t>Búscate la vida! </a:t>
            </a:r>
          </a:p>
        </p:txBody>
      </p:sp>
    </p:spTree>
  </p:cSld>
  <p:clrMapOvr>
    <a:masterClrMapping/>
  </p:clrMapOvr>
  <p:timing>
    <p:tnLst>
      <p:par>
        <p:cTn dur="indefinite" restart="never" nodeType="tmRoot">
          <p:childTnLst>
            <p:video>
              <p:cMediaNode vol="0">
                <p:cTn fill="hold" display="false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</p:childTnLst>
        </p:cTn>
      </p:par>
    </p:tnLst>
  </p:timing>
</p:sld>
</file>

<file path=ppt/slides/slide1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1E3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5105551" y="1126984"/>
            <a:ext cx="7738765" cy="102273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153"/>
              </a:lnSpc>
              <a:spcBef>
                <a:spcPct val="0"/>
              </a:spcBef>
            </a:pPr>
            <a:r>
              <a:rPr lang="en-US" b="true" sz="5109">
                <a:solidFill>
                  <a:srgbClr val="000000"/>
                </a:solidFill>
                <a:latin typeface="Agrandir Bold"/>
                <a:ea typeface="Agrandir Bold"/>
                <a:cs typeface="Agrandir Bold"/>
                <a:sym typeface="Agrandir Bold"/>
              </a:rPr>
              <a:t>Información Estadística: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5991972" y="5026430"/>
            <a:ext cx="5965924" cy="102273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153"/>
              </a:lnSpc>
              <a:spcBef>
                <a:spcPct val="0"/>
              </a:spcBef>
            </a:pPr>
            <a:r>
              <a:rPr lang="en-US" b="true" sz="5109">
                <a:solidFill>
                  <a:srgbClr val="000000"/>
                </a:solidFill>
                <a:latin typeface="Agrandir Bold"/>
                <a:ea typeface="Agrandir Bold"/>
                <a:cs typeface="Agrandir Bold"/>
                <a:sym typeface="Agrandir Bold"/>
              </a:rPr>
              <a:t>Información visual: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546214" y="2622569"/>
            <a:ext cx="17741786" cy="19276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153"/>
              </a:lnSpc>
              <a:spcBef>
                <a:spcPct val="0"/>
              </a:spcBef>
            </a:pPr>
            <a:r>
              <a:rPr lang="en-US" sz="5109">
                <a:solidFill>
                  <a:srgbClr val="000000"/>
                </a:solidFill>
                <a:latin typeface="Agrandir"/>
                <a:ea typeface="Agrandir"/>
                <a:cs typeface="Agrandir"/>
                <a:sym typeface="Agrandir"/>
              </a:rPr>
              <a:t>Media, Desviación estándar, gradiente, Normal L1, Transformada de Fourier...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680790" y="6435801"/>
            <a:ext cx="14926419" cy="102273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153"/>
              </a:lnSpc>
              <a:spcBef>
                <a:spcPct val="0"/>
              </a:spcBef>
            </a:pPr>
            <a:r>
              <a:rPr lang="en-US" sz="5109">
                <a:solidFill>
                  <a:srgbClr val="000000"/>
                </a:solidFill>
                <a:latin typeface="Agrandir"/>
                <a:ea typeface="Agrandir"/>
                <a:cs typeface="Agrandir"/>
                <a:sym typeface="Agrandir"/>
              </a:rPr>
              <a:t>Padrones de color, contraste, textura, contorno...</a:t>
            </a:r>
          </a:p>
        </p:txBody>
      </p:sp>
      <p:sp>
        <p:nvSpPr>
          <p:cNvPr name="Freeform 6" id="6"/>
          <p:cNvSpPr/>
          <p:nvPr/>
        </p:nvSpPr>
        <p:spPr>
          <a:xfrm flipH="false" flipV="false" rot="5400000">
            <a:off x="4729465" y="-1904331"/>
            <a:ext cx="2385311" cy="4114800"/>
          </a:xfrm>
          <a:custGeom>
            <a:avLst/>
            <a:gdLst/>
            <a:ahLst/>
            <a:cxnLst/>
            <a:rect r="r" b="b" t="t" l="l"/>
            <a:pathLst>
              <a:path h="4114800" w="2385311">
                <a:moveTo>
                  <a:pt x="0" y="0"/>
                </a:moveTo>
                <a:lnTo>
                  <a:pt x="2385311" y="0"/>
                </a:lnTo>
                <a:lnTo>
                  <a:pt x="2385311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999578" y="4914958"/>
            <a:ext cx="1558087" cy="457083"/>
          </a:xfrm>
          <a:custGeom>
            <a:avLst/>
            <a:gdLst/>
            <a:ahLst/>
            <a:cxnLst/>
            <a:rect r="r" b="b" t="t" l="l"/>
            <a:pathLst>
              <a:path h="457083" w="1558087">
                <a:moveTo>
                  <a:pt x="0" y="0"/>
                </a:moveTo>
                <a:lnTo>
                  <a:pt x="1558087" y="0"/>
                </a:lnTo>
                <a:lnTo>
                  <a:pt x="1558087" y="457084"/>
                </a:lnTo>
                <a:lnTo>
                  <a:pt x="0" y="457084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1E3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9774527" y="546735"/>
            <a:ext cx="7484773" cy="48200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 marL="0" indent="0" lvl="0">
              <a:lnSpc>
                <a:spcPts val="3357"/>
              </a:lnSpc>
            </a:pPr>
            <a:r>
              <a:rPr lang="en-US" sz="2398">
                <a:solidFill>
                  <a:srgbClr val="1F1F25"/>
                </a:solidFill>
                <a:latin typeface="Agrandir"/>
                <a:ea typeface="Agrandir"/>
                <a:cs typeface="Agrandir"/>
                <a:sym typeface="Agrandir"/>
              </a:rPr>
              <a:t>2026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1028700" y="546735"/>
            <a:ext cx="7484773" cy="48200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0" indent="0" lvl="0">
              <a:lnSpc>
                <a:spcPts val="3357"/>
              </a:lnSpc>
            </a:pPr>
            <a:r>
              <a:rPr lang="en-US" sz="2398">
                <a:solidFill>
                  <a:srgbClr val="1F1F25"/>
                </a:solidFill>
                <a:latin typeface="Agrandir"/>
                <a:ea typeface="Agrandir"/>
                <a:cs typeface="Agrandir"/>
                <a:sym typeface="Agrandir"/>
              </a:rPr>
              <a:t>Análisis de Cáncer de Mama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5400000">
            <a:off x="1117409" y="1199697"/>
            <a:ext cx="1055299" cy="1049543"/>
          </a:xfrm>
          <a:custGeom>
            <a:avLst/>
            <a:gdLst/>
            <a:ahLst/>
            <a:cxnLst/>
            <a:rect r="r" b="b" t="t" l="l"/>
            <a:pathLst>
              <a:path h="1049543" w="1055299">
                <a:moveTo>
                  <a:pt x="0" y="0"/>
                </a:moveTo>
                <a:lnTo>
                  <a:pt x="1055299" y="0"/>
                </a:lnTo>
                <a:lnTo>
                  <a:pt x="1055299" y="1049544"/>
                </a:lnTo>
                <a:lnTo>
                  <a:pt x="0" y="1049544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5400000">
            <a:off x="3927633" y="4630725"/>
            <a:ext cx="2298231" cy="3964582"/>
          </a:xfrm>
          <a:custGeom>
            <a:avLst/>
            <a:gdLst/>
            <a:ahLst/>
            <a:cxnLst/>
            <a:rect r="r" b="b" t="t" l="l"/>
            <a:pathLst>
              <a:path h="3964582" w="2298231">
                <a:moveTo>
                  <a:pt x="0" y="0"/>
                </a:moveTo>
                <a:lnTo>
                  <a:pt x="2298232" y="0"/>
                </a:lnTo>
                <a:lnTo>
                  <a:pt x="2298232" y="3964583"/>
                </a:lnTo>
                <a:lnTo>
                  <a:pt x="0" y="3964583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4260049" y="3092607"/>
            <a:ext cx="1633399" cy="479177"/>
          </a:xfrm>
          <a:custGeom>
            <a:avLst/>
            <a:gdLst/>
            <a:ahLst/>
            <a:cxnLst/>
            <a:rect r="r" b="b" t="t" l="l"/>
            <a:pathLst>
              <a:path h="479177" w="1633399">
                <a:moveTo>
                  <a:pt x="0" y="0"/>
                </a:moveTo>
                <a:lnTo>
                  <a:pt x="1633400" y="0"/>
                </a:lnTo>
                <a:lnTo>
                  <a:pt x="1633400" y="479178"/>
                </a:lnTo>
                <a:lnTo>
                  <a:pt x="0" y="479178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7" id="7"/>
          <p:cNvSpPr txBox="true"/>
          <p:nvPr/>
        </p:nvSpPr>
        <p:spPr>
          <a:xfrm rot="0">
            <a:off x="5076749" y="1657794"/>
            <a:ext cx="12182551" cy="339804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8144"/>
              </a:lnSpc>
            </a:pPr>
            <a:r>
              <a:rPr lang="en-US" sz="8396">
                <a:solidFill>
                  <a:srgbClr val="1F1F25"/>
                </a:solidFill>
                <a:latin typeface="Agrandir"/>
                <a:ea typeface="Agrandir"/>
                <a:cs typeface="Agrandir"/>
                <a:sym typeface="Agrandir"/>
              </a:rPr>
              <a:t>RESULTADOS </a:t>
            </a:r>
          </a:p>
          <a:p>
            <a:pPr algn="r" marL="0" indent="0" lvl="0">
              <a:lnSpc>
                <a:spcPts val="8144"/>
              </a:lnSpc>
            </a:pPr>
            <a:r>
              <a:rPr lang="en-US" sz="8396">
                <a:solidFill>
                  <a:srgbClr val="1F1F25"/>
                </a:solidFill>
                <a:latin typeface="Agrandir"/>
                <a:ea typeface="Agrandir"/>
                <a:cs typeface="Agrandir"/>
                <a:sym typeface="Agrandir"/>
              </a:rPr>
              <a:t>EDA (DATOS ESTADÍSTICOS)</a:t>
            </a:r>
          </a:p>
        </p:txBody>
      </p:sp>
    </p:spTree>
  </p:cSld>
  <p:clrMapOvr>
    <a:masterClrMapping/>
  </p:clrMapOvr>
</p:sld>
</file>

<file path=ppt/slides/slide2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1E3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3277119" y="-276396"/>
            <a:ext cx="11425293" cy="10563396"/>
          </a:xfrm>
          <a:custGeom>
            <a:avLst/>
            <a:gdLst/>
            <a:ahLst/>
            <a:cxnLst/>
            <a:rect r="r" b="b" t="t" l="l"/>
            <a:pathLst>
              <a:path h="10563396" w="11425293">
                <a:moveTo>
                  <a:pt x="0" y="0"/>
                </a:moveTo>
                <a:lnTo>
                  <a:pt x="11425293" y="0"/>
                </a:lnTo>
                <a:lnTo>
                  <a:pt x="11425293" y="10563396"/>
                </a:lnTo>
                <a:lnTo>
                  <a:pt x="0" y="1056339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105" r="0" b="-1105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711956" y="369527"/>
            <a:ext cx="2324398" cy="124019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617"/>
              </a:lnSpc>
            </a:pPr>
            <a:r>
              <a:rPr lang="en-US" sz="3298" b="true">
                <a:solidFill>
                  <a:srgbClr val="000000"/>
                </a:solidFill>
                <a:latin typeface="Agrandir Bold"/>
                <a:ea typeface="Agrandir Bold"/>
                <a:cs typeface="Agrandir Bold"/>
                <a:sym typeface="Agrandir Bold"/>
              </a:rPr>
              <a:t>Mejores </a:t>
            </a:r>
          </a:p>
          <a:p>
            <a:pPr algn="ctr">
              <a:lnSpc>
                <a:spcPts val="4617"/>
              </a:lnSpc>
              <a:spcBef>
                <a:spcPct val="0"/>
              </a:spcBef>
            </a:pPr>
            <a:r>
              <a:rPr lang="en-US" b="true" sz="3298">
                <a:solidFill>
                  <a:srgbClr val="000000"/>
                </a:solidFill>
                <a:latin typeface="Agrandir Bold"/>
                <a:ea typeface="Agrandir Bold"/>
                <a:cs typeface="Agrandir Bold"/>
                <a:sym typeface="Agrandir Bold"/>
              </a:rPr>
              <a:t>resultados: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999578" y="4914958"/>
            <a:ext cx="1558087" cy="457083"/>
          </a:xfrm>
          <a:custGeom>
            <a:avLst/>
            <a:gdLst/>
            <a:ahLst/>
            <a:cxnLst/>
            <a:rect r="r" b="b" t="t" l="l"/>
            <a:pathLst>
              <a:path h="457083" w="1558087">
                <a:moveTo>
                  <a:pt x="0" y="0"/>
                </a:moveTo>
                <a:lnTo>
                  <a:pt x="1558087" y="0"/>
                </a:lnTo>
                <a:lnTo>
                  <a:pt x="1558087" y="457084"/>
                </a:lnTo>
                <a:lnTo>
                  <a:pt x="0" y="457084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151978" y="5067358"/>
            <a:ext cx="1558087" cy="457083"/>
          </a:xfrm>
          <a:custGeom>
            <a:avLst/>
            <a:gdLst/>
            <a:ahLst/>
            <a:cxnLst/>
            <a:rect r="r" b="b" t="t" l="l"/>
            <a:pathLst>
              <a:path h="457083" w="1558087">
                <a:moveTo>
                  <a:pt x="0" y="0"/>
                </a:moveTo>
                <a:lnTo>
                  <a:pt x="1558087" y="0"/>
                </a:lnTo>
                <a:lnTo>
                  <a:pt x="1558087" y="457084"/>
                </a:lnTo>
                <a:lnTo>
                  <a:pt x="0" y="457084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1E3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3277119" y="-276396"/>
            <a:ext cx="11425293" cy="10563396"/>
          </a:xfrm>
          <a:custGeom>
            <a:avLst/>
            <a:gdLst/>
            <a:ahLst/>
            <a:cxnLst/>
            <a:rect r="r" b="b" t="t" l="l"/>
            <a:pathLst>
              <a:path h="10563396" w="11425293">
                <a:moveTo>
                  <a:pt x="0" y="0"/>
                </a:moveTo>
                <a:lnTo>
                  <a:pt x="11425293" y="0"/>
                </a:lnTo>
                <a:lnTo>
                  <a:pt x="11425293" y="10563396"/>
                </a:lnTo>
                <a:lnTo>
                  <a:pt x="0" y="1056339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105" r="0" b="-1105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999578" y="4914958"/>
            <a:ext cx="1558087" cy="457083"/>
          </a:xfrm>
          <a:custGeom>
            <a:avLst/>
            <a:gdLst/>
            <a:ahLst/>
            <a:cxnLst/>
            <a:rect r="r" b="b" t="t" l="l"/>
            <a:pathLst>
              <a:path h="457083" w="1558087">
                <a:moveTo>
                  <a:pt x="0" y="0"/>
                </a:moveTo>
                <a:lnTo>
                  <a:pt x="1558087" y="0"/>
                </a:lnTo>
                <a:lnTo>
                  <a:pt x="1558087" y="457084"/>
                </a:lnTo>
                <a:lnTo>
                  <a:pt x="0" y="457084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1151978" y="5067358"/>
            <a:ext cx="1558087" cy="457083"/>
          </a:xfrm>
          <a:custGeom>
            <a:avLst/>
            <a:gdLst/>
            <a:ahLst/>
            <a:cxnLst/>
            <a:rect r="r" b="b" t="t" l="l"/>
            <a:pathLst>
              <a:path h="457083" w="1558087">
                <a:moveTo>
                  <a:pt x="0" y="0"/>
                </a:moveTo>
                <a:lnTo>
                  <a:pt x="1558087" y="0"/>
                </a:lnTo>
                <a:lnTo>
                  <a:pt x="1558087" y="457084"/>
                </a:lnTo>
                <a:lnTo>
                  <a:pt x="0" y="457084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pic>
        <p:nvPicPr>
          <p:cNvPr name="Picture 5" id="5">
            <a:hlinkClick action="ppaction://media"/>
          </p:cNvPr>
          <p:cNvPicPr>
            <a:picLocks noChangeAspect="true"/>
          </p:cNvPicPr>
          <p:nvPr>
            <a:videoFile r:link="rId6"/>
            <p:extLst>
              <p:ext uri="{DAA4B4D4-6D71-4841-9C94-3DE7FCFB9230}">
                <p14:media xmlns:p14="http://schemas.microsoft.com/office/powerpoint/2010/main" r:embed="rId7"/>
              </p:ext>
            </p:extLst>
          </p:nvPr>
        </p:nvPicPr>
        <p:blipFill>
          <a:blip r:embed="rId5"/>
          <a:srcRect l="0" t="0" r="0" b="0"/>
          <a:stretch>
            <a:fillRect/>
          </a:stretch>
        </p:blipFill>
        <p:spPr>
          <a:xfrm flipH="false" flipV="false" rot="0">
            <a:off x="3384493" y="952558"/>
            <a:ext cx="10972800" cy="8229600"/>
          </a:xfrm>
          <a:prstGeom prst="rect">
            <a:avLst/>
          </a:prstGeom>
        </p:spPr>
      </p:pic>
      <p:sp>
        <p:nvSpPr>
          <p:cNvPr name="TextBox 6" id="6"/>
          <p:cNvSpPr txBox="true"/>
          <p:nvPr/>
        </p:nvSpPr>
        <p:spPr>
          <a:xfrm rot="0">
            <a:off x="711956" y="369527"/>
            <a:ext cx="2324398" cy="124019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617"/>
              </a:lnSpc>
            </a:pPr>
            <a:r>
              <a:rPr lang="en-US" sz="3298" b="true">
                <a:solidFill>
                  <a:srgbClr val="000000"/>
                </a:solidFill>
                <a:latin typeface="Agrandir Bold"/>
                <a:ea typeface="Agrandir Bold"/>
                <a:cs typeface="Agrandir Bold"/>
                <a:sym typeface="Agrandir Bold"/>
              </a:rPr>
              <a:t>Mejores </a:t>
            </a:r>
          </a:p>
          <a:p>
            <a:pPr algn="ctr">
              <a:lnSpc>
                <a:spcPts val="4617"/>
              </a:lnSpc>
              <a:spcBef>
                <a:spcPct val="0"/>
              </a:spcBef>
            </a:pPr>
            <a:r>
              <a:rPr lang="en-US" b="true" sz="3298">
                <a:solidFill>
                  <a:srgbClr val="000000"/>
                </a:solidFill>
                <a:latin typeface="Agrandir Bold"/>
                <a:ea typeface="Agrandir Bold"/>
                <a:cs typeface="Agrandir Bold"/>
                <a:sym typeface="Agrandir Bold"/>
              </a:rPr>
              <a:t>resultados:</a:t>
            </a:r>
          </a:p>
        </p:txBody>
      </p:sp>
    </p:spTree>
  </p:cSld>
  <p:clrMapOvr>
    <a:masterClrMapping/>
  </p:clrMapOvr>
  <p:timing>
    <p:tnLst>
      <p:par>
        <p:cTn dur="indefinite" restart="never" nodeType="tmRoot">
          <p:childTnLst>
            <p:video>
              <p:cMediaNode vol="0">
                <p:cTn fill="hold" display="false">
                  <p:stCondLst>
                    <p:cond delay="indefinite"/>
                  </p:stCondLst>
                </p:cTn>
                <p:tgtEl>
                  <p:spTgt spid="5"/>
                </p:tgtEl>
              </p:cMediaNode>
            </p:video>
          </p:childTnLst>
        </p:cTn>
      </p:par>
    </p:tnLst>
  </p:timing>
</p:sld>
</file>

<file path=ppt/slides/slide2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1E3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5400000">
            <a:off x="1117409" y="1199697"/>
            <a:ext cx="1055299" cy="1049543"/>
          </a:xfrm>
          <a:custGeom>
            <a:avLst/>
            <a:gdLst/>
            <a:ahLst/>
            <a:cxnLst/>
            <a:rect r="r" b="b" t="t" l="l"/>
            <a:pathLst>
              <a:path h="1049543" w="1055299">
                <a:moveTo>
                  <a:pt x="0" y="0"/>
                </a:moveTo>
                <a:lnTo>
                  <a:pt x="1055299" y="0"/>
                </a:lnTo>
                <a:lnTo>
                  <a:pt x="1055299" y="1049544"/>
                </a:lnTo>
                <a:lnTo>
                  <a:pt x="0" y="1049544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5400000">
            <a:off x="2641968" y="4440093"/>
            <a:ext cx="2298231" cy="3964582"/>
          </a:xfrm>
          <a:custGeom>
            <a:avLst/>
            <a:gdLst/>
            <a:ahLst/>
            <a:cxnLst/>
            <a:rect r="r" b="b" t="t" l="l"/>
            <a:pathLst>
              <a:path h="3964582" w="2298231">
                <a:moveTo>
                  <a:pt x="0" y="0"/>
                </a:moveTo>
                <a:lnTo>
                  <a:pt x="2298231" y="0"/>
                </a:lnTo>
                <a:lnTo>
                  <a:pt x="2298231" y="3964582"/>
                </a:lnTo>
                <a:lnTo>
                  <a:pt x="0" y="3964582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2640311" y="946932"/>
            <a:ext cx="11186666" cy="75124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317"/>
              </a:lnSpc>
              <a:spcBef>
                <a:spcPct val="0"/>
              </a:spcBef>
            </a:pPr>
            <a:r>
              <a:rPr lang="en-US" b="true" sz="3798">
                <a:solidFill>
                  <a:srgbClr val="000000"/>
                </a:solidFill>
                <a:latin typeface="Agrandir Bold"/>
                <a:ea typeface="Agrandir Bold"/>
                <a:cs typeface="Agrandir Bold"/>
                <a:sym typeface="Agrandir Bold"/>
              </a:rPr>
              <a:t>No hay cómo huir de modelos de deep learning :(</a:t>
            </a:r>
          </a:p>
        </p:txBody>
      </p:sp>
    </p:spTree>
  </p:cSld>
  <p:clrMapOvr>
    <a:masterClrMapping/>
  </p:clrMapOvr>
</p:sld>
</file>

<file path=ppt/slides/slide2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1E3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5400000">
            <a:off x="1117409" y="1199697"/>
            <a:ext cx="1055299" cy="1049543"/>
          </a:xfrm>
          <a:custGeom>
            <a:avLst/>
            <a:gdLst/>
            <a:ahLst/>
            <a:cxnLst/>
            <a:rect r="r" b="b" t="t" l="l"/>
            <a:pathLst>
              <a:path h="1049543" w="1055299">
                <a:moveTo>
                  <a:pt x="0" y="0"/>
                </a:moveTo>
                <a:lnTo>
                  <a:pt x="1055299" y="0"/>
                </a:lnTo>
                <a:lnTo>
                  <a:pt x="1055299" y="1049544"/>
                </a:lnTo>
                <a:lnTo>
                  <a:pt x="0" y="1049544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5400000">
            <a:off x="2733004" y="4440093"/>
            <a:ext cx="2298231" cy="3964582"/>
          </a:xfrm>
          <a:custGeom>
            <a:avLst/>
            <a:gdLst/>
            <a:ahLst/>
            <a:cxnLst/>
            <a:rect r="r" b="b" t="t" l="l"/>
            <a:pathLst>
              <a:path h="3964582" w="2298231">
                <a:moveTo>
                  <a:pt x="0" y="0"/>
                </a:moveTo>
                <a:lnTo>
                  <a:pt x="2298231" y="0"/>
                </a:lnTo>
                <a:lnTo>
                  <a:pt x="2298231" y="3964582"/>
                </a:lnTo>
                <a:lnTo>
                  <a:pt x="0" y="3964582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pic>
        <p:nvPicPr>
          <p:cNvPr name="Picture 4" id="4">
            <a:hlinkClick action="ppaction://media"/>
          </p:cNvPr>
          <p:cNvPicPr>
            <a:picLocks noChangeAspect="true"/>
          </p:cNvPicPr>
          <p:nvPr>
            <a:videoFile r:link="rId7"/>
            <p:extLst>
              <p:ext uri="{DAA4B4D4-6D71-4841-9C94-3DE7FCFB9230}">
                <p14:media xmlns:p14="http://schemas.microsoft.com/office/powerpoint/2010/main" r:embed="rId8"/>
              </p:ext>
            </p:extLst>
          </p:nvPr>
        </p:nvPicPr>
        <p:blipFill>
          <a:blip r:embed="rId6"/>
          <a:srcRect l="0" t="0" r="0" b="0"/>
          <a:stretch>
            <a:fillRect/>
          </a:stretch>
        </p:blipFill>
        <p:spPr>
          <a:xfrm flipH="false" flipV="false" rot="0">
            <a:off x="5424434" y="2315712"/>
            <a:ext cx="7439132" cy="4463479"/>
          </a:xfrm>
          <a:prstGeom prst="rect">
            <a:avLst/>
          </a:prstGeom>
        </p:spPr>
      </p:pic>
      <p:sp>
        <p:nvSpPr>
          <p:cNvPr name="TextBox 5" id="5"/>
          <p:cNvSpPr txBox="true"/>
          <p:nvPr/>
        </p:nvSpPr>
        <p:spPr>
          <a:xfrm rot="0">
            <a:off x="2640311" y="946932"/>
            <a:ext cx="11186666" cy="75124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317"/>
              </a:lnSpc>
              <a:spcBef>
                <a:spcPct val="0"/>
              </a:spcBef>
            </a:pPr>
            <a:r>
              <a:rPr lang="en-US" b="true" sz="3798">
                <a:solidFill>
                  <a:srgbClr val="000000"/>
                </a:solidFill>
                <a:latin typeface="Agrandir Bold"/>
                <a:ea typeface="Agrandir Bold"/>
                <a:cs typeface="Agrandir Bold"/>
                <a:sym typeface="Agrandir Bold"/>
              </a:rPr>
              <a:t>No hay cómo huir de modelos de deep learning :(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-195076" y="7777932"/>
            <a:ext cx="18288000" cy="108843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057"/>
              </a:lnSpc>
              <a:spcBef>
                <a:spcPct val="0"/>
              </a:spcBef>
            </a:pPr>
            <a:r>
              <a:rPr lang="en-US" b="true" sz="2898" i="true">
                <a:solidFill>
                  <a:srgbClr val="000000"/>
                </a:solidFill>
                <a:latin typeface="Agrandir Bold Italics"/>
                <a:ea typeface="Agrandir Bold Italics"/>
                <a:cs typeface="Agrandir Bold Italics"/>
                <a:sym typeface="Agrandir Bold Italics"/>
              </a:rPr>
              <a:t>Promt:</a:t>
            </a:r>
            <a:r>
              <a:rPr lang="en-US" sz="2898" i="true">
                <a:solidFill>
                  <a:srgbClr val="000000"/>
                </a:solidFill>
                <a:latin typeface="Agrandir Italics"/>
                <a:ea typeface="Agrandir Italics"/>
                <a:cs typeface="Agrandir Italics"/>
                <a:sym typeface="Agrandir Italics"/>
              </a:rPr>
              <a:t> “¿Qué modelos preentrenados de deep learning puedo utilizar como base para crear mi modelo de clasificación de histopatología?”</a:t>
            </a:r>
          </a:p>
        </p:txBody>
      </p:sp>
    </p:spTree>
  </p:cSld>
  <p:clrMapOvr>
    <a:masterClrMapping/>
  </p:clrMapOvr>
  <p:timing>
    <p:tnLst>
      <p:par>
        <p:cTn dur="indefinite" restart="never" nodeType="tmRoot">
          <p:childTnLst>
            <p:video>
              <p:cMediaNode vol="0">
                <p:cTn fill="hold" display="false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</p:childTnLst>
        </p:cTn>
      </p:par>
    </p:tnLst>
  </p:timing>
</p:sld>
</file>

<file path=ppt/slides/slide2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1E3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5400000">
            <a:off x="1117409" y="1199697"/>
            <a:ext cx="1055299" cy="1049543"/>
          </a:xfrm>
          <a:custGeom>
            <a:avLst/>
            <a:gdLst/>
            <a:ahLst/>
            <a:cxnLst/>
            <a:rect r="r" b="b" t="t" l="l"/>
            <a:pathLst>
              <a:path h="1049543" w="1055299">
                <a:moveTo>
                  <a:pt x="0" y="0"/>
                </a:moveTo>
                <a:lnTo>
                  <a:pt x="1055299" y="0"/>
                </a:lnTo>
                <a:lnTo>
                  <a:pt x="1055299" y="1049544"/>
                </a:lnTo>
                <a:lnTo>
                  <a:pt x="0" y="1049544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5400000">
            <a:off x="2733004" y="4440093"/>
            <a:ext cx="2298231" cy="3964582"/>
          </a:xfrm>
          <a:custGeom>
            <a:avLst/>
            <a:gdLst/>
            <a:ahLst/>
            <a:cxnLst/>
            <a:rect r="r" b="b" t="t" l="l"/>
            <a:pathLst>
              <a:path h="3964582" w="2298231">
                <a:moveTo>
                  <a:pt x="0" y="0"/>
                </a:moveTo>
                <a:lnTo>
                  <a:pt x="2298231" y="0"/>
                </a:lnTo>
                <a:lnTo>
                  <a:pt x="2298231" y="3964582"/>
                </a:lnTo>
                <a:lnTo>
                  <a:pt x="0" y="3964582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3156469" y="5143500"/>
            <a:ext cx="12339205" cy="3296459"/>
          </a:xfrm>
          <a:custGeom>
            <a:avLst/>
            <a:gdLst/>
            <a:ahLst/>
            <a:cxnLst/>
            <a:rect r="r" b="b" t="t" l="l"/>
            <a:pathLst>
              <a:path h="3296459" w="12339205">
                <a:moveTo>
                  <a:pt x="0" y="0"/>
                </a:moveTo>
                <a:lnTo>
                  <a:pt x="12339205" y="0"/>
                </a:lnTo>
                <a:lnTo>
                  <a:pt x="12339205" y="3296459"/>
                </a:lnTo>
                <a:lnTo>
                  <a:pt x="0" y="329645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  <p:sp>
        <p:nvSpPr>
          <p:cNvPr name="TextBox 5" id="5"/>
          <p:cNvSpPr txBox="true"/>
          <p:nvPr/>
        </p:nvSpPr>
        <p:spPr>
          <a:xfrm rot="0">
            <a:off x="2169830" y="2212712"/>
            <a:ext cx="13450107" cy="108843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057"/>
              </a:lnSpc>
              <a:spcBef>
                <a:spcPct val="0"/>
              </a:spcBef>
            </a:pPr>
            <a:r>
              <a:rPr lang="en-US" b="true" sz="2898" i="true">
                <a:solidFill>
                  <a:srgbClr val="000000"/>
                </a:solidFill>
                <a:latin typeface="Agrandir Bold Italics"/>
                <a:ea typeface="Agrandir Bold Italics"/>
                <a:cs typeface="Agrandir Bold Italics"/>
                <a:sym typeface="Agrandir Bold Italics"/>
              </a:rPr>
              <a:t>Promt:</a:t>
            </a:r>
            <a:r>
              <a:rPr lang="en-US" sz="2898" i="true">
                <a:solidFill>
                  <a:srgbClr val="000000"/>
                </a:solidFill>
                <a:latin typeface="Agrandir Italics"/>
                <a:ea typeface="Agrandir Italics"/>
                <a:cs typeface="Agrandir Italics"/>
                <a:sym typeface="Agrandir Italics"/>
              </a:rPr>
              <a:t> “¿Qué modelos preentrenados de deep learning puedo utilizar como base para crear mi modelo de clasificación de histopatología?”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5031892" y="3805970"/>
            <a:ext cx="7313861" cy="58106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197"/>
              </a:lnSpc>
              <a:spcBef>
                <a:spcPct val="0"/>
              </a:spcBef>
            </a:pPr>
            <a:r>
              <a:rPr lang="en-US" b="true" sz="2998">
                <a:solidFill>
                  <a:srgbClr val="000000"/>
                </a:solidFill>
                <a:latin typeface="Agrandir Bold"/>
                <a:ea typeface="Agrandir Bold"/>
                <a:cs typeface="Agrandir Bold"/>
                <a:sym typeface="Agrandir Bold"/>
              </a:rPr>
              <a:t>Answer: </a:t>
            </a:r>
            <a:r>
              <a:rPr lang="en-US" sz="2998">
                <a:solidFill>
                  <a:srgbClr val="000000"/>
                </a:solidFill>
                <a:latin typeface="Agrandir"/>
                <a:ea typeface="Agrandir"/>
                <a:cs typeface="Agrandir"/>
                <a:sym typeface="Agrandir"/>
              </a:rPr>
              <a:t> DenseNet121 (transfer learning)</a:t>
            </a:r>
          </a:p>
        </p:txBody>
      </p:sp>
    </p:spTree>
  </p:cSld>
  <p:clrMapOvr>
    <a:masterClrMapping/>
  </p:clrMapOvr>
</p:sld>
</file>

<file path=ppt/slides/slide2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1E3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name="Object 2" id="2"/>
          <p:cNvGraphicFramePr/>
          <p:nvPr/>
        </p:nvGraphicFramePr>
        <p:xfrm>
          <a:off x="4709053" y="2343154"/>
          <a:ext cx="7543800" cy="4400550"/>
        </p:xfrm>
        <a:graphic>
          <a:graphicData uri="http://schemas.openxmlformats.org/presentationml/2006/ole">
            <p:oleObj imgW="9042400" imgH="5905500" r:id="rId3" progId="Excel.Sheet.12" name="Worksheet">
              <p:embed/>
              <p:pic>
                <p:nvPicPr>
                  <p:cNvPr name="" id="0"/>
                  <p:cNvPicPr/>
                  <p:nvPr/>
                </p:nvPicPr>
                <p:blipFill>
                  <a:blip r:embed="rId2"/>
                  <a:stretch>
                    <a:fillRect/>
                  </a:stretch>
                </p:blipFill>
                <p:spPr>
                  <a:xfrm>
                    <a:off x="1270000" y="1270000"/>
                    <a:ext cx="1270000" cy="1270000"/>
                  </a:xfrm>
                  <a:prstGeom prst="rect"/>
                </p:spPr>
              </p:pic>
            </p:oleObj>
          </a:graphicData>
        </a:graphic>
      </p:graphicFrame>
      <p:sp>
        <p:nvSpPr>
          <p:cNvPr name="Freeform 3" id="3"/>
          <p:cNvSpPr/>
          <p:nvPr/>
        </p:nvSpPr>
        <p:spPr>
          <a:xfrm flipH="false" flipV="false" rot="5400000">
            <a:off x="1117409" y="1199697"/>
            <a:ext cx="1055299" cy="1049543"/>
          </a:xfrm>
          <a:custGeom>
            <a:avLst/>
            <a:gdLst/>
            <a:ahLst/>
            <a:cxnLst/>
            <a:rect r="r" b="b" t="t" l="l"/>
            <a:pathLst>
              <a:path h="1049543" w="1055299">
                <a:moveTo>
                  <a:pt x="0" y="0"/>
                </a:moveTo>
                <a:lnTo>
                  <a:pt x="1055299" y="0"/>
                </a:lnTo>
                <a:lnTo>
                  <a:pt x="1055299" y="1049544"/>
                </a:lnTo>
                <a:lnTo>
                  <a:pt x="0" y="1049544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5400000">
            <a:off x="14723696" y="5350574"/>
            <a:ext cx="2298231" cy="3964582"/>
          </a:xfrm>
          <a:custGeom>
            <a:avLst/>
            <a:gdLst/>
            <a:ahLst/>
            <a:cxnLst/>
            <a:rect r="r" b="b" t="t" l="l"/>
            <a:pathLst>
              <a:path h="3964582" w="2298231">
                <a:moveTo>
                  <a:pt x="0" y="0"/>
                </a:moveTo>
                <a:lnTo>
                  <a:pt x="2298231" y="0"/>
                </a:lnTo>
                <a:lnTo>
                  <a:pt x="2298231" y="3964582"/>
                </a:lnTo>
                <a:lnTo>
                  <a:pt x="0" y="3964582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5" id="5"/>
          <p:cNvSpPr txBox="true"/>
          <p:nvPr/>
        </p:nvSpPr>
        <p:spPr>
          <a:xfrm rot="0">
            <a:off x="7531115" y="1367260"/>
            <a:ext cx="2497485" cy="58106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197"/>
              </a:lnSpc>
              <a:spcBef>
                <a:spcPct val="0"/>
              </a:spcBef>
            </a:pPr>
            <a:r>
              <a:rPr lang="en-US" b="true" sz="2998">
                <a:solidFill>
                  <a:srgbClr val="000000"/>
                </a:solidFill>
                <a:latin typeface="Agrandir Bold"/>
                <a:ea typeface="Agrandir Bold"/>
                <a:cs typeface="Agrandir Bold"/>
                <a:sym typeface="Agrandir Bold"/>
              </a:rPr>
              <a:t>Modelo Base: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7110770" y="9134475"/>
            <a:ext cx="3754338" cy="48200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57"/>
              </a:lnSpc>
              <a:spcBef>
                <a:spcPct val="0"/>
              </a:spcBef>
            </a:pPr>
            <a:r>
              <a:rPr lang="en-US" b="true" sz="2398">
                <a:solidFill>
                  <a:srgbClr val="000000"/>
                </a:solidFill>
                <a:latin typeface="Agrandir Bold"/>
                <a:ea typeface="Agrandir Bold"/>
                <a:cs typeface="Agrandir Bold"/>
                <a:sym typeface="Agrandir Bold"/>
              </a:rPr>
              <a:t>Parámetros ~ 7.000.000</a:t>
            </a:r>
          </a:p>
        </p:txBody>
      </p:sp>
    </p:spTree>
  </p:cSld>
  <p:clrMapOvr>
    <a:masterClrMapping/>
  </p:clrMapOvr>
</p:sld>
</file>

<file path=ppt/slides/slide2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1E3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name="Object 2" id="2"/>
          <p:cNvGraphicFramePr/>
          <p:nvPr/>
        </p:nvGraphicFramePr>
        <p:xfrm>
          <a:off x="4223810" y="1752306"/>
          <a:ext cx="3771900" cy="6286500"/>
        </p:xfrm>
        <a:graphic>
          <a:graphicData uri="http://schemas.openxmlformats.org/presentationml/2006/ole">
            <p:oleObj imgW="5029200" imgH="7543800" r:id="rId3" progId="Excel.Sheet.12" name="Worksheet">
              <p:embed/>
              <p:pic>
                <p:nvPicPr>
                  <p:cNvPr name="" id="0"/>
                  <p:cNvPicPr/>
                  <p:nvPr/>
                </p:nvPicPr>
                <p:blipFill>
                  <a:blip r:embed="rId2"/>
                  <a:stretch>
                    <a:fillRect/>
                  </a:stretch>
                </p:blipFill>
                <p:spPr>
                  <a:xfrm>
                    <a:off x="1270000" y="1270000"/>
                    <a:ext cx="1270000" cy="1270000"/>
                  </a:xfrm>
                  <a:prstGeom prst="rect"/>
                </p:spPr>
              </p:pic>
            </p:oleObj>
          </a:graphicData>
        </a:graphic>
      </p:graphicFrame>
      <p:sp>
        <p:nvSpPr>
          <p:cNvPr name="TextBox 3" id="3"/>
          <p:cNvSpPr txBox="true"/>
          <p:nvPr/>
        </p:nvSpPr>
        <p:spPr>
          <a:xfrm rot="0">
            <a:off x="7528071" y="857250"/>
            <a:ext cx="2080920" cy="70343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986"/>
              </a:lnSpc>
              <a:spcBef>
                <a:spcPct val="0"/>
              </a:spcBef>
            </a:pPr>
            <a:r>
              <a:rPr lang="en-US" b="true" sz="3562">
                <a:solidFill>
                  <a:srgbClr val="000000"/>
                </a:solidFill>
                <a:latin typeface="Agrandir Bold"/>
                <a:ea typeface="Agrandir Bold"/>
                <a:cs typeface="Agrandir Bold"/>
                <a:sym typeface="Agrandir Bold"/>
              </a:rPr>
              <a:t>Modelo 0</a:t>
            </a:r>
          </a:p>
        </p:txBody>
      </p:sp>
    </p:spTree>
  </p:cSld>
  <p:clrMapOvr>
    <a:masterClrMapping/>
  </p:clrMapOvr>
</p:sld>
</file>

<file path=ppt/slides/slide2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1E3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name="Object 2" id="2"/>
          <p:cNvGraphicFramePr/>
          <p:nvPr/>
        </p:nvGraphicFramePr>
        <p:xfrm>
          <a:off x="2312061" y="772580"/>
          <a:ext cx="3771900" cy="6286500"/>
        </p:xfrm>
        <a:graphic>
          <a:graphicData uri="http://schemas.openxmlformats.org/presentationml/2006/ole">
            <p:oleObj imgW="5029200" imgH="7543800" r:id="rId3" progId="Excel.Sheet.12" name="Worksheet">
              <p:embed/>
              <p:pic>
                <p:nvPicPr>
                  <p:cNvPr name="" id="0"/>
                  <p:cNvPicPr/>
                  <p:nvPr/>
                </p:nvPicPr>
                <p:blipFill>
                  <a:blip r:embed="rId2"/>
                  <a:stretch>
                    <a:fillRect/>
                  </a:stretch>
                </p:blipFill>
                <p:spPr>
                  <a:xfrm>
                    <a:off x="1270000" y="1270000"/>
                    <a:ext cx="1270000" cy="1270000"/>
                  </a:xfrm>
                  <a:prstGeom prst="rect"/>
                </p:spPr>
              </p:pic>
            </p:oleObj>
          </a:graphicData>
        </a:graphic>
      </p:graphicFrame>
      <p:graphicFrame>
        <p:nvGraphicFramePr>
          <p:cNvPr name="Object 3" id="3"/>
          <p:cNvGraphicFramePr/>
          <p:nvPr/>
        </p:nvGraphicFramePr>
        <p:xfrm>
          <a:off x="8967323" y="643564"/>
          <a:ext cx="6548242" cy="8229600"/>
        </p:xfrm>
        <a:graphic>
          <a:graphicData uri="http://schemas.openxmlformats.org/presentationml/2006/ole">
            <p:oleObj imgW="8191500" imgH="9867900" r:id="rId5" progId="Excel.Sheet.12" name="Worksheet">
              <p:embed/>
              <p:pic>
                <p:nvPicPr>
                  <p:cNvPr name="" id="0"/>
                  <p:cNvPicPr/>
                  <p:nvPr/>
                </p:nvPicPr>
                <p:blipFill>
                  <a:blip r:embed="rId4"/>
                  <a:stretch>
                    <a:fillRect/>
                  </a:stretch>
                </p:blipFill>
                <p:spPr>
                  <a:xfrm>
                    <a:off x="1270000" y="1270000"/>
                    <a:ext cx="1270000" cy="1270000"/>
                  </a:xfrm>
                  <a:prstGeom prst="rect"/>
                </p:spPr>
              </p:pic>
            </p:oleObj>
          </a:graphicData>
        </a:graphic>
      </p:graphicFrame>
      <p:sp>
        <p:nvSpPr>
          <p:cNvPr name="TextBox 4" id="4"/>
          <p:cNvSpPr txBox="true"/>
          <p:nvPr/>
        </p:nvSpPr>
        <p:spPr>
          <a:xfrm rot="0">
            <a:off x="4006901" y="161556"/>
            <a:ext cx="1401068" cy="48200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57"/>
              </a:lnSpc>
              <a:spcBef>
                <a:spcPct val="0"/>
              </a:spcBef>
            </a:pPr>
            <a:r>
              <a:rPr lang="en-US" b="true" sz="2398">
                <a:solidFill>
                  <a:srgbClr val="000000"/>
                </a:solidFill>
                <a:latin typeface="Agrandir Bold"/>
                <a:ea typeface="Agrandir Bold"/>
                <a:cs typeface="Agrandir Bold"/>
                <a:sym typeface="Agrandir Bold"/>
              </a:rPr>
              <a:t>Modelo 0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1677194" y="-17535"/>
            <a:ext cx="1341090" cy="48200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57"/>
              </a:lnSpc>
              <a:spcBef>
                <a:spcPct val="0"/>
              </a:spcBef>
            </a:pPr>
            <a:r>
              <a:rPr lang="en-US" b="true" sz="2398">
                <a:solidFill>
                  <a:srgbClr val="000000"/>
                </a:solidFill>
                <a:latin typeface="Agrandir Bold"/>
                <a:ea typeface="Agrandir Bold"/>
                <a:cs typeface="Agrandir Bold"/>
                <a:sym typeface="Agrandir Bold"/>
              </a:rPr>
              <a:t>Modelo 1</a:t>
            </a:r>
          </a:p>
        </p:txBody>
      </p:sp>
      <p:graphicFrame>
        <p:nvGraphicFramePr>
          <p:cNvPr name="Object 6" id="6"/>
          <p:cNvGraphicFramePr/>
          <p:nvPr/>
        </p:nvGraphicFramePr>
        <p:xfrm>
          <a:off x="2312061" y="5786029"/>
          <a:ext cx="3771900" cy="6286500"/>
        </p:xfrm>
        <a:graphic>
          <a:graphicData uri="http://schemas.openxmlformats.org/presentationml/2006/ole">
            <p:oleObj imgW="5029200" imgH="7543800" r:id="rId7" progId="Excel.Sheet.12" name="Worksheet">
              <p:embed/>
              <p:pic>
                <p:nvPicPr>
                  <p:cNvPr name="" id="0"/>
                  <p:cNvPicPr/>
                  <p:nvPr/>
                </p:nvPicPr>
                <p:blipFill>
                  <a:blip r:embed="rId6"/>
                  <a:stretch>
                    <a:fillRect/>
                  </a:stretch>
                </p:blipFill>
                <p:spPr>
                  <a:xfrm>
                    <a:off x="1270000" y="1270000"/>
                    <a:ext cx="1270000" cy="1270000"/>
                  </a:xfrm>
                  <a:prstGeom prst="rect"/>
                </p:spPr>
              </p:pic>
            </p:oleObj>
          </a:graphicData>
        </a:graphic>
      </p:graphicFrame>
      <p:graphicFrame>
        <p:nvGraphicFramePr>
          <p:cNvPr name="Object 7" id="7"/>
          <p:cNvGraphicFramePr/>
          <p:nvPr/>
        </p:nvGraphicFramePr>
        <p:xfrm>
          <a:off x="8967323" y="5761871"/>
          <a:ext cx="6548242" cy="8229600"/>
        </p:xfrm>
        <a:graphic>
          <a:graphicData uri="http://schemas.openxmlformats.org/presentationml/2006/ole">
            <p:oleObj imgW="8191500" imgH="9867900" r:id="rId9" progId="Excel.Sheet.12" name="Worksheet">
              <p:embed/>
              <p:pic>
                <p:nvPicPr>
                  <p:cNvPr name="" id="0"/>
                  <p:cNvPicPr/>
                  <p:nvPr/>
                </p:nvPicPr>
                <p:blipFill>
                  <a:blip r:embed="rId8"/>
                  <a:stretch>
                    <a:fillRect/>
                  </a:stretch>
                </p:blipFill>
                <p:spPr>
                  <a:xfrm>
                    <a:off x="1270000" y="1270000"/>
                    <a:ext cx="1270000" cy="1270000"/>
                  </a:xfrm>
                  <a:prstGeom prst="rect"/>
                </p:spPr>
              </p:pic>
            </p:oleObj>
          </a:graphicData>
        </a:graphic>
      </p:graphicFrame>
      <p:sp>
        <p:nvSpPr>
          <p:cNvPr name="TextBox 8" id="8"/>
          <p:cNvSpPr txBox="true"/>
          <p:nvPr/>
        </p:nvSpPr>
        <p:spPr>
          <a:xfrm rot="0">
            <a:off x="4006901" y="5191659"/>
            <a:ext cx="1367582" cy="48200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57"/>
              </a:lnSpc>
              <a:spcBef>
                <a:spcPct val="0"/>
              </a:spcBef>
            </a:pPr>
            <a:r>
              <a:rPr lang="en-US" b="true" sz="2398">
                <a:solidFill>
                  <a:srgbClr val="000000"/>
                </a:solidFill>
                <a:latin typeface="Agrandir Bold"/>
                <a:ea typeface="Agrandir Bold"/>
                <a:cs typeface="Agrandir Bold"/>
                <a:sym typeface="Agrandir Bold"/>
              </a:rPr>
              <a:t>Modelo 2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1387945" y="5279864"/>
            <a:ext cx="1371005" cy="48200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57"/>
              </a:lnSpc>
              <a:spcBef>
                <a:spcPct val="0"/>
              </a:spcBef>
            </a:pPr>
            <a:r>
              <a:rPr lang="en-US" b="true" sz="2398">
                <a:solidFill>
                  <a:srgbClr val="000000"/>
                </a:solidFill>
                <a:latin typeface="Agrandir Bold"/>
                <a:ea typeface="Agrandir Bold"/>
                <a:cs typeface="Agrandir Bold"/>
                <a:sym typeface="Agrandir Bold"/>
              </a:rPr>
              <a:t>Modelo 3</a:t>
            </a:r>
          </a:p>
        </p:txBody>
      </p:sp>
    </p:spTree>
  </p:cSld>
  <p:clrMapOvr>
    <a:masterClrMapping/>
  </p:clrMapOvr>
</p:sld>
</file>

<file path=ppt/slides/slide2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1E3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name="Object 2" id="2"/>
          <p:cNvGraphicFramePr/>
          <p:nvPr/>
        </p:nvGraphicFramePr>
        <p:xfrm>
          <a:off x="1327517" y="1028700"/>
          <a:ext cx="7543800" cy="3143250"/>
        </p:xfrm>
        <a:graphic>
          <a:graphicData uri="http://schemas.openxmlformats.org/presentationml/2006/ole">
            <p:oleObj imgW="9042400" imgH="4648200" r:id="rId3" progId="Excel.Sheet.12" name="Worksheet">
              <p:embed/>
              <p:pic>
                <p:nvPicPr>
                  <p:cNvPr name="" id="0"/>
                  <p:cNvPicPr/>
                  <p:nvPr/>
                </p:nvPicPr>
                <p:blipFill>
                  <a:blip r:embed="rId2"/>
                  <a:stretch>
                    <a:fillRect/>
                  </a:stretch>
                </p:blipFill>
                <p:spPr>
                  <a:xfrm>
                    <a:off x="1270000" y="1270000"/>
                    <a:ext cx="1270000" cy="1270000"/>
                  </a:xfrm>
                  <a:prstGeom prst="rect"/>
                </p:spPr>
              </p:pic>
            </p:oleObj>
          </a:graphicData>
        </a:graphic>
      </p:graphicFrame>
      <p:graphicFrame>
        <p:nvGraphicFramePr>
          <p:cNvPr name="Object 3" id="3"/>
          <p:cNvGraphicFramePr/>
          <p:nvPr/>
        </p:nvGraphicFramePr>
        <p:xfrm>
          <a:off x="9313066" y="1605904"/>
          <a:ext cx="3771900" cy="3771900"/>
        </p:xfrm>
        <a:graphic>
          <a:graphicData uri="http://schemas.openxmlformats.org/presentationml/2006/ole">
            <p:oleObj imgW="4521200" imgH="4521200" r:id="rId5" progId="Excel.Sheet.12" name="Worksheet">
              <p:embed/>
              <p:pic>
                <p:nvPicPr>
                  <p:cNvPr name="" id="0"/>
                  <p:cNvPicPr/>
                  <p:nvPr/>
                </p:nvPicPr>
                <p:blipFill>
                  <a:blip r:embed="rId4"/>
                  <a:stretch>
                    <a:fillRect/>
                  </a:stretch>
                </p:blipFill>
                <p:spPr>
                  <a:xfrm>
                    <a:off x="1270000" y="1270000"/>
                    <a:ext cx="1270000" cy="1270000"/>
                  </a:xfrm>
                  <a:prstGeom prst="rect"/>
                </p:spPr>
              </p:pic>
            </p:oleObj>
          </a:graphicData>
        </a:graphic>
      </p:graphicFrame>
      <p:graphicFrame>
        <p:nvGraphicFramePr>
          <p:cNvPr name="Object 4" id="4"/>
          <p:cNvGraphicFramePr/>
          <p:nvPr/>
        </p:nvGraphicFramePr>
        <p:xfrm>
          <a:off x="7427116" y="7269726"/>
          <a:ext cx="3771900" cy="1885950"/>
        </p:xfrm>
        <a:graphic>
          <a:graphicData uri="http://schemas.openxmlformats.org/presentationml/2006/ole">
            <p:oleObj imgW="4521200" imgH="2628900" r:id="rId7" progId="Excel.Sheet.12" name="Worksheet">
              <p:embed/>
              <p:pic>
                <p:nvPicPr>
                  <p:cNvPr name="" id="0"/>
                  <p:cNvPicPr/>
                  <p:nvPr/>
                </p:nvPicPr>
                <p:blipFill>
                  <a:blip r:embed="rId6"/>
                  <a:stretch>
                    <a:fillRect/>
                  </a:stretch>
                </p:blipFill>
                <p:spPr>
                  <a:xfrm>
                    <a:off x="1270000" y="1270000"/>
                    <a:ext cx="1270000" cy="1270000"/>
                  </a:xfrm>
                  <a:prstGeom prst="rect"/>
                </p:spPr>
              </p:pic>
            </p:oleObj>
          </a:graphicData>
        </a:graphic>
      </p:graphicFrame>
      <p:sp>
        <p:nvSpPr>
          <p:cNvPr name="TextBox 5" id="5"/>
          <p:cNvSpPr txBox="true"/>
          <p:nvPr/>
        </p:nvSpPr>
        <p:spPr>
          <a:xfrm rot="0">
            <a:off x="3867106" y="460849"/>
            <a:ext cx="1372195" cy="48200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57"/>
              </a:lnSpc>
              <a:spcBef>
                <a:spcPct val="0"/>
              </a:spcBef>
            </a:pPr>
            <a:r>
              <a:rPr lang="en-US" b="true" sz="2398">
                <a:solidFill>
                  <a:srgbClr val="000000"/>
                </a:solidFill>
                <a:latin typeface="Agrandir Bold"/>
                <a:ea typeface="Agrandir Bold"/>
                <a:cs typeface="Agrandir Bold"/>
                <a:sym typeface="Agrandir Bold"/>
              </a:rPr>
              <a:t>Resumen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8479033" y="819031"/>
            <a:ext cx="4605933" cy="48200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57"/>
              </a:lnSpc>
              <a:spcBef>
                <a:spcPct val="0"/>
              </a:spcBef>
            </a:pPr>
            <a:r>
              <a:rPr lang="en-US" b="true" sz="2398">
                <a:solidFill>
                  <a:srgbClr val="000000"/>
                </a:solidFill>
                <a:latin typeface="Agrandir Bold"/>
                <a:ea typeface="Agrandir Bold"/>
                <a:cs typeface="Agrandir Bold"/>
                <a:sym typeface="Agrandir Bold"/>
              </a:rPr>
              <a:t>Parámetros de entrenamiento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7626618" y="6557255"/>
            <a:ext cx="3789908" cy="48200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57"/>
              </a:lnSpc>
              <a:spcBef>
                <a:spcPct val="0"/>
              </a:spcBef>
            </a:pPr>
            <a:r>
              <a:rPr lang="en-US" b="true" sz="2398">
                <a:solidFill>
                  <a:srgbClr val="000000"/>
                </a:solidFill>
                <a:latin typeface="Agrandir Bold"/>
                <a:ea typeface="Agrandir Bold"/>
                <a:cs typeface="Agrandir Bold"/>
                <a:sym typeface="Agrandir Bold"/>
              </a:rPr>
              <a:t>Métricas de optimización</a:t>
            </a:r>
          </a:p>
        </p:txBody>
      </p:sp>
      <p:sp>
        <p:nvSpPr>
          <p:cNvPr name="Freeform 8" id="8"/>
          <p:cNvSpPr/>
          <p:nvPr/>
        </p:nvSpPr>
        <p:spPr>
          <a:xfrm flipH="false" flipV="false" rot="5400000">
            <a:off x="1520567" y="7272604"/>
            <a:ext cx="1055299" cy="1049543"/>
          </a:xfrm>
          <a:custGeom>
            <a:avLst/>
            <a:gdLst/>
            <a:ahLst/>
            <a:cxnLst/>
            <a:rect r="r" b="b" t="t" l="l"/>
            <a:pathLst>
              <a:path h="1049543" w="1055299">
                <a:moveTo>
                  <a:pt x="0" y="0"/>
                </a:moveTo>
                <a:lnTo>
                  <a:pt x="1055299" y="0"/>
                </a:lnTo>
                <a:lnTo>
                  <a:pt x="1055299" y="1049543"/>
                </a:lnTo>
                <a:lnTo>
                  <a:pt x="0" y="1049543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9" id="9"/>
          <p:cNvSpPr/>
          <p:nvPr/>
        </p:nvSpPr>
        <p:spPr>
          <a:xfrm flipH="false" flipV="false" rot="5400000">
            <a:off x="14723696" y="5350574"/>
            <a:ext cx="2298231" cy="3964582"/>
          </a:xfrm>
          <a:custGeom>
            <a:avLst/>
            <a:gdLst/>
            <a:ahLst/>
            <a:cxnLst/>
            <a:rect r="r" b="b" t="t" l="l"/>
            <a:pathLst>
              <a:path h="3964582" w="2298231">
                <a:moveTo>
                  <a:pt x="0" y="0"/>
                </a:moveTo>
                <a:lnTo>
                  <a:pt x="2298231" y="0"/>
                </a:lnTo>
                <a:lnTo>
                  <a:pt x="2298231" y="3964582"/>
                </a:lnTo>
                <a:lnTo>
                  <a:pt x="0" y="3964582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1E3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>
            <a:hlinkClick action="ppaction://media"/>
          </p:cNvPr>
          <p:cNvPicPr>
            <a:picLocks noChangeAspect="true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4"/>
              </p:ext>
            </p:extLst>
          </p:nvPr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5156088" y="1028700"/>
            <a:ext cx="7975824" cy="82296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dur="indefinite" restart="never" nodeType="tmRoot">
          <p:childTnLst>
            <p:video>
              <p:cMediaNode vol="0">
                <p:cTn fill="hold" display="false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slides/slide3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1E3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5234211" y="4764384"/>
            <a:ext cx="7819579" cy="83633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877"/>
              </a:lnSpc>
              <a:spcBef>
                <a:spcPct val="0"/>
              </a:spcBef>
            </a:pPr>
            <a:r>
              <a:rPr lang="en-US" b="true" sz="4198">
                <a:solidFill>
                  <a:srgbClr val="000000"/>
                </a:solidFill>
                <a:latin typeface="Agrandir Bold"/>
                <a:ea typeface="Agrandir Bold"/>
                <a:cs typeface="Agrandir Bold"/>
                <a:sym typeface="Agrandir Bold"/>
              </a:rPr>
              <a:t>Inputs: Contorno de imágenes</a:t>
            </a:r>
          </a:p>
        </p:txBody>
      </p:sp>
      <p:sp>
        <p:nvSpPr>
          <p:cNvPr name="Freeform 3" id="3"/>
          <p:cNvSpPr/>
          <p:nvPr/>
        </p:nvSpPr>
        <p:spPr>
          <a:xfrm flipH="false" flipV="false" rot="5400000">
            <a:off x="1117409" y="1199697"/>
            <a:ext cx="1055299" cy="1049543"/>
          </a:xfrm>
          <a:custGeom>
            <a:avLst/>
            <a:gdLst/>
            <a:ahLst/>
            <a:cxnLst/>
            <a:rect r="r" b="b" t="t" l="l"/>
            <a:pathLst>
              <a:path h="1049543" w="1055299">
                <a:moveTo>
                  <a:pt x="0" y="0"/>
                </a:moveTo>
                <a:lnTo>
                  <a:pt x="1055299" y="0"/>
                </a:lnTo>
                <a:lnTo>
                  <a:pt x="1055299" y="1049544"/>
                </a:lnTo>
                <a:lnTo>
                  <a:pt x="0" y="1049544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5400000">
            <a:off x="14723696" y="5350574"/>
            <a:ext cx="2298231" cy="3964582"/>
          </a:xfrm>
          <a:custGeom>
            <a:avLst/>
            <a:gdLst/>
            <a:ahLst/>
            <a:cxnLst/>
            <a:rect r="r" b="b" t="t" l="l"/>
            <a:pathLst>
              <a:path h="3964582" w="2298231">
                <a:moveTo>
                  <a:pt x="0" y="0"/>
                </a:moveTo>
                <a:lnTo>
                  <a:pt x="2298231" y="0"/>
                </a:lnTo>
                <a:lnTo>
                  <a:pt x="2298231" y="3964582"/>
                </a:lnTo>
                <a:lnTo>
                  <a:pt x="0" y="3964582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1E3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752606" y="95833"/>
            <a:ext cx="14194487" cy="10191167"/>
          </a:xfrm>
          <a:custGeom>
            <a:avLst/>
            <a:gdLst/>
            <a:ahLst/>
            <a:cxnLst/>
            <a:rect r="r" b="b" t="t" l="l"/>
            <a:pathLst>
              <a:path h="10191167" w="14194487">
                <a:moveTo>
                  <a:pt x="0" y="0"/>
                </a:moveTo>
                <a:lnTo>
                  <a:pt x="14194487" y="0"/>
                </a:lnTo>
                <a:lnTo>
                  <a:pt x="14194487" y="10191167"/>
                </a:lnTo>
                <a:lnTo>
                  <a:pt x="0" y="1019116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743" t="-1773" r="-743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5400000">
            <a:off x="870313" y="1134672"/>
            <a:ext cx="1055299" cy="1049543"/>
          </a:xfrm>
          <a:custGeom>
            <a:avLst/>
            <a:gdLst/>
            <a:ahLst/>
            <a:cxnLst/>
            <a:rect r="r" b="b" t="t" l="l"/>
            <a:pathLst>
              <a:path h="1049543" w="1055299">
                <a:moveTo>
                  <a:pt x="0" y="0"/>
                </a:moveTo>
                <a:lnTo>
                  <a:pt x="1055299" y="0"/>
                </a:lnTo>
                <a:lnTo>
                  <a:pt x="1055299" y="1049543"/>
                </a:lnTo>
                <a:lnTo>
                  <a:pt x="0" y="104954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5400000">
            <a:off x="16934561" y="6963080"/>
            <a:ext cx="2298231" cy="3964582"/>
          </a:xfrm>
          <a:custGeom>
            <a:avLst/>
            <a:gdLst/>
            <a:ahLst/>
            <a:cxnLst/>
            <a:rect r="r" b="b" t="t" l="l"/>
            <a:pathLst>
              <a:path h="3964582" w="2298231">
                <a:moveTo>
                  <a:pt x="0" y="0"/>
                </a:moveTo>
                <a:lnTo>
                  <a:pt x="2298231" y="0"/>
                </a:lnTo>
                <a:lnTo>
                  <a:pt x="2298231" y="3964582"/>
                </a:lnTo>
                <a:lnTo>
                  <a:pt x="0" y="3964582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1E3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752606" y="95833"/>
            <a:ext cx="14194487" cy="10191167"/>
          </a:xfrm>
          <a:custGeom>
            <a:avLst/>
            <a:gdLst/>
            <a:ahLst/>
            <a:cxnLst/>
            <a:rect r="r" b="b" t="t" l="l"/>
            <a:pathLst>
              <a:path h="10191167" w="14194487">
                <a:moveTo>
                  <a:pt x="0" y="0"/>
                </a:moveTo>
                <a:lnTo>
                  <a:pt x="14194487" y="0"/>
                </a:lnTo>
                <a:lnTo>
                  <a:pt x="14194487" y="10191167"/>
                </a:lnTo>
                <a:lnTo>
                  <a:pt x="0" y="1019116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743" t="-1773" r="-743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5400000">
            <a:off x="870313" y="1134672"/>
            <a:ext cx="1055299" cy="1049543"/>
          </a:xfrm>
          <a:custGeom>
            <a:avLst/>
            <a:gdLst/>
            <a:ahLst/>
            <a:cxnLst/>
            <a:rect r="r" b="b" t="t" l="l"/>
            <a:pathLst>
              <a:path h="1049543" w="1055299">
                <a:moveTo>
                  <a:pt x="0" y="0"/>
                </a:moveTo>
                <a:lnTo>
                  <a:pt x="1055299" y="0"/>
                </a:lnTo>
                <a:lnTo>
                  <a:pt x="1055299" y="1049543"/>
                </a:lnTo>
                <a:lnTo>
                  <a:pt x="0" y="104954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5400000">
            <a:off x="16934561" y="6963080"/>
            <a:ext cx="2298231" cy="3964582"/>
          </a:xfrm>
          <a:custGeom>
            <a:avLst/>
            <a:gdLst/>
            <a:ahLst/>
            <a:cxnLst/>
            <a:rect r="r" b="b" t="t" l="l"/>
            <a:pathLst>
              <a:path h="3964582" w="2298231">
                <a:moveTo>
                  <a:pt x="0" y="0"/>
                </a:moveTo>
                <a:lnTo>
                  <a:pt x="2298231" y="0"/>
                </a:lnTo>
                <a:lnTo>
                  <a:pt x="2298231" y="3964582"/>
                </a:lnTo>
                <a:lnTo>
                  <a:pt x="0" y="3964582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pic>
        <p:nvPicPr>
          <p:cNvPr name="Picture 5" id="5">
            <a:hlinkClick action="ppaction://media"/>
          </p:cNvPr>
          <p:cNvPicPr>
            <a:picLocks noChangeAspect="true"/>
          </p:cNvPicPr>
          <p:nvPr>
            <a:videoFile r:link="rId8"/>
            <p:extLst>
              <p:ext uri="{DAA4B4D4-6D71-4841-9C94-3DE7FCFB9230}">
                <p14:media xmlns:p14="http://schemas.microsoft.com/office/powerpoint/2010/main" r:embed="rId9"/>
              </p:ext>
            </p:extLst>
          </p:nvPr>
        </p:nvPicPr>
        <p:blipFill>
          <a:blip r:embed="rId7"/>
          <a:srcRect l="0" t="0" r="0" b="0"/>
          <a:stretch>
            <a:fillRect/>
          </a:stretch>
        </p:blipFill>
        <p:spPr>
          <a:xfrm flipH="false" flipV="false" rot="0">
            <a:off x="4537861" y="2187093"/>
            <a:ext cx="8623978" cy="6311184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dur="indefinite" restart="never" nodeType="tmRoot">
          <p:childTnLst>
            <p:video>
              <p:cMediaNode vol="0">
                <p:cTn fill="hold" display="false">
                  <p:stCondLst>
                    <p:cond delay="indefinite"/>
                  </p:stCondLst>
                </p:cTn>
                <p:tgtEl>
                  <p:spTgt spid="5"/>
                </p:tgtEl>
              </p:cMediaNode>
            </p:video>
          </p:childTnLst>
        </p:cTn>
      </p:par>
    </p:tnLst>
  </p:timing>
</p:sld>
</file>

<file path=ppt/slides/slide3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1E3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5400000">
            <a:off x="870313" y="1134672"/>
            <a:ext cx="1055299" cy="1049543"/>
          </a:xfrm>
          <a:custGeom>
            <a:avLst/>
            <a:gdLst/>
            <a:ahLst/>
            <a:cxnLst/>
            <a:rect r="r" b="b" t="t" l="l"/>
            <a:pathLst>
              <a:path h="1049543" w="1055299">
                <a:moveTo>
                  <a:pt x="0" y="0"/>
                </a:moveTo>
                <a:lnTo>
                  <a:pt x="1055299" y="0"/>
                </a:lnTo>
                <a:lnTo>
                  <a:pt x="1055299" y="1049543"/>
                </a:lnTo>
                <a:lnTo>
                  <a:pt x="0" y="1049543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5400000">
            <a:off x="16934561" y="6963080"/>
            <a:ext cx="2298231" cy="3964582"/>
          </a:xfrm>
          <a:custGeom>
            <a:avLst/>
            <a:gdLst/>
            <a:ahLst/>
            <a:cxnLst/>
            <a:rect r="r" b="b" t="t" l="l"/>
            <a:pathLst>
              <a:path h="3964582" w="2298231">
                <a:moveTo>
                  <a:pt x="0" y="0"/>
                </a:moveTo>
                <a:lnTo>
                  <a:pt x="2298231" y="0"/>
                </a:lnTo>
                <a:lnTo>
                  <a:pt x="2298231" y="3964582"/>
                </a:lnTo>
                <a:lnTo>
                  <a:pt x="0" y="3964582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3733810" y="1519091"/>
            <a:ext cx="9121024" cy="8402469"/>
          </a:xfrm>
          <a:custGeom>
            <a:avLst/>
            <a:gdLst/>
            <a:ahLst/>
            <a:cxnLst/>
            <a:rect r="r" b="b" t="t" l="l"/>
            <a:pathLst>
              <a:path h="8402469" w="9121024">
                <a:moveTo>
                  <a:pt x="0" y="0"/>
                </a:moveTo>
                <a:lnTo>
                  <a:pt x="9121024" y="0"/>
                </a:lnTo>
                <a:lnTo>
                  <a:pt x="9121024" y="8402469"/>
                </a:lnTo>
                <a:lnTo>
                  <a:pt x="0" y="840246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  <p:sp>
        <p:nvSpPr>
          <p:cNvPr name="TextBox 5" id="5"/>
          <p:cNvSpPr txBox="true"/>
          <p:nvPr/>
        </p:nvSpPr>
        <p:spPr>
          <a:xfrm rot="0">
            <a:off x="6957941" y="564696"/>
            <a:ext cx="2473375" cy="56709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917"/>
              </a:lnSpc>
              <a:spcBef>
                <a:spcPct val="0"/>
              </a:spcBef>
            </a:pPr>
            <a:r>
              <a:rPr lang="en-US" b="true" sz="2798">
                <a:solidFill>
                  <a:srgbClr val="000000"/>
                </a:solidFill>
                <a:latin typeface="Agrandir Bold"/>
                <a:ea typeface="Agrandir Bold"/>
                <a:cs typeface="Agrandir Bold"/>
                <a:sym typeface="Agrandir Bold"/>
              </a:rPr>
              <a:t>Mejor modelo:</a:t>
            </a:r>
          </a:p>
        </p:txBody>
      </p:sp>
    </p:spTree>
  </p:cSld>
  <p:clrMapOvr>
    <a:masterClrMapping/>
  </p:clrMapOvr>
</p:sld>
</file>

<file path=ppt/slides/slide3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1E3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5400000">
            <a:off x="870313" y="1134672"/>
            <a:ext cx="1055299" cy="1049543"/>
          </a:xfrm>
          <a:custGeom>
            <a:avLst/>
            <a:gdLst/>
            <a:ahLst/>
            <a:cxnLst/>
            <a:rect r="r" b="b" t="t" l="l"/>
            <a:pathLst>
              <a:path h="1049543" w="1055299">
                <a:moveTo>
                  <a:pt x="0" y="0"/>
                </a:moveTo>
                <a:lnTo>
                  <a:pt x="1055299" y="0"/>
                </a:lnTo>
                <a:lnTo>
                  <a:pt x="1055299" y="1049543"/>
                </a:lnTo>
                <a:lnTo>
                  <a:pt x="0" y="1049543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5400000">
            <a:off x="16934561" y="6963080"/>
            <a:ext cx="2298231" cy="3964582"/>
          </a:xfrm>
          <a:custGeom>
            <a:avLst/>
            <a:gdLst/>
            <a:ahLst/>
            <a:cxnLst/>
            <a:rect r="r" b="b" t="t" l="l"/>
            <a:pathLst>
              <a:path h="3964582" w="2298231">
                <a:moveTo>
                  <a:pt x="0" y="0"/>
                </a:moveTo>
                <a:lnTo>
                  <a:pt x="2298231" y="0"/>
                </a:lnTo>
                <a:lnTo>
                  <a:pt x="2298231" y="3964582"/>
                </a:lnTo>
                <a:lnTo>
                  <a:pt x="0" y="3964582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3733810" y="1519091"/>
            <a:ext cx="9121024" cy="8402469"/>
          </a:xfrm>
          <a:custGeom>
            <a:avLst/>
            <a:gdLst/>
            <a:ahLst/>
            <a:cxnLst/>
            <a:rect r="r" b="b" t="t" l="l"/>
            <a:pathLst>
              <a:path h="8402469" w="9121024">
                <a:moveTo>
                  <a:pt x="0" y="0"/>
                </a:moveTo>
                <a:lnTo>
                  <a:pt x="9121024" y="0"/>
                </a:lnTo>
                <a:lnTo>
                  <a:pt x="9121024" y="8402469"/>
                </a:lnTo>
                <a:lnTo>
                  <a:pt x="0" y="840246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  <p:pic>
        <p:nvPicPr>
          <p:cNvPr name="Picture 5" id="5">
            <a:hlinkClick action="ppaction://media"/>
          </p:cNvPr>
          <p:cNvPicPr>
            <a:picLocks noChangeAspect="true"/>
          </p:cNvPicPr>
          <p:nvPr>
            <a:videoFile r:link="rId8"/>
            <p:extLst>
              <p:ext uri="{DAA4B4D4-6D71-4841-9C94-3DE7FCFB9230}">
                <p14:media xmlns:p14="http://schemas.microsoft.com/office/powerpoint/2010/main" r:embed="rId9"/>
              </p:ext>
            </p:extLst>
          </p:nvPr>
        </p:nvPicPr>
        <p:blipFill>
          <a:blip r:embed="rId7"/>
          <a:srcRect l="0" t="0" r="0" b="0"/>
          <a:stretch>
            <a:fillRect/>
          </a:stretch>
        </p:blipFill>
        <p:spPr>
          <a:xfrm flipH="false" flipV="false" rot="0">
            <a:off x="3993394" y="1519091"/>
            <a:ext cx="8402469" cy="8402469"/>
          </a:xfrm>
          <a:prstGeom prst="rect">
            <a:avLst/>
          </a:prstGeom>
        </p:spPr>
      </p:pic>
      <p:sp>
        <p:nvSpPr>
          <p:cNvPr name="TextBox 6" id="6"/>
          <p:cNvSpPr txBox="true"/>
          <p:nvPr/>
        </p:nvSpPr>
        <p:spPr>
          <a:xfrm rot="0">
            <a:off x="6957941" y="564696"/>
            <a:ext cx="2473375" cy="56709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917"/>
              </a:lnSpc>
              <a:spcBef>
                <a:spcPct val="0"/>
              </a:spcBef>
            </a:pPr>
            <a:r>
              <a:rPr lang="en-US" b="true" sz="2798">
                <a:solidFill>
                  <a:srgbClr val="000000"/>
                </a:solidFill>
                <a:latin typeface="Agrandir Bold"/>
                <a:ea typeface="Agrandir Bold"/>
                <a:cs typeface="Agrandir Bold"/>
                <a:sym typeface="Agrandir Bold"/>
              </a:rPr>
              <a:t>Mejor modelo:</a:t>
            </a:r>
          </a:p>
        </p:txBody>
      </p:sp>
    </p:spTree>
  </p:cSld>
  <p:clrMapOvr>
    <a:masterClrMapping/>
  </p:clrMapOvr>
  <p:timing>
    <p:tnLst>
      <p:par>
        <p:cTn dur="indefinite" restart="never" nodeType="tmRoot">
          <p:childTnLst>
            <p:video>
              <p:cMediaNode vol="0">
                <p:cTn fill="hold" display="false">
                  <p:stCondLst>
                    <p:cond delay="indefinite"/>
                  </p:stCondLst>
                </p:cTn>
                <p:tgtEl>
                  <p:spTgt spid="5"/>
                </p:tgtEl>
              </p:cMediaNode>
            </p:video>
          </p:childTnLst>
        </p:cTn>
      </p:par>
    </p:tnLst>
  </p:timing>
</p:sld>
</file>

<file path=ppt/slides/slide3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1E3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5400000">
            <a:off x="870313" y="1134672"/>
            <a:ext cx="1055299" cy="1049543"/>
          </a:xfrm>
          <a:custGeom>
            <a:avLst/>
            <a:gdLst/>
            <a:ahLst/>
            <a:cxnLst/>
            <a:rect r="r" b="b" t="t" l="l"/>
            <a:pathLst>
              <a:path h="1049543" w="1055299">
                <a:moveTo>
                  <a:pt x="0" y="0"/>
                </a:moveTo>
                <a:lnTo>
                  <a:pt x="1055299" y="0"/>
                </a:lnTo>
                <a:lnTo>
                  <a:pt x="1055299" y="1049543"/>
                </a:lnTo>
                <a:lnTo>
                  <a:pt x="0" y="1049543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5400000">
            <a:off x="16934561" y="6963080"/>
            <a:ext cx="2298231" cy="3964582"/>
          </a:xfrm>
          <a:custGeom>
            <a:avLst/>
            <a:gdLst/>
            <a:ahLst/>
            <a:cxnLst/>
            <a:rect r="r" b="b" t="t" l="l"/>
            <a:pathLst>
              <a:path h="3964582" w="2298231">
                <a:moveTo>
                  <a:pt x="0" y="0"/>
                </a:moveTo>
                <a:lnTo>
                  <a:pt x="2298231" y="0"/>
                </a:lnTo>
                <a:lnTo>
                  <a:pt x="2298231" y="3964582"/>
                </a:lnTo>
                <a:lnTo>
                  <a:pt x="0" y="3964582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pic>
        <p:nvPicPr>
          <p:cNvPr name="Picture 4" id="4">
            <a:hlinkClick action="ppaction://media"/>
          </p:cNvPr>
          <p:cNvPicPr>
            <a:picLocks noChangeAspect="true"/>
          </p:cNvPicPr>
          <p:nvPr>
            <a:videoFile r:link="rId7"/>
            <p:extLst>
              <p:ext uri="{DAA4B4D4-6D71-4841-9C94-3DE7FCFB9230}">
                <p14:media xmlns:p14="http://schemas.microsoft.com/office/powerpoint/2010/main" r:embed="rId8"/>
              </p:ext>
            </p:extLst>
          </p:nvPr>
        </p:nvPicPr>
        <p:blipFill>
          <a:blip r:embed="rId6"/>
          <a:srcRect l="0" t="0" r="0" b="0"/>
          <a:stretch>
            <a:fillRect/>
          </a:stretch>
        </p:blipFill>
        <p:spPr>
          <a:xfrm flipH="false" flipV="false" rot="0">
            <a:off x="3799381" y="3260450"/>
            <a:ext cx="10689238" cy="5997850"/>
          </a:xfrm>
          <a:prstGeom prst="rect">
            <a:avLst/>
          </a:prstGeom>
        </p:spPr>
      </p:pic>
      <p:sp>
        <p:nvSpPr>
          <p:cNvPr name="TextBox 5" id="5"/>
          <p:cNvSpPr txBox="true"/>
          <p:nvPr/>
        </p:nvSpPr>
        <p:spPr>
          <a:xfrm rot="0">
            <a:off x="4192727" y="1082757"/>
            <a:ext cx="9434364" cy="76775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457"/>
              </a:lnSpc>
              <a:spcBef>
                <a:spcPct val="0"/>
              </a:spcBef>
            </a:pPr>
            <a:r>
              <a:rPr lang="en-US" b="true" sz="3898">
                <a:solidFill>
                  <a:srgbClr val="000000"/>
                </a:solidFill>
                <a:latin typeface="Agrandir Bold"/>
                <a:ea typeface="Agrandir Bold"/>
                <a:cs typeface="Agrandir Bold"/>
                <a:sym typeface="Agrandir Bold"/>
              </a:rPr>
              <a:t>Nuevos Inputs: Imagenes en escala gris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6050092" y="2350517"/>
            <a:ext cx="5511552" cy="64266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477"/>
              </a:lnSpc>
              <a:spcBef>
                <a:spcPct val="0"/>
              </a:spcBef>
            </a:pPr>
            <a:r>
              <a:rPr lang="en-US" b="true" sz="3198">
                <a:solidFill>
                  <a:srgbClr val="000000"/>
                </a:solidFill>
                <a:latin typeface="Agrandir Bold"/>
                <a:ea typeface="Agrandir Bold"/>
                <a:cs typeface="Agrandir Bold"/>
                <a:sym typeface="Agrandir Bold"/>
              </a:rPr>
              <a:t>Volver a entrenar e testear</a:t>
            </a:r>
          </a:p>
        </p:txBody>
      </p:sp>
    </p:spTree>
  </p:cSld>
  <p:clrMapOvr>
    <a:masterClrMapping/>
  </p:clrMapOvr>
  <p:timing>
    <p:tnLst>
      <p:par>
        <p:cTn dur="indefinite" restart="never" nodeType="tmRoot">
          <p:childTnLst>
            <p:video>
              <p:cMediaNode vol="0">
                <p:cTn fill="hold" display="false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</p:childTnLst>
        </p:cTn>
      </p:par>
    </p:tnLst>
  </p:timing>
</p:sld>
</file>

<file path=ppt/slides/slide3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1E3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5400000">
            <a:off x="870313" y="1134672"/>
            <a:ext cx="1055299" cy="1049543"/>
          </a:xfrm>
          <a:custGeom>
            <a:avLst/>
            <a:gdLst/>
            <a:ahLst/>
            <a:cxnLst/>
            <a:rect r="r" b="b" t="t" l="l"/>
            <a:pathLst>
              <a:path h="1049543" w="1055299">
                <a:moveTo>
                  <a:pt x="0" y="0"/>
                </a:moveTo>
                <a:lnTo>
                  <a:pt x="1055299" y="0"/>
                </a:lnTo>
                <a:lnTo>
                  <a:pt x="1055299" y="1049543"/>
                </a:lnTo>
                <a:lnTo>
                  <a:pt x="0" y="1049543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5400000">
            <a:off x="16934561" y="6963080"/>
            <a:ext cx="2298231" cy="3964582"/>
          </a:xfrm>
          <a:custGeom>
            <a:avLst/>
            <a:gdLst/>
            <a:ahLst/>
            <a:cxnLst/>
            <a:rect r="r" b="b" t="t" l="l"/>
            <a:pathLst>
              <a:path h="3964582" w="2298231">
                <a:moveTo>
                  <a:pt x="0" y="0"/>
                </a:moveTo>
                <a:lnTo>
                  <a:pt x="2298231" y="0"/>
                </a:lnTo>
                <a:lnTo>
                  <a:pt x="2298231" y="3964582"/>
                </a:lnTo>
                <a:lnTo>
                  <a:pt x="0" y="3964582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1960402" y="277075"/>
            <a:ext cx="6818109" cy="4866425"/>
          </a:xfrm>
          <a:custGeom>
            <a:avLst/>
            <a:gdLst/>
            <a:ahLst/>
            <a:cxnLst/>
            <a:rect r="r" b="b" t="t" l="l"/>
            <a:pathLst>
              <a:path h="4866425" w="6818109">
                <a:moveTo>
                  <a:pt x="0" y="0"/>
                </a:moveTo>
                <a:lnTo>
                  <a:pt x="6818109" y="0"/>
                </a:lnTo>
                <a:lnTo>
                  <a:pt x="6818109" y="4866425"/>
                </a:lnTo>
                <a:lnTo>
                  <a:pt x="0" y="486642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9260708" y="260967"/>
            <a:ext cx="6625306" cy="4882533"/>
          </a:xfrm>
          <a:custGeom>
            <a:avLst/>
            <a:gdLst/>
            <a:ahLst/>
            <a:cxnLst/>
            <a:rect r="r" b="b" t="t" l="l"/>
            <a:pathLst>
              <a:path h="4882533" w="6625306">
                <a:moveTo>
                  <a:pt x="0" y="0"/>
                </a:moveTo>
                <a:lnTo>
                  <a:pt x="6625306" y="0"/>
                </a:lnTo>
                <a:lnTo>
                  <a:pt x="6625306" y="4882533"/>
                </a:lnTo>
                <a:lnTo>
                  <a:pt x="0" y="4882533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-325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2036069" y="5257075"/>
            <a:ext cx="6742772" cy="4829473"/>
          </a:xfrm>
          <a:custGeom>
            <a:avLst/>
            <a:gdLst/>
            <a:ahLst/>
            <a:cxnLst/>
            <a:rect r="r" b="b" t="t" l="l"/>
            <a:pathLst>
              <a:path h="4829473" w="6742772">
                <a:moveTo>
                  <a:pt x="0" y="0"/>
                </a:moveTo>
                <a:lnTo>
                  <a:pt x="6742771" y="0"/>
                </a:lnTo>
                <a:lnTo>
                  <a:pt x="6742771" y="4829472"/>
                </a:lnTo>
                <a:lnTo>
                  <a:pt x="0" y="4829472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-174" t="0" r="-174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9283665" y="5257075"/>
            <a:ext cx="6602349" cy="4829473"/>
          </a:xfrm>
          <a:custGeom>
            <a:avLst/>
            <a:gdLst/>
            <a:ahLst/>
            <a:cxnLst/>
            <a:rect r="r" b="b" t="t" l="l"/>
            <a:pathLst>
              <a:path h="4829473" w="6602349">
                <a:moveTo>
                  <a:pt x="0" y="0"/>
                </a:moveTo>
                <a:lnTo>
                  <a:pt x="6602349" y="0"/>
                </a:lnTo>
                <a:lnTo>
                  <a:pt x="6602349" y="4829472"/>
                </a:lnTo>
                <a:lnTo>
                  <a:pt x="0" y="4829472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-1241" t="0" r="-1241" b="0"/>
            </a:stretch>
          </a:blipFill>
        </p:spPr>
      </p:sp>
      <p:sp>
        <p:nvSpPr>
          <p:cNvPr name="TextBox 8" id="8"/>
          <p:cNvSpPr txBox="true"/>
          <p:nvPr/>
        </p:nvSpPr>
        <p:spPr>
          <a:xfrm rot="0">
            <a:off x="240606" y="2567412"/>
            <a:ext cx="1634579" cy="56709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917"/>
              </a:lnSpc>
              <a:spcBef>
                <a:spcPct val="0"/>
              </a:spcBef>
            </a:pPr>
            <a:r>
              <a:rPr lang="en-US" b="true" sz="2798">
                <a:solidFill>
                  <a:srgbClr val="000000"/>
                </a:solidFill>
                <a:latin typeface="Agrandir Bold"/>
                <a:ea typeface="Agrandir Bold"/>
                <a:cs typeface="Agrandir Bold"/>
                <a:sym typeface="Agrandir Bold"/>
              </a:rPr>
              <a:t>Modelo 0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240606" y="6956702"/>
            <a:ext cx="1595438" cy="56709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917"/>
              </a:lnSpc>
              <a:spcBef>
                <a:spcPct val="0"/>
              </a:spcBef>
            </a:pPr>
            <a:r>
              <a:rPr lang="en-US" b="true" sz="2798">
                <a:solidFill>
                  <a:srgbClr val="000000"/>
                </a:solidFill>
                <a:latin typeface="Agrandir Bold"/>
                <a:ea typeface="Agrandir Bold"/>
                <a:cs typeface="Agrandir Bold"/>
                <a:sym typeface="Agrandir Bold"/>
              </a:rPr>
              <a:t>Modelo 2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16101385" y="2508593"/>
            <a:ext cx="1564630" cy="56709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917"/>
              </a:lnSpc>
              <a:spcBef>
                <a:spcPct val="0"/>
              </a:spcBef>
            </a:pPr>
            <a:r>
              <a:rPr lang="en-US" b="true" sz="2798">
                <a:solidFill>
                  <a:srgbClr val="000000"/>
                </a:solidFill>
                <a:latin typeface="Agrandir Bold"/>
                <a:ea typeface="Agrandir Bold"/>
                <a:cs typeface="Agrandir Bold"/>
                <a:sym typeface="Agrandir Bold"/>
              </a:rPr>
              <a:t>Modelo 1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16083973" y="7168814"/>
            <a:ext cx="1599456" cy="56709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917"/>
              </a:lnSpc>
              <a:spcBef>
                <a:spcPct val="0"/>
              </a:spcBef>
            </a:pPr>
            <a:r>
              <a:rPr lang="en-US" b="true" sz="2798">
                <a:solidFill>
                  <a:srgbClr val="000000"/>
                </a:solidFill>
                <a:latin typeface="Agrandir Bold"/>
                <a:ea typeface="Agrandir Bold"/>
                <a:cs typeface="Agrandir Bold"/>
                <a:sym typeface="Agrandir Bold"/>
              </a:rPr>
              <a:t>Modelo 3</a:t>
            </a:r>
          </a:p>
        </p:txBody>
      </p:sp>
    </p:spTree>
  </p:cSld>
  <p:clrMapOvr>
    <a:masterClrMapping/>
  </p:clrMapOvr>
</p:sld>
</file>

<file path=ppt/slides/slide3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1E3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5400000">
            <a:off x="870313" y="1134672"/>
            <a:ext cx="1055299" cy="1049543"/>
          </a:xfrm>
          <a:custGeom>
            <a:avLst/>
            <a:gdLst/>
            <a:ahLst/>
            <a:cxnLst/>
            <a:rect r="r" b="b" t="t" l="l"/>
            <a:pathLst>
              <a:path h="1049543" w="1055299">
                <a:moveTo>
                  <a:pt x="0" y="0"/>
                </a:moveTo>
                <a:lnTo>
                  <a:pt x="1055299" y="0"/>
                </a:lnTo>
                <a:lnTo>
                  <a:pt x="1055299" y="1049543"/>
                </a:lnTo>
                <a:lnTo>
                  <a:pt x="0" y="1049543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5400000">
            <a:off x="16934561" y="6963080"/>
            <a:ext cx="2298231" cy="3964582"/>
          </a:xfrm>
          <a:custGeom>
            <a:avLst/>
            <a:gdLst/>
            <a:ahLst/>
            <a:cxnLst/>
            <a:rect r="r" b="b" t="t" l="l"/>
            <a:pathLst>
              <a:path h="3964582" w="2298231">
                <a:moveTo>
                  <a:pt x="0" y="0"/>
                </a:moveTo>
                <a:lnTo>
                  <a:pt x="2298231" y="0"/>
                </a:lnTo>
                <a:lnTo>
                  <a:pt x="2298231" y="3964582"/>
                </a:lnTo>
                <a:lnTo>
                  <a:pt x="0" y="3964582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2370074" y="191310"/>
            <a:ext cx="6037198" cy="4920317"/>
          </a:xfrm>
          <a:custGeom>
            <a:avLst/>
            <a:gdLst/>
            <a:ahLst/>
            <a:cxnLst/>
            <a:rect r="r" b="b" t="t" l="l"/>
            <a:pathLst>
              <a:path h="4920317" w="6037198">
                <a:moveTo>
                  <a:pt x="0" y="0"/>
                </a:moveTo>
                <a:lnTo>
                  <a:pt x="6037198" y="0"/>
                </a:lnTo>
                <a:lnTo>
                  <a:pt x="6037198" y="4920316"/>
                </a:lnTo>
                <a:lnTo>
                  <a:pt x="0" y="4920316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8711556" y="191310"/>
            <a:ext cx="6261514" cy="4920317"/>
          </a:xfrm>
          <a:custGeom>
            <a:avLst/>
            <a:gdLst/>
            <a:ahLst/>
            <a:cxnLst/>
            <a:rect r="r" b="b" t="t" l="l"/>
            <a:pathLst>
              <a:path h="4920317" w="6261514">
                <a:moveTo>
                  <a:pt x="0" y="0"/>
                </a:moveTo>
                <a:lnTo>
                  <a:pt x="6261514" y="0"/>
                </a:lnTo>
                <a:lnTo>
                  <a:pt x="6261514" y="4920316"/>
                </a:lnTo>
                <a:lnTo>
                  <a:pt x="0" y="4920316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-2114" r="0" b="-1601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2327008" y="5270471"/>
            <a:ext cx="6123330" cy="4930882"/>
          </a:xfrm>
          <a:custGeom>
            <a:avLst/>
            <a:gdLst/>
            <a:ahLst/>
            <a:cxnLst/>
            <a:rect r="r" b="b" t="t" l="l"/>
            <a:pathLst>
              <a:path h="4930882" w="6123330">
                <a:moveTo>
                  <a:pt x="0" y="0"/>
                </a:moveTo>
                <a:lnTo>
                  <a:pt x="6123330" y="0"/>
                </a:lnTo>
                <a:lnTo>
                  <a:pt x="6123330" y="4930882"/>
                </a:lnTo>
                <a:lnTo>
                  <a:pt x="0" y="4930882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0" t="-604" r="0" b="-604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8711556" y="5270471"/>
            <a:ext cx="6261514" cy="5057853"/>
          </a:xfrm>
          <a:custGeom>
            <a:avLst/>
            <a:gdLst/>
            <a:ahLst/>
            <a:cxnLst/>
            <a:rect r="r" b="b" t="t" l="l"/>
            <a:pathLst>
              <a:path h="5057853" w="6261514">
                <a:moveTo>
                  <a:pt x="0" y="0"/>
                </a:moveTo>
                <a:lnTo>
                  <a:pt x="6261514" y="0"/>
                </a:lnTo>
                <a:lnTo>
                  <a:pt x="6261514" y="5057852"/>
                </a:lnTo>
                <a:lnTo>
                  <a:pt x="0" y="5057852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-1191" t="0" r="-339" b="-2439"/>
            </a:stretch>
          </a:blipFill>
        </p:spPr>
      </p:sp>
      <p:sp>
        <p:nvSpPr>
          <p:cNvPr name="TextBox 8" id="8"/>
          <p:cNvSpPr txBox="true"/>
          <p:nvPr/>
        </p:nvSpPr>
        <p:spPr>
          <a:xfrm rot="0">
            <a:off x="430694" y="2508593"/>
            <a:ext cx="1634579" cy="56709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917"/>
              </a:lnSpc>
              <a:spcBef>
                <a:spcPct val="0"/>
              </a:spcBef>
            </a:pPr>
            <a:r>
              <a:rPr lang="en-US" b="true" sz="2798">
                <a:solidFill>
                  <a:srgbClr val="000000"/>
                </a:solidFill>
                <a:latin typeface="Agrandir Bold"/>
                <a:ea typeface="Agrandir Bold"/>
                <a:cs typeface="Agrandir Bold"/>
                <a:sym typeface="Agrandir Bold"/>
              </a:rPr>
              <a:t>Modelo 0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327296" y="6956702"/>
            <a:ext cx="1595438" cy="56709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917"/>
              </a:lnSpc>
              <a:spcBef>
                <a:spcPct val="0"/>
              </a:spcBef>
            </a:pPr>
            <a:r>
              <a:rPr lang="en-US" b="true" sz="2798">
                <a:solidFill>
                  <a:srgbClr val="000000"/>
                </a:solidFill>
                <a:latin typeface="Agrandir Bold"/>
                <a:ea typeface="Agrandir Bold"/>
                <a:cs typeface="Agrandir Bold"/>
                <a:sym typeface="Agrandir Bold"/>
              </a:rPr>
              <a:t>Modelo 2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15407945" y="2508593"/>
            <a:ext cx="1564630" cy="56709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917"/>
              </a:lnSpc>
              <a:spcBef>
                <a:spcPct val="0"/>
              </a:spcBef>
            </a:pPr>
            <a:r>
              <a:rPr lang="en-US" b="true" sz="2798">
                <a:solidFill>
                  <a:srgbClr val="000000"/>
                </a:solidFill>
                <a:latin typeface="Agrandir Bold"/>
                <a:ea typeface="Agrandir Bold"/>
                <a:cs typeface="Agrandir Bold"/>
                <a:sym typeface="Agrandir Bold"/>
              </a:rPr>
              <a:t>Modelo 1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15373120" y="7168814"/>
            <a:ext cx="1599456" cy="56709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917"/>
              </a:lnSpc>
              <a:spcBef>
                <a:spcPct val="0"/>
              </a:spcBef>
            </a:pPr>
            <a:r>
              <a:rPr lang="en-US" b="true" sz="2798">
                <a:solidFill>
                  <a:srgbClr val="000000"/>
                </a:solidFill>
                <a:latin typeface="Agrandir Bold"/>
                <a:ea typeface="Agrandir Bold"/>
                <a:cs typeface="Agrandir Bold"/>
                <a:sym typeface="Agrandir Bold"/>
              </a:rPr>
              <a:t>Modelo 3</a:t>
            </a:r>
          </a:p>
        </p:txBody>
      </p:sp>
    </p:spTree>
  </p:cSld>
  <p:clrMapOvr>
    <a:masterClrMapping/>
  </p:clrMapOvr>
</p:sld>
</file>

<file path=ppt/slides/slide3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1E3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5400000">
            <a:off x="870313" y="1031578"/>
            <a:ext cx="1055299" cy="1049543"/>
          </a:xfrm>
          <a:custGeom>
            <a:avLst/>
            <a:gdLst/>
            <a:ahLst/>
            <a:cxnLst/>
            <a:rect r="r" b="b" t="t" l="l"/>
            <a:pathLst>
              <a:path h="1049543" w="1055299">
                <a:moveTo>
                  <a:pt x="0" y="0"/>
                </a:moveTo>
                <a:lnTo>
                  <a:pt x="1055299" y="0"/>
                </a:lnTo>
                <a:lnTo>
                  <a:pt x="1055299" y="1049543"/>
                </a:lnTo>
                <a:lnTo>
                  <a:pt x="0" y="1049543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5400000">
            <a:off x="16804510" y="6963080"/>
            <a:ext cx="2298231" cy="3964582"/>
          </a:xfrm>
          <a:custGeom>
            <a:avLst/>
            <a:gdLst/>
            <a:ahLst/>
            <a:cxnLst/>
            <a:rect r="r" b="b" t="t" l="l"/>
            <a:pathLst>
              <a:path h="3964582" w="2298231">
                <a:moveTo>
                  <a:pt x="0" y="0"/>
                </a:moveTo>
                <a:lnTo>
                  <a:pt x="2298231" y="0"/>
                </a:lnTo>
                <a:lnTo>
                  <a:pt x="2298231" y="3964582"/>
                </a:lnTo>
                <a:lnTo>
                  <a:pt x="0" y="3964582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pic>
        <p:nvPicPr>
          <p:cNvPr name="Picture 4" id="4">
            <a:hlinkClick action="ppaction://media"/>
          </p:cNvPr>
          <p:cNvPicPr>
            <a:picLocks noChangeAspect="true"/>
          </p:cNvPicPr>
          <p:nvPr>
            <a:videoFile r:link="rId7"/>
            <p:extLst>
              <p:ext uri="{DAA4B4D4-6D71-4841-9C94-3DE7FCFB9230}">
                <p14:media xmlns:p14="http://schemas.microsoft.com/office/powerpoint/2010/main" r:embed="rId8"/>
              </p:ext>
            </p:extLst>
          </p:nvPr>
        </p:nvPicPr>
        <p:blipFill>
          <a:blip r:embed="rId6"/>
          <a:srcRect l="0" t="0" r="0" b="0"/>
          <a:stretch>
            <a:fillRect/>
          </a:stretch>
        </p:blipFill>
        <p:spPr>
          <a:xfrm flipH="false" flipV="false" rot="0">
            <a:off x="8550932" y="3403683"/>
            <a:ext cx="8708368" cy="5541689"/>
          </a:xfrm>
          <a:prstGeom prst="rect">
            <a:avLst/>
          </a:prstGeom>
        </p:spPr>
      </p:pic>
      <p:sp>
        <p:nvSpPr>
          <p:cNvPr name="TextBox 5" id="5"/>
          <p:cNvSpPr txBox="true"/>
          <p:nvPr/>
        </p:nvSpPr>
        <p:spPr>
          <a:xfrm rot="0">
            <a:off x="496843" y="1920808"/>
            <a:ext cx="17211824" cy="76775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457"/>
              </a:lnSpc>
              <a:spcBef>
                <a:spcPct val="0"/>
              </a:spcBef>
            </a:pPr>
            <a:r>
              <a:rPr lang="en-US" b="true" sz="3898">
                <a:solidFill>
                  <a:srgbClr val="000000"/>
                </a:solidFill>
                <a:latin typeface="Agrandir Bold"/>
                <a:ea typeface="Agrandir Bold"/>
                <a:cs typeface="Agrandir Bold"/>
                <a:sym typeface="Agrandir Bold"/>
              </a:rPr>
              <a:t>¿Y si incluyo un balanceo de clases en la información de entrenamiento?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496843" y="3808002"/>
            <a:ext cx="7657544" cy="15792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877"/>
              </a:lnSpc>
              <a:spcBef>
                <a:spcPct val="0"/>
              </a:spcBef>
            </a:pPr>
            <a:r>
              <a:rPr lang="en-US" b="true" sz="4198">
                <a:solidFill>
                  <a:srgbClr val="000000"/>
                </a:solidFill>
                <a:latin typeface="Agrandir Bold"/>
                <a:ea typeface="Agrandir Bold"/>
                <a:cs typeface="Agrandir Bold"/>
                <a:sym typeface="Agrandir Bold"/>
              </a:rPr>
              <a:t>¿Qué pesos debo atribuir a cada clase?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631403" y="6378257"/>
            <a:ext cx="7029225" cy="141799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317"/>
              </a:lnSpc>
              <a:spcBef>
                <a:spcPct val="0"/>
              </a:spcBef>
            </a:pPr>
            <a:r>
              <a:rPr lang="en-US" b="true" sz="3798">
                <a:solidFill>
                  <a:srgbClr val="000000"/>
                </a:solidFill>
                <a:latin typeface="Agrandir Bold"/>
                <a:ea typeface="Agrandir Bold"/>
                <a:cs typeface="Agrandir Bold"/>
                <a:sym typeface="Agrandir Bold"/>
              </a:rPr>
              <a:t>¿Más peso a los benignos o malignos?</a:t>
            </a:r>
          </a:p>
        </p:txBody>
      </p:sp>
    </p:spTree>
  </p:cSld>
  <p:clrMapOvr>
    <a:masterClrMapping/>
  </p:clrMapOvr>
  <p:timing>
    <p:tnLst>
      <p:par>
        <p:cTn dur="indefinite" restart="never" nodeType="tmRoot">
          <p:childTnLst>
            <p:video>
              <p:cMediaNode vol="0">
                <p:cTn fill="hold" display="false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</p:childTnLst>
        </p:cTn>
      </p:par>
    </p:tnLst>
  </p:timing>
</p:sld>
</file>

<file path=ppt/slides/slide4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1E3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5400000">
            <a:off x="870313" y="1031578"/>
            <a:ext cx="1055299" cy="1049543"/>
          </a:xfrm>
          <a:custGeom>
            <a:avLst/>
            <a:gdLst/>
            <a:ahLst/>
            <a:cxnLst/>
            <a:rect r="r" b="b" t="t" l="l"/>
            <a:pathLst>
              <a:path h="1049543" w="1055299">
                <a:moveTo>
                  <a:pt x="0" y="0"/>
                </a:moveTo>
                <a:lnTo>
                  <a:pt x="1055299" y="0"/>
                </a:lnTo>
                <a:lnTo>
                  <a:pt x="1055299" y="1049543"/>
                </a:lnTo>
                <a:lnTo>
                  <a:pt x="0" y="1049543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5400000">
            <a:off x="16804510" y="6963080"/>
            <a:ext cx="2298231" cy="3964582"/>
          </a:xfrm>
          <a:custGeom>
            <a:avLst/>
            <a:gdLst/>
            <a:ahLst/>
            <a:cxnLst/>
            <a:rect r="r" b="b" t="t" l="l"/>
            <a:pathLst>
              <a:path h="3964582" w="2298231">
                <a:moveTo>
                  <a:pt x="0" y="0"/>
                </a:moveTo>
                <a:lnTo>
                  <a:pt x="2298231" y="0"/>
                </a:lnTo>
                <a:lnTo>
                  <a:pt x="2298231" y="3964582"/>
                </a:lnTo>
                <a:lnTo>
                  <a:pt x="0" y="3964582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5496615" y="2336500"/>
            <a:ext cx="4747595" cy="3016701"/>
          </a:xfrm>
          <a:custGeom>
            <a:avLst/>
            <a:gdLst/>
            <a:ahLst/>
            <a:cxnLst/>
            <a:rect r="r" b="b" t="t" l="l"/>
            <a:pathLst>
              <a:path h="3016701" w="4747595">
                <a:moveTo>
                  <a:pt x="0" y="0"/>
                </a:moveTo>
                <a:lnTo>
                  <a:pt x="4747594" y="0"/>
                </a:lnTo>
                <a:lnTo>
                  <a:pt x="4747594" y="3016701"/>
                </a:lnTo>
                <a:lnTo>
                  <a:pt x="0" y="301670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  <p:sp>
        <p:nvSpPr>
          <p:cNvPr name="TextBox 5" id="5"/>
          <p:cNvSpPr txBox="true"/>
          <p:nvPr/>
        </p:nvSpPr>
        <p:spPr>
          <a:xfrm rot="0">
            <a:off x="5771340" y="788591"/>
            <a:ext cx="4198144" cy="76775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457"/>
              </a:lnSpc>
              <a:spcBef>
                <a:spcPct val="0"/>
              </a:spcBef>
            </a:pPr>
            <a:r>
              <a:rPr lang="en-US" b="true" sz="3898">
                <a:solidFill>
                  <a:srgbClr val="000000"/>
                </a:solidFill>
                <a:latin typeface="Agrandir Bold"/>
                <a:ea typeface="Agrandir Bold"/>
                <a:cs typeface="Agrandir Bold"/>
                <a:sym typeface="Agrandir Bold"/>
              </a:rPr>
              <a:t>Cálculo de pesos: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4014035" y="5615675"/>
            <a:ext cx="6930628" cy="76775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457"/>
              </a:lnSpc>
              <a:spcBef>
                <a:spcPct val="0"/>
              </a:spcBef>
            </a:pPr>
            <a:r>
              <a:rPr lang="en-US" b="true" sz="3898">
                <a:solidFill>
                  <a:srgbClr val="000000"/>
                </a:solidFill>
                <a:latin typeface="Agrandir Bold"/>
                <a:ea typeface="Agrandir Bold"/>
                <a:cs typeface="Agrandir Bold"/>
                <a:sym typeface="Agrandir Bold"/>
              </a:rPr>
              <a:t>N: número total de imágenes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4014035" y="6650133"/>
            <a:ext cx="8615065" cy="76775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457"/>
              </a:lnSpc>
              <a:spcBef>
                <a:spcPct val="0"/>
              </a:spcBef>
            </a:pPr>
            <a:r>
              <a:rPr lang="en-US" b="true" sz="3898">
                <a:solidFill>
                  <a:srgbClr val="000000"/>
                </a:solidFill>
                <a:latin typeface="Agrandir Bold"/>
                <a:ea typeface="Agrandir Bold"/>
                <a:cs typeface="Agrandir Bold"/>
                <a:sym typeface="Agrandir Bold"/>
              </a:rPr>
              <a:t>n: Número de imágenes en la clase c</a:t>
            </a:r>
          </a:p>
        </p:txBody>
      </p:sp>
    </p:spTree>
  </p:cSld>
  <p:clrMapOvr>
    <a:masterClrMapping/>
  </p:clrMapOvr>
</p:sld>
</file>

<file path=ppt/slides/slide4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1E3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5400000">
            <a:off x="870313" y="1031578"/>
            <a:ext cx="1055299" cy="1049543"/>
          </a:xfrm>
          <a:custGeom>
            <a:avLst/>
            <a:gdLst/>
            <a:ahLst/>
            <a:cxnLst/>
            <a:rect r="r" b="b" t="t" l="l"/>
            <a:pathLst>
              <a:path h="1049543" w="1055299">
                <a:moveTo>
                  <a:pt x="0" y="0"/>
                </a:moveTo>
                <a:lnTo>
                  <a:pt x="1055299" y="0"/>
                </a:lnTo>
                <a:lnTo>
                  <a:pt x="1055299" y="1049543"/>
                </a:lnTo>
                <a:lnTo>
                  <a:pt x="0" y="1049543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5400000">
            <a:off x="16804510" y="6963080"/>
            <a:ext cx="2298231" cy="3964582"/>
          </a:xfrm>
          <a:custGeom>
            <a:avLst/>
            <a:gdLst/>
            <a:ahLst/>
            <a:cxnLst/>
            <a:rect r="r" b="b" t="t" l="l"/>
            <a:pathLst>
              <a:path h="3964582" w="2298231">
                <a:moveTo>
                  <a:pt x="0" y="0"/>
                </a:moveTo>
                <a:lnTo>
                  <a:pt x="2298231" y="0"/>
                </a:lnTo>
                <a:lnTo>
                  <a:pt x="2298231" y="3964582"/>
                </a:lnTo>
                <a:lnTo>
                  <a:pt x="0" y="3964582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2499188" y="628465"/>
            <a:ext cx="6521289" cy="4654570"/>
          </a:xfrm>
          <a:custGeom>
            <a:avLst/>
            <a:gdLst/>
            <a:ahLst/>
            <a:cxnLst/>
            <a:rect r="r" b="b" t="t" l="l"/>
            <a:pathLst>
              <a:path h="4654570" w="6521289">
                <a:moveTo>
                  <a:pt x="0" y="0"/>
                </a:moveTo>
                <a:lnTo>
                  <a:pt x="6521289" y="0"/>
                </a:lnTo>
                <a:lnTo>
                  <a:pt x="6521289" y="4654570"/>
                </a:lnTo>
                <a:lnTo>
                  <a:pt x="0" y="465457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9144000" y="628465"/>
            <a:ext cx="6430166" cy="4654570"/>
          </a:xfrm>
          <a:custGeom>
            <a:avLst/>
            <a:gdLst/>
            <a:ahLst/>
            <a:cxnLst/>
            <a:rect r="r" b="b" t="t" l="l"/>
            <a:pathLst>
              <a:path h="4654570" w="6430166">
                <a:moveTo>
                  <a:pt x="0" y="0"/>
                </a:moveTo>
                <a:lnTo>
                  <a:pt x="6430166" y="0"/>
                </a:lnTo>
                <a:lnTo>
                  <a:pt x="6430166" y="4654570"/>
                </a:lnTo>
                <a:lnTo>
                  <a:pt x="0" y="465457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-708" t="0" r="-708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2538882" y="5377378"/>
            <a:ext cx="6433668" cy="4592030"/>
          </a:xfrm>
          <a:custGeom>
            <a:avLst/>
            <a:gdLst/>
            <a:ahLst/>
            <a:cxnLst/>
            <a:rect r="r" b="b" t="t" l="l"/>
            <a:pathLst>
              <a:path h="4592030" w="6433668">
                <a:moveTo>
                  <a:pt x="0" y="0"/>
                </a:moveTo>
                <a:lnTo>
                  <a:pt x="6433668" y="0"/>
                </a:lnTo>
                <a:lnTo>
                  <a:pt x="6433668" y="4592030"/>
                </a:lnTo>
                <a:lnTo>
                  <a:pt x="0" y="459203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9144000" y="5439917"/>
            <a:ext cx="6346047" cy="4529491"/>
          </a:xfrm>
          <a:custGeom>
            <a:avLst/>
            <a:gdLst/>
            <a:ahLst/>
            <a:cxnLst/>
            <a:rect r="r" b="b" t="t" l="l"/>
            <a:pathLst>
              <a:path h="4529491" w="6346047">
                <a:moveTo>
                  <a:pt x="0" y="0"/>
                </a:moveTo>
                <a:lnTo>
                  <a:pt x="6346047" y="0"/>
                </a:lnTo>
                <a:lnTo>
                  <a:pt x="6346047" y="4529491"/>
                </a:lnTo>
                <a:lnTo>
                  <a:pt x="0" y="4529491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0" t="0" r="0" b="0"/>
            </a:stretch>
          </a:blipFill>
        </p:spPr>
      </p:sp>
      <p:sp>
        <p:nvSpPr>
          <p:cNvPr name="TextBox 8" id="8"/>
          <p:cNvSpPr txBox="true"/>
          <p:nvPr/>
        </p:nvSpPr>
        <p:spPr>
          <a:xfrm rot="0">
            <a:off x="125309" y="2481383"/>
            <a:ext cx="2277517" cy="76775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457"/>
              </a:lnSpc>
              <a:spcBef>
                <a:spcPct val="0"/>
              </a:spcBef>
            </a:pPr>
            <a:r>
              <a:rPr lang="en-US" b="true" sz="3898">
                <a:solidFill>
                  <a:srgbClr val="000000"/>
                </a:solidFill>
                <a:latin typeface="Agrandir Bold"/>
                <a:ea typeface="Agrandir Bold"/>
                <a:cs typeface="Agrandir Bold"/>
                <a:sym typeface="Agrandir Bold"/>
              </a:rPr>
              <a:t>Modelo 0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25309" y="6850327"/>
            <a:ext cx="2223195" cy="76775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457"/>
              </a:lnSpc>
              <a:spcBef>
                <a:spcPct val="0"/>
              </a:spcBef>
            </a:pPr>
            <a:r>
              <a:rPr lang="en-US" b="true" sz="3898">
                <a:solidFill>
                  <a:srgbClr val="000000"/>
                </a:solidFill>
                <a:latin typeface="Agrandir Bold"/>
                <a:ea typeface="Agrandir Bold"/>
                <a:cs typeface="Agrandir Bold"/>
                <a:sym typeface="Agrandir Bold"/>
              </a:rPr>
              <a:t>Modelo 2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15665289" y="2359953"/>
            <a:ext cx="2180034" cy="76775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457"/>
              </a:lnSpc>
              <a:spcBef>
                <a:spcPct val="0"/>
              </a:spcBef>
            </a:pPr>
            <a:r>
              <a:rPr lang="en-US" b="true" sz="3898">
                <a:solidFill>
                  <a:srgbClr val="000000"/>
                </a:solidFill>
                <a:latin typeface="Agrandir Bold"/>
                <a:ea typeface="Agrandir Bold"/>
                <a:cs typeface="Agrandir Bold"/>
                <a:sym typeface="Agrandir Bold"/>
              </a:rPr>
              <a:t>Modelo 1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15665289" y="6752012"/>
            <a:ext cx="2228552" cy="76775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457"/>
              </a:lnSpc>
              <a:spcBef>
                <a:spcPct val="0"/>
              </a:spcBef>
            </a:pPr>
            <a:r>
              <a:rPr lang="en-US" b="true" sz="3898">
                <a:solidFill>
                  <a:srgbClr val="000000"/>
                </a:solidFill>
                <a:latin typeface="Agrandir Bold"/>
                <a:ea typeface="Agrandir Bold"/>
                <a:cs typeface="Agrandir Bold"/>
                <a:sym typeface="Agrandir Bold"/>
              </a:rPr>
              <a:t>Modelo 3</a:t>
            </a:r>
          </a:p>
        </p:txBody>
      </p:sp>
    </p:spTree>
  </p:cSld>
  <p:clrMapOvr>
    <a:masterClrMapping/>
  </p:clrMapOvr>
</p:sld>
</file>

<file path=ppt/slides/slide4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1E3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5400000">
            <a:off x="870313" y="1031578"/>
            <a:ext cx="1055299" cy="1049543"/>
          </a:xfrm>
          <a:custGeom>
            <a:avLst/>
            <a:gdLst/>
            <a:ahLst/>
            <a:cxnLst/>
            <a:rect r="r" b="b" t="t" l="l"/>
            <a:pathLst>
              <a:path h="1049543" w="1055299">
                <a:moveTo>
                  <a:pt x="0" y="0"/>
                </a:moveTo>
                <a:lnTo>
                  <a:pt x="1055299" y="0"/>
                </a:lnTo>
                <a:lnTo>
                  <a:pt x="1055299" y="1049543"/>
                </a:lnTo>
                <a:lnTo>
                  <a:pt x="0" y="1049543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5400000">
            <a:off x="16804510" y="6963080"/>
            <a:ext cx="2298231" cy="3964582"/>
          </a:xfrm>
          <a:custGeom>
            <a:avLst/>
            <a:gdLst/>
            <a:ahLst/>
            <a:cxnLst/>
            <a:rect r="r" b="b" t="t" l="l"/>
            <a:pathLst>
              <a:path h="3964582" w="2298231">
                <a:moveTo>
                  <a:pt x="0" y="0"/>
                </a:moveTo>
                <a:lnTo>
                  <a:pt x="2298231" y="0"/>
                </a:lnTo>
                <a:lnTo>
                  <a:pt x="2298231" y="3964582"/>
                </a:lnTo>
                <a:lnTo>
                  <a:pt x="0" y="3964582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2733736" y="178410"/>
            <a:ext cx="5984546" cy="4877405"/>
          </a:xfrm>
          <a:custGeom>
            <a:avLst/>
            <a:gdLst/>
            <a:ahLst/>
            <a:cxnLst/>
            <a:rect r="r" b="b" t="t" l="l"/>
            <a:pathLst>
              <a:path h="4877405" w="5984546">
                <a:moveTo>
                  <a:pt x="0" y="0"/>
                </a:moveTo>
                <a:lnTo>
                  <a:pt x="5984546" y="0"/>
                </a:lnTo>
                <a:lnTo>
                  <a:pt x="5984546" y="4877406"/>
                </a:lnTo>
                <a:lnTo>
                  <a:pt x="0" y="4877406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9042132" y="241111"/>
            <a:ext cx="5946908" cy="4846730"/>
          </a:xfrm>
          <a:custGeom>
            <a:avLst/>
            <a:gdLst/>
            <a:ahLst/>
            <a:cxnLst/>
            <a:rect r="r" b="b" t="t" l="l"/>
            <a:pathLst>
              <a:path h="4846730" w="5946908">
                <a:moveTo>
                  <a:pt x="0" y="0"/>
                </a:moveTo>
                <a:lnTo>
                  <a:pt x="5946908" y="0"/>
                </a:lnTo>
                <a:lnTo>
                  <a:pt x="5946908" y="4846731"/>
                </a:lnTo>
                <a:lnTo>
                  <a:pt x="0" y="484673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2652113" y="5250007"/>
            <a:ext cx="6085219" cy="4959453"/>
          </a:xfrm>
          <a:custGeom>
            <a:avLst/>
            <a:gdLst/>
            <a:ahLst/>
            <a:cxnLst/>
            <a:rect r="r" b="b" t="t" l="l"/>
            <a:pathLst>
              <a:path h="4959453" w="6085219">
                <a:moveTo>
                  <a:pt x="0" y="0"/>
                </a:moveTo>
                <a:lnTo>
                  <a:pt x="6085219" y="0"/>
                </a:lnTo>
                <a:lnTo>
                  <a:pt x="6085219" y="4959453"/>
                </a:lnTo>
                <a:lnTo>
                  <a:pt x="0" y="4959453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9042132" y="5281559"/>
            <a:ext cx="6046504" cy="4927901"/>
          </a:xfrm>
          <a:custGeom>
            <a:avLst/>
            <a:gdLst/>
            <a:ahLst/>
            <a:cxnLst/>
            <a:rect r="r" b="b" t="t" l="l"/>
            <a:pathLst>
              <a:path h="4927901" w="6046504">
                <a:moveTo>
                  <a:pt x="0" y="0"/>
                </a:moveTo>
                <a:lnTo>
                  <a:pt x="6046504" y="0"/>
                </a:lnTo>
                <a:lnTo>
                  <a:pt x="6046504" y="4927901"/>
                </a:lnTo>
                <a:lnTo>
                  <a:pt x="0" y="4927901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0" t="0" r="0" b="0"/>
            </a:stretch>
          </a:blipFill>
        </p:spPr>
      </p:sp>
      <p:sp>
        <p:nvSpPr>
          <p:cNvPr name="TextBox 8" id="8"/>
          <p:cNvSpPr txBox="true"/>
          <p:nvPr/>
        </p:nvSpPr>
        <p:spPr>
          <a:xfrm rot="0">
            <a:off x="98147" y="2653344"/>
            <a:ext cx="2277517" cy="76775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457"/>
              </a:lnSpc>
              <a:spcBef>
                <a:spcPct val="0"/>
              </a:spcBef>
            </a:pPr>
            <a:r>
              <a:rPr lang="en-US" b="true" sz="3898">
                <a:solidFill>
                  <a:srgbClr val="000000"/>
                </a:solidFill>
                <a:latin typeface="Agrandir Bold"/>
                <a:ea typeface="Agrandir Bold"/>
                <a:cs typeface="Agrandir Bold"/>
                <a:sym typeface="Agrandir Bold"/>
              </a:rPr>
              <a:t>Modelo 0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25309" y="6850327"/>
            <a:ext cx="2223195" cy="76775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457"/>
              </a:lnSpc>
              <a:spcBef>
                <a:spcPct val="0"/>
              </a:spcBef>
            </a:pPr>
            <a:r>
              <a:rPr lang="en-US" b="true" sz="3898">
                <a:solidFill>
                  <a:srgbClr val="000000"/>
                </a:solidFill>
                <a:latin typeface="Agrandir Bold"/>
                <a:ea typeface="Agrandir Bold"/>
                <a:cs typeface="Agrandir Bold"/>
                <a:sym typeface="Agrandir Bold"/>
              </a:rPr>
              <a:t>Modelo 2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15314006" y="2359953"/>
            <a:ext cx="2180034" cy="76775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457"/>
              </a:lnSpc>
              <a:spcBef>
                <a:spcPct val="0"/>
              </a:spcBef>
            </a:pPr>
            <a:r>
              <a:rPr lang="en-US" b="true" sz="3898">
                <a:solidFill>
                  <a:srgbClr val="000000"/>
                </a:solidFill>
                <a:latin typeface="Agrandir Bold"/>
                <a:ea typeface="Agrandir Bold"/>
                <a:cs typeface="Agrandir Bold"/>
                <a:sym typeface="Agrandir Bold"/>
              </a:rPr>
              <a:t>Modelo 1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15369177" y="6752012"/>
            <a:ext cx="2228552" cy="76775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457"/>
              </a:lnSpc>
              <a:spcBef>
                <a:spcPct val="0"/>
              </a:spcBef>
            </a:pPr>
            <a:r>
              <a:rPr lang="en-US" b="true" sz="3898">
                <a:solidFill>
                  <a:srgbClr val="000000"/>
                </a:solidFill>
                <a:latin typeface="Agrandir Bold"/>
                <a:ea typeface="Agrandir Bold"/>
                <a:cs typeface="Agrandir Bold"/>
                <a:sym typeface="Agrandir Bold"/>
              </a:rPr>
              <a:t>Modelo 3</a:t>
            </a:r>
          </a:p>
        </p:txBody>
      </p:sp>
    </p:spTree>
  </p:cSld>
  <p:clrMapOvr>
    <a:masterClrMapping/>
  </p:clrMapOvr>
</p:sld>
</file>

<file path=ppt/slides/slide4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1E3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5400000">
            <a:off x="870313" y="1031578"/>
            <a:ext cx="1055299" cy="1049543"/>
          </a:xfrm>
          <a:custGeom>
            <a:avLst/>
            <a:gdLst/>
            <a:ahLst/>
            <a:cxnLst/>
            <a:rect r="r" b="b" t="t" l="l"/>
            <a:pathLst>
              <a:path h="1049543" w="1055299">
                <a:moveTo>
                  <a:pt x="0" y="0"/>
                </a:moveTo>
                <a:lnTo>
                  <a:pt x="1055299" y="0"/>
                </a:lnTo>
                <a:lnTo>
                  <a:pt x="1055299" y="1049543"/>
                </a:lnTo>
                <a:lnTo>
                  <a:pt x="0" y="1049543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5400000">
            <a:off x="16804510" y="6963080"/>
            <a:ext cx="2298231" cy="3964582"/>
          </a:xfrm>
          <a:custGeom>
            <a:avLst/>
            <a:gdLst/>
            <a:ahLst/>
            <a:cxnLst/>
            <a:rect r="r" b="b" t="t" l="l"/>
            <a:pathLst>
              <a:path h="3964582" w="2298231">
                <a:moveTo>
                  <a:pt x="0" y="0"/>
                </a:moveTo>
                <a:lnTo>
                  <a:pt x="2298231" y="0"/>
                </a:lnTo>
                <a:lnTo>
                  <a:pt x="2298231" y="3964582"/>
                </a:lnTo>
                <a:lnTo>
                  <a:pt x="0" y="3964582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2733736" y="178410"/>
            <a:ext cx="5984546" cy="4877405"/>
          </a:xfrm>
          <a:custGeom>
            <a:avLst/>
            <a:gdLst/>
            <a:ahLst/>
            <a:cxnLst/>
            <a:rect r="r" b="b" t="t" l="l"/>
            <a:pathLst>
              <a:path h="4877405" w="5984546">
                <a:moveTo>
                  <a:pt x="0" y="0"/>
                </a:moveTo>
                <a:lnTo>
                  <a:pt x="5984546" y="0"/>
                </a:lnTo>
                <a:lnTo>
                  <a:pt x="5984546" y="4877406"/>
                </a:lnTo>
                <a:lnTo>
                  <a:pt x="0" y="4877406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9042132" y="241111"/>
            <a:ext cx="5946908" cy="4846730"/>
          </a:xfrm>
          <a:custGeom>
            <a:avLst/>
            <a:gdLst/>
            <a:ahLst/>
            <a:cxnLst/>
            <a:rect r="r" b="b" t="t" l="l"/>
            <a:pathLst>
              <a:path h="4846730" w="5946908">
                <a:moveTo>
                  <a:pt x="0" y="0"/>
                </a:moveTo>
                <a:lnTo>
                  <a:pt x="5946908" y="0"/>
                </a:lnTo>
                <a:lnTo>
                  <a:pt x="5946908" y="4846731"/>
                </a:lnTo>
                <a:lnTo>
                  <a:pt x="0" y="484673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2652113" y="5250007"/>
            <a:ext cx="6085219" cy="4959453"/>
          </a:xfrm>
          <a:custGeom>
            <a:avLst/>
            <a:gdLst/>
            <a:ahLst/>
            <a:cxnLst/>
            <a:rect r="r" b="b" t="t" l="l"/>
            <a:pathLst>
              <a:path h="4959453" w="6085219">
                <a:moveTo>
                  <a:pt x="0" y="0"/>
                </a:moveTo>
                <a:lnTo>
                  <a:pt x="6085219" y="0"/>
                </a:lnTo>
                <a:lnTo>
                  <a:pt x="6085219" y="4959453"/>
                </a:lnTo>
                <a:lnTo>
                  <a:pt x="0" y="4959453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9042132" y="5281559"/>
            <a:ext cx="6046504" cy="4927901"/>
          </a:xfrm>
          <a:custGeom>
            <a:avLst/>
            <a:gdLst/>
            <a:ahLst/>
            <a:cxnLst/>
            <a:rect r="r" b="b" t="t" l="l"/>
            <a:pathLst>
              <a:path h="4927901" w="6046504">
                <a:moveTo>
                  <a:pt x="0" y="0"/>
                </a:moveTo>
                <a:lnTo>
                  <a:pt x="6046504" y="0"/>
                </a:lnTo>
                <a:lnTo>
                  <a:pt x="6046504" y="4927901"/>
                </a:lnTo>
                <a:lnTo>
                  <a:pt x="0" y="4927901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0" t="0" r="0" b="0"/>
            </a:stretch>
          </a:blipFill>
        </p:spPr>
      </p:sp>
      <p:pic>
        <p:nvPicPr>
          <p:cNvPr name="Picture 8" id="8">
            <a:hlinkClick action="ppaction://media"/>
          </p:cNvPr>
          <p:cNvPicPr>
            <a:picLocks noChangeAspect="true"/>
          </p:cNvPicPr>
          <p:nvPr>
            <a:videoFile r:link="rId11"/>
            <p:extLst>
              <p:ext uri="{DAA4B4D4-6D71-4841-9C94-3DE7FCFB9230}">
                <p14:media xmlns:p14="http://schemas.microsoft.com/office/powerpoint/2010/main" r:embed="rId12"/>
              </p:ext>
            </p:extLst>
          </p:nvPr>
        </p:nvPicPr>
        <p:blipFill>
          <a:blip r:embed="rId10"/>
          <a:srcRect l="0" t="0" r="0" b="0"/>
          <a:stretch>
            <a:fillRect/>
          </a:stretch>
        </p:blipFill>
        <p:spPr>
          <a:xfrm flipH="false" flipV="false" rot="0">
            <a:off x="2521214" y="2079703"/>
            <a:ext cx="12647242" cy="5716553"/>
          </a:xfrm>
          <a:prstGeom prst="rect">
            <a:avLst/>
          </a:prstGeom>
        </p:spPr>
      </p:pic>
      <p:sp>
        <p:nvSpPr>
          <p:cNvPr name="TextBox 9" id="9"/>
          <p:cNvSpPr txBox="true"/>
          <p:nvPr/>
        </p:nvSpPr>
        <p:spPr>
          <a:xfrm rot="0">
            <a:off x="98147" y="2653344"/>
            <a:ext cx="2277517" cy="76775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457"/>
              </a:lnSpc>
              <a:spcBef>
                <a:spcPct val="0"/>
              </a:spcBef>
            </a:pPr>
            <a:r>
              <a:rPr lang="en-US" b="true" sz="3898">
                <a:solidFill>
                  <a:srgbClr val="000000"/>
                </a:solidFill>
                <a:latin typeface="Agrandir Bold"/>
                <a:ea typeface="Agrandir Bold"/>
                <a:cs typeface="Agrandir Bold"/>
                <a:sym typeface="Agrandir Bold"/>
              </a:rPr>
              <a:t>Modelo 0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125309" y="6850327"/>
            <a:ext cx="2223195" cy="76775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457"/>
              </a:lnSpc>
              <a:spcBef>
                <a:spcPct val="0"/>
              </a:spcBef>
            </a:pPr>
            <a:r>
              <a:rPr lang="en-US" b="true" sz="3898">
                <a:solidFill>
                  <a:srgbClr val="000000"/>
                </a:solidFill>
                <a:latin typeface="Agrandir Bold"/>
                <a:ea typeface="Agrandir Bold"/>
                <a:cs typeface="Agrandir Bold"/>
                <a:sym typeface="Agrandir Bold"/>
              </a:rPr>
              <a:t>Modelo 2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15314006" y="2359953"/>
            <a:ext cx="2180034" cy="76775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457"/>
              </a:lnSpc>
              <a:spcBef>
                <a:spcPct val="0"/>
              </a:spcBef>
            </a:pPr>
            <a:r>
              <a:rPr lang="en-US" b="true" sz="3898">
                <a:solidFill>
                  <a:srgbClr val="000000"/>
                </a:solidFill>
                <a:latin typeface="Agrandir Bold"/>
                <a:ea typeface="Agrandir Bold"/>
                <a:cs typeface="Agrandir Bold"/>
                <a:sym typeface="Agrandir Bold"/>
              </a:rPr>
              <a:t>Modelo 1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15369177" y="6752012"/>
            <a:ext cx="2228552" cy="76775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457"/>
              </a:lnSpc>
              <a:spcBef>
                <a:spcPct val="0"/>
              </a:spcBef>
            </a:pPr>
            <a:r>
              <a:rPr lang="en-US" b="true" sz="3898">
                <a:solidFill>
                  <a:srgbClr val="000000"/>
                </a:solidFill>
                <a:latin typeface="Agrandir Bold"/>
                <a:ea typeface="Agrandir Bold"/>
                <a:cs typeface="Agrandir Bold"/>
                <a:sym typeface="Agrandir Bold"/>
              </a:rPr>
              <a:t>Modelo 3</a:t>
            </a:r>
          </a:p>
        </p:txBody>
      </p:sp>
    </p:spTree>
  </p:cSld>
  <p:clrMapOvr>
    <a:masterClrMapping/>
  </p:clrMapOvr>
  <p:timing>
    <p:tnLst>
      <p:par>
        <p:cTn dur="indefinite" restart="never" nodeType="tmRoot">
          <p:childTnLst>
            <p:video>
              <p:cMediaNode vol="0">
                <p:cTn fill="hold" display="false">
                  <p:stCondLst>
                    <p:cond delay="indefinite"/>
                  </p:stCondLst>
                </p:cTn>
                <p:tgtEl>
                  <p:spTgt spid="8"/>
                </p:tgtEl>
              </p:cMediaNode>
            </p:video>
          </p:childTnLst>
        </p:cTn>
      </p:par>
    </p:tnLst>
  </p:timing>
</p:sld>
</file>

<file path=ppt/slides/slide4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1E3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9774527" y="546735"/>
            <a:ext cx="7484773" cy="48200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 marL="0" indent="0" lvl="0">
              <a:lnSpc>
                <a:spcPts val="3357"/>
              </a:lnSpc>
            </a:pPr>
            <a:r>
              <a:rPr lang="en-US" sz="2398">
                <a:solidFill>
                  <a:srgbClr val="1F1F25"/>
                </a:solidFill>
                <a:latin typeface="Agrandir"/>
                <a:ea typeface="Agrandir"/>
                <a:cs typeface="Agrandir"/>
                <a:sym typeface="Agrandir"/>
              </a:rPr>
              <a:t>2026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1028700" y="546735"/>
            <a:ext cx="7484773" cy="48200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0" indent="0" lvl="0">
              <a:lnSpc>
                <a:spcPts val="3357"/>
              </a:lnSpc>
            </a:pPr>
            <a:r>
              <a:rPr lang="en-US" sz="2398">
                <a:solidFill>
                  <a:srgbClr val="1F1F25"/>
                </a:solidFill>
                <a:latin typeface="Agrandir"/>
                <a:ea typeface="Agrandir"/>
                <a:cs typeface="Agrandir"/>
                <a:sym typeface="Agrandir"/>
              </a:rPr>
              <a:t>Análisis de Cáncer de Mama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5400000">
            <a:off x="1117409" y="1199697"/>
            <a:ext cx="1055299" cy="1049543"/>
          </a:xfrm>
          <a:custGeom>
            <a:avLst/>
            <a:gdLst/>
            <a:ahLst/>
            <a:cxnLst/>
            <a:rect r="r" b="b" t="t" l="l"/>
            <a:pathLst>
              <a:path h="1049543" w="1055299">
                <a:moveTo>
                  <a:pt x="0" y="0"/>
                </a:moveTo>
                <a:lnTo>
                  <a:pt x="1055299" y="0"/>
                </a:lnTo>
                <a:lnTo>
                  <a:pt x="1055299" y="1049544"/>
                </a:lnTo>
                <a:lnTo>
                  <a:pt x="0" y="1049544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5400000">
            <a:off x="3927633" y="4630725"/>
            <a:ext cx="2298231" cy="3964582"/>
          </a:xfrm>
          <a:custGeom>
            <a:avLst/>
            <a:gdLst/>
            <a:ahLst/>
            <a:cxnLst/>
            <a:rect r="r" b="b" t="t" l="l"/>
            <a:pathLst>
              <a:path h="3964582" w="2298231">
                <a:moveTo>
                  <a:pt x="0" y="0"/>
                </a:moveTo>
                <a:lnTo>
                  <a:pt x="2298232" y="0"/>
                </a:lnTo>
                <a:lnTo>
                  <a:pt x="2298232" y="3964583"/>
                </a:lnTo>
                <a:lnTo>
                  <a:pt x="0" y="3964583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4260049" y="3092607"/>
            <a:ext cx="1633399" cy="479177"/>
          </a:xfrm>
          <a:custGeom>
            <a:avLst/>
            <a:gdLst/>
            <a:ahLst/>
            <a:cxnLst/>
            <a:rect r="r" b="b" t="t" l="l"/>
            <a:pathLst>
              <a:path h="479177" w="1633399">
                <a:moveTo>
                  <a:pt x="0" y="0"/>
                </a:moveTo>
                <a:lnTo>
                  <a:pt x="1633400" y="0"/>
                </a:lnTo>
                <a:lnTo>
                  <a:pt x="1633400" y="479178"/>
                </a:lnTo>
                <a:lnTo>
                  <a:pt x="0" y="479178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7" id="7"/>
          <p:cNvSpPr txBox="true"/>
          <p:nvPr/>
        </p:nvSpPr>
        <p:spPr>
          <a:xfrm rot="0">
            <a:off x="3843993" y="2185444"/>
            <a:ext cx="12182551" cy="134064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 marL="0" indent="0" lvl="0">
              <a:lnSpc>
                <a:spcPts val="8144"/>
              </a:lnSpc>
            </a:pPr>
            <a:r>
              <a:rPr lang="en-US" sz="8396">
                <a:solidFill>
                  <a:srgbClr val="1F1F25"/>
                </a:solidFill>
                <a:latin typeface="Agrandir"/>
                <a:ea typeface="Agrandir"/>
                <a:cs typeface="Agrandir"/>
                <a:sym typeface="Agrandir"/>
              </a:rPr>
              <a:t>FUTURO</a:t>
            </a:r>
          </a:p>
        </p:txBody>
      </p:sp>
      <p:grpSp>
        <p:nvGrpSpPr>
          <p:cNvPr name="Group 8" id="8"/>
          <p:cNvGrpSpPr/>
          <p:nvPr/>
        </p:nvGrpSpPr>
        <p:grpSpPr>
          <a:xfrm rot="0">
            <a:off x="7975779" y="4882643"/>
            <a:ext cx="8958394" cy="4052737"/>
            <a:chOff x="0" y="0"/>
            <a:chExt cx="2359412" cy="1067387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359412" cy="1067387"/>
            </a:xfrm>
            <a:custGeom>
              <a:avLst/>
              <a:gdLst/>
              <a:ahLst/>
              <a:cxnLst/>
              <a:rect r="r" b="b" t="t" l="l"/>
              <a:pathLst>
                <a:path h="1067387" w="2359412">
                  <a:moveTo>
                    <a:pt x="86421" y="0"/>
                  </a:moveTo>
                  <a:lnTo>
                    <a:pt x="2272991" y="0"/>
                  </a:lnTo>
                  <a:cubicBezTo>
                    <a:pt x="2320720" y="0"/>
                    <a:pt x="2359412" y="38692"/>
                    <a:pt x="2359412" y="86421"/>
                  </a:cubicBezTo>
                  <a:lnTo>
                    <a:pt x="2359412" y="980966"/>
                  </a:lnTo>
                  <a:cubicBezTo>
                    <a:pt x="2359412" y="1028695"/>
                    <a:pt x="2320720" y="1067387"/>
                    <a:pt x="2272991" y="1067387"/>
                  </a:cubicBezTo>
                  <a:lnTo>
                    <a:pt x="86421" y="1067387"/>
                  </a:lnTo>
                  <a:cubicBezTo>
                    <a:pt x="38692" y="1067387"/>
                    <a:pt x="0" y="1028695"/>
                    <a:pt x="0" y="980966"/>
                  </a:cubicBezTo>
                  <a:lnTo>
                    <a:pt x="0" y="86421"/>
                  </a:lnTo>
                  <a:cubicBezTo>
                    <a:pt x="0" y="38692"/>
                    <a:pt x="38692" y="0"/>
                    <a:pt x="86421" y="0"/>
                  </a:cubicBezTo>
                  <a:close/>
                </a:path>
              </a:pathLst>
            </a:custGeom>
            <a:solidFill>
              <a:srgbClr val="E1E3E1"/>
            </a:solidFill>
            <a:ln w="19050" cap="rnd">
              <a:solidFill>
                <a:srgbClr val="296D5F"/>
              </a:solidFill>
              <a:prstDash val="solid"/>
              <a:round/>
            </a:ln>
          </p:spPr>
        </p:sp>
        <p:sp>
          <p:nvSpPr>
            <p:cNvPr name="TextBox 10" id="10"/>
            <p:cNvSpPr txBox="true"/>
            <p:nvPr/>
          </p:nvSpPr>
          <p:spPr>
            <a:xfrm>
              <a:off x="0" y="-123825"/>
              <a:ext cx="2359412" cy="119121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 marL="582927" indent="-291463" lvl="1">
                <a:lnSpc>
                  <a:spcPts val="3779"/>
                </a:lnSpc>
                <a:buFont typeface="Arial"/>
                <a:buChar char="•"/>
              </a:pPr>
              <a:r>
                <a:rPr lang="en-US" sz="2699">
                  <a:solidFill>
                    <a:srgbClr val="1F1F25"/>
                  </a:solidFill>
                  <a:latin typeface="Agrandir"/>
                  <a:ea typeface="Agrandir"/>
                  <a:cs typeface="Agrandir"/>
                  <a:sym typeface="Agrandir"/>
                </a:rPr>
                <a:t>Intentar sacar estadísticas relevantes a partir de contorno y texturas (média de contornos, radio medio, perímeto, etc)</a:t>
              </a:r>
            </a:p>
            <a:p>
              <a:pPr algn="l" marL="582927" indent="-291463" lvl="1">
                <a:lnSpc>
                  <a:spcPts val="3779"/>
                </a:lnSpc>
                <a:buFont typeface="Arial"/>
                <a:buChar char="•"/>
              </a:pPr>
              <a:r>
                <a:rPr lang="en-US" sz="2699">
                  <a:solidFill>
                    <a:srgbClr val="1F1F25"/>
                  </a:solidFill>
                  <a:latin typeface="Agrandir"/>
                  <a:ea typeface="Agrandir"/>
                  <a:cs typeface="Agrandir"/>
                  <a:sym typeface="Agrandir"/>
                </a:rPr>
                <a:t>Incluyir un modelo de validación de entrada (Garantizar que las entradas son de hecho imagenes de histopatología)</a:t>
              </a:r>
            </a:p>
            <a:p>
              <a:pPr algn="l" marL="582927" indent="-291463" lvl="1">
                <a:lnSpc>
                  <a:spcPts val="3779"/>
                </a:lnSpc>
                <a:buFont typeface="Arial"/>
                <a:buChar char="•"/>
              </a:pPr>
              <a:r>
                <a:rPr lang="en-US" sz="2699">
                  <a:solidFill>
                    <a:srgbClr val="1F1F25"/>
                  </a:solidFill>
                  <a:latin typeface="Agrandir"/>
                  <a:ea typeface="Agrandir"/>
                  <a:cs typeface="Agrandir"/>
                  <a:sym typeface="Agrandir"/>
                </a:rPr>
                <a:t>Generar más imagenes para entrenar y mejorar el modelo</a:t>
              </a:r>
            </a:p>
          </p:txBody>
        </p:sp>
      </p:grpSp>
    </p:spTree>
  </p:cSld>
  <p:clrMapOvr>
    <a:masterClrMapping/>
  </p:clrMapOvr>
</p:sld>
</file>

<file path=ppt/slides/slide4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1E3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9774527" y="546735"/>
            <a:ext cx="7484773" cy="48200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 marL="0" indent="0" lvl="0">
              <a:lnSpc>
                <a:spcPts val="3357"/>
              </a:lnSpc>
            </a:pPr>
            <a:r>
              <a:rPr lang="en-US" sz="2398">
                <a:solidFill>
                  <a:srgbClr val="1F1F25"/>
                </a:solidFill>
                <a:latin typeface="Agrandir"/>
                <a:ea typeface="Agrandir"/>
                <a:cs typeface="Agrandir"/>
                <a:sym typeface="Agrandir"/>
              </a:rPr>
              <a:t>2026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1028700" y="546735"/>
            <a:ext cx="7484773" cy="48200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0" indent="0" lvl="0">
              <a:lnSpc>
                <a:spcPts val="3357"/>
              </a:lnSpc>
            </a:pPr>
            <a:r>
              <a:rPr lang="en-US" sz="2398">
                <a:solidFill>
                  <a:srgbClr val="1F1F25"/>
                </a:solidFill>
                <a:latin typeface="Agrandir"/>
                <a:ea typeface="Agrandir"/>
                <a:cs typeface="Agrandir"/>
                <a:sym typeface="Agrandir"/>
              </a:rPr>
              <a:t>Análisis de Cáncer de Mama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5400000">
            <a:off x="1117409" y="1199697"/>
            <a:ext cx="1055299" cy="1049543"/>
          </a:xfrm>
          <a:custGeom>
            <a:avLst/>
            <a:gdLst/>
            <a:ahLst/>
            <a:cxnLst/>
            <a:rect r="r" b="b" t="t" l="l"/>
            <a:pathLst>
              <a:path h="1049543" w="1055299">
                <a:moveTo>
                  <a:pt x="0" y="0"/>
                </a:moveTo>
                <a:lnTo>
                  <a:pt x="1055299" y="0"/>
                </a:lnTo>
                <a:lnTo>
                  <a:pt x="1055299" y="1049544"/>
                </a:lnTo>
                <a:lnTo>
                  <a:pt x="0" y="1049544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5400000">
            <a:off x="3927633" y="4630725"/>
            <a:ext cx="2298231" cy="3964582"/>
          </a:xfrm>
          <a:custGeom>
            <a:avLst/>
            <a:gdLst/>
            <a:ahLst/>
            <a:cxnLst/>
            <a:rect r="r" b="b" t="t" l="l"/>
            <a:pathLst>
              <a:path h="3964582" w="2298231">
                <a:moveTo>
                  <a:pt x="0" y="0"/>
                </a:moveTo>
                <a:lnTo>
                  <a:pt x="2298232" y="0"/>
                </a:lnTo>
                <a:lnTo>
                  <a:pt x="2298232" y="3964583"/>
                </a:lnTo>
                <a:lnTo>
                  <a:pt x="0" y="3964583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4260049" y="3092607"/>
            <a:ext cx="1633399" cy="479177"/>
          </a:xfrm>
          <a:custGeom>
            <a:avLst/>
            <a:gdLst/>
            <a:ahLst/>
            <a:cxnLst/>
            <a:rect r="r" b="b" t="t" l="l"/>
            <a:pathLst>
              <a:path h="479177" w="1633399">
                <a:moveTo>
                  <a:pt x="0" y="0"/>
                </a:moveTo>
                <a:lnTo>
                  <a:pt x="1633400" y="0"/>
                </a:lnTo>
                <a:lnTo>
                  <a:pt x="1633400" y="479178"/>
                </a:lnTo>
                <a:lnTo>
                  <a:pt x="0" y="479178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7" id="7"/>
          <p:cNvSpPr txBox="true"/>
          <p:nvPr/>
        </p:nvSpPr>
        <p:spPr>
          <a:xfrm rot="0">
            <a:off x="4367042" y="1972684"/>
            <a:ext cx="12182551" cy="339804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 marL="0" indent="0" lvl="0">
              <a:lnSpc>
                <a:spcPts val="8144"/>
              </a:lnSpc>
            </a:pPr>
            <a:r>
              <a:rPr lang="en-US" sz="8396">
                <a:solidFill>
                  <a:srgbClr val="1F1F25"/>
                </a:solidFill>
                <a:latin typeface="Agrandir"/>
                <a:ea typeface="Agrandir"/>
                <a:cs typeface="Agrandir"/>
                <a:sym typeface="Agrandir"/>
              </a:rPr>
              <a:t>MODELOS DESPLEGABLES (STREAMLIT)</a:t>
            </a:r>
          </a:p>
        </p:txBody>
      </p:sp>
    </p:spTree>
  </p:cSld>
  <p:clrMapOvr>
    <a:masterClrMapping/>
  </p:clrMapOvr>
</p:sld>
</file>

<file path=ppt/slides/slide4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1E3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999578" y="4914958"/>
            <a:ext cx="1558087" cy="457083"/>
          </a:xfrm>
          <a:custGeom>
            <a:avLst/>
            <a:gdLst/>
            <a:ahLst/>
            <a:cxnLst/>
            <a:rect r="r" b="b" t="t" l="l"/>
            <a:pathLst>
              <a:path h="457083" w="1558087">
                <a:moveTo>
                  <a:pt x="0" y="0"/>
                </a:moveTo>
                <a:lnTo>
                  <a:pt x="1558087" y="0"/>
                </a:lnTo>
                <a:lnTo>
                  <a:pt x="1558087" y="457084"/>
                </a:lnTo>
                <a:lnTo>
                  <a:pt x="0" y="457084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4407120" y="3550720"/>
            <a:ext cx="3203031" cy="3185560"/>
          </a:xfrm>
          <a:custGeom>
            <a:avLst/>
            <a:gdLst/>
            <a:ahLst/>
            <a:cxnLst/>
            <a:rect r="r" b="b" t="t" l="l"/>
            <a:pathLst>
              <a:path h="3185560" w="3203031">
                <a:moveTo>
                  <a:pt x="0" y="0"/>
                </a:moveTo>
                <a:lnTo>
                  <a:pt x="3203030" y="0"/>
                </a:lnTo>
                <a:lnTo>
                  <a:pt x="3203030" y="3185560"/>
                </a:lnTo>
                <a:lnTo>
                  <a:pt x="0" y="318556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5400000">
            <a:off x="11765392" y="-1687841"/>
            <a:ext cx="2385311" cy="4114800"/>
          </a:xfrm>
          <a:custGeom>
            <a:avLst/>
            <a:gdLst/>
            <a:ahLst/>
            <a:cxnLst/>
            <a:rect r="r" b="b" t="t" l="l"/>
            <a:pathLst>
              <a:path h="4114800" w="2385311">
                <a:moveTo>
                  <a:pt x="0" y="0"/>
                </a:moveTo>
                <a:lnTo>
                  <a:pt x="2385311" y="0"/>
                </a:lnTo>
                <a:lnTo>
                  <a:pt x="2385311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5" id="5"/>
          <p:cNvSpPr txBox="true"/>
          <p:nvPr/>
        </p:nvSpPr>
        <p:spPr>
          <a:xfrm rot="0">
            <a:off x="3133082" y="4044893"/>
            <a:ext cx="10702538" cy="21112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12971"/>
              </a:lnSpc>
            </a:pPr>
            <a:r>
              <a:rPr lang="en-US" sz="13372">
                <a:solidFill>
                  <a:srgbClr val="1F1F25"/>
                </a:solidFill>
                <a:latin typeface="Agrandir"/>
                <a:ea typeface="Agrandir"/>
                <a:cs typeface="Agrandir"/>
                <a:sym typeface="Agrandir"/>
              </a:rPr>
              <a:t>¡GRACIAS!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028700" y="6433385"/>
            <a:ext cx="7484773" cy="90110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357"/>
              </a:lnSpc>
            </a:pPr>
            <a:r>
              <a:rPr lang="en-US" sz="2398">
                <a:solidFill>
                  <a:srgbClr val="1F1F25"/>
                </a:solidFill>
                <a:latin typeface="Agrandir"/>
                <a:ea typeface="Agrandir"/>
                <a:cs typeface="Agrandir"/>
                <a:sym typeface="Agrandir"/>
              </a:rPr>
              <a:t>¿Preguntas, comentarios o sugerencias? Estoy a su disposición.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9774527" y="546735"/>
            <a:ext cx="7484773" cy="48200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 marL="0" indent="0" lvl="0">
              <a:lnSpc>
                <a:spcPts val="3357"/>
              </a:lnSpc>
            </a:pPr>
            <a:r>
              <a:rPr lang="en-US" sz="2398">
                <a:solidFill>
                  <a:srgbClr val="1F1F25"/>
                </a:solidFill>
                <a:latin typeface="Agrandir"/>
                <a:ea typeface="Agrandir"/>
                <a:cs typeface="Agrandir"/>
                <a:sym typeface="Agrandir"/>
              </a:rPr>
              <a:t>8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028700" y="546735"/>
            <a:ext cx="7484773" cy="48200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0" indent="0" lvl="0">
              <a:lnSpc>
                <a:spcPts val="3357"/>
              </a:lnSpc>
            </a:pPr>
            <a:r>
              <a:rPr lang="en-US" sz="2398">
                <a:solidFill>
                  <a:srgbClr val="1F1F25"/>
                </a:solidFill>
                <a:latin typeface="Agrandir"/>
                <a:ea typeface="Agrandir"/>
                <a:cs typeface="Agrandir"/>
                <a:sym typeface="Agrandir"/>
              </a:rPr>
              <a:t>Análisis de Cáncer de Mama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DAHJfZ57His</dc:identifier>
  <dcterms:modified xsi:type="dcterms:W3CDTF">2011-08-01T06:04:30Z</dcterms:modified>
  <cp:revision>1</cp:revision>
  <dc:title>ML Beast Cancer Presentation BBK</dc:title>
</cp:coreProperties>
</file>